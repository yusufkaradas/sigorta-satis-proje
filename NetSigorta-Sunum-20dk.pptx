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Süre: ~30 sn.
Herkese merhaba. Staj süresince geliştirdiğim NetSigorta'yı anlatacağım: kasko sigortasının teklifinden poliçesine, fiyat kurallarından yenilemesine kadar bütün satış sürecini yöneten bir web portalı.
Sunum yaklaşık 15-20 dakika sürecek; önce problemi ve mimariyi, sonra öne çıkan özellikleri anlatıp kısa bir canlı demo yapacağım.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Süre: ~1,5 dk.
Kasko fiyatı tek bir sayı değil; aracın kasko değeri, yaşı, sürücünün yaşı, kullanım şekli, hasar geçmişi ve bölgesi birlikte etkiliyor. Bu hesap elle yapıldığında aynı araç için farklı fiyatlar çıkabiliyor.
İkinci sorun takip: teklifler Excel'de ve telefonda kalınca hangi teklifin poliçeye dönüştüğü, hangi poliçenin yenilenmesi gerektiği kayboluyor.
Üçüncüsü yetki: fiyat kuralını kimin, neden değiştirdiği kontrol edilmiyor.
NetSigorta bunları üç şekilde çözüyor: tek bir fiyat motoru, uçtan uca dijital satış akışı ve iki kademeli, onaylı tarife yönetimi.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Süre: ~1 dk.
Sistemin büyüklüğünü birkaç rakamla özetlemek istiyorum.
Türkiye Sigorta Birliği'nin kasko değer listesinden 79.380 araç kaydı içeri alındı; kullanıcı araç değerini elle yazmıyor, marka-model-yıl seçince değer katalogdan geliyor.
Arka uçta 21 controller ve 109 uç nokta var. Fiyatı belirleyen 28 kural veritabanında sürümlü tutuluyor. Kod tarafını 210 birim testi koruyor ve hepsi geçiyor.
Üç rol var, bir de üye olmadan teklif alabilen misafir kullanıcı.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Süre: ~1 dk.
Sistemde dört tip kullanıcı var.
Misafir üye olmadan hızlı teklif alabiliyor. Müşteri kendi araçları için teklif alıp satın alıyor, poliçesini yönetiyor.
Manager portföyü izliyor ama fiyatı kendisi değiştiremiyor, yalnızca talep açabiliyor. Admin bu talepleri etkisini görerek onaylıyor ve sistemin tamamını yönetiyor.
Önemli nokta: yetki sadece menüleri gizleyerek değil, sunucu tarafında da kontrol ediliyor. Bir müşteri başka müşterinin kayıt numarasını bilse bile o kayda erişemiyor.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Süre: ~1,5 dk.
Satış akışı altı adımdan oluşuyor. Müşteri plakayı ve aracı giriyor, kasko değeri TSB kataloğundan otomatik geliyor. Kayıtlı müşteri T.C., telefon ve tek kullanımlık kodla doğrulanıyor.
Teklif oluşurken otomatik onay kuralları çalışıyor: prim, araç değeri, hasar sayısı ve araç yaşı sınırlar içindeyse teklif doğrudan satılabilir; değilse yöneticinin önüne düşüyor.
Ödeme peşin veya 3, 6, 9 taksit. Başarılı ödemede poliçe aktif oluyor, PDF'i üretiliyor ve müşteriye bildirim gidiyor. Satış sonrasında iptal talebinde iade kullanılmayan gün sayısına göre hesaplanıyor; süresi yaklaşan poliçe yenilenebiliyor.
Alttaki şeritler durum makinesini gösteriyor; geçişleri sunucu denetliyor.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Süre: ~1,5 dk.
Proje klasik katmanlı mimaride. En üstte Angular 22 ile yazılmış arayüz var; Azure Static Web Apps üzerinde yayında.
Arayüz HTTPS ve JWT ile ASP.NET Core 8 Web API'ye bağlanıyor. API katmanı sadece isteği karşılıyor ve yetkiyi denetliyor; asıl iş kuralları Business katmanında, fiyat motoru ve PDF üretimi de burada.
Veri erişimi Entity Framework Core ile, Repository ve Unit of Work desenleriyle yapılıyor; böylece ödeme ve poliçe oluşturma gibi çok adımlı işlemler tek transaction içinde ya hep ya hiç çalışıyor.
Sağdaki desenlerden özellikle fiyat fotoğrafı ve sürümlü kurallar bu projeye özgü; birazdan fiyat motorunda anlatacağım.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Süre: ~1,5 dk.
Fiyat motorunun formülü bu. Başlangıç noktası aracın TSB kasko değeri; bunu temel kasko oranıyla çarparak temel primi buluyoruz. Sonra araç yaşı, kullanım şekli, hasar geçmişi, sürücü yaşı, bölge, paket ve muafiyet katsayılarını sırayla çarpıyoruz; en sona paket dışı teminatların ücretlerini ekliyoruz.
Bölge müşterinin iline göre belirleniyor: İstanbul, Ankara, İzmir gibi iller yüksek risk.
En önemli tasarım kararı: hiçbir katsayı koda gömülü değil. Hepsi veritabanında, geçerlilik tarihli kurallar olarak duruyor. Örneğin temel oran 1 Eylül'den itibaren %2,00'den %2,15'e çıktı; motor teklif tarihine bakıp doğru sürümü seçiyor. Yani fiyat değiştirmek için yazılımı yeniden derlemek gerekmiyor.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Süre: ~1 dk.
Fiyat motorunu yöneticiye şeffaf hâle getirmek için Formül Motoru ekranını ekledim. Bu ekran sadece Admin rolüne açık.
Yönetici örnek bir risk giriyor; ekran gerçek teklif motorunu çağırdığı için sonuç birebir aynı çıkıyor. Tabloda her katsayının kural kodu, prime etkisi ve ara toplam görünüyor.
Ekrandaki örnekte 1,5 milyon liralık araç ve 35 yaşında sürücü için yıllık prim 32.377,50 lira. Demoda sürücü yaşını 20'ye düşürüp genç sürücü ek priminin nasıl eklendiğini göstereceğim.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Süre: ~1,5 dk.
Fiyatı kimin değiştirebileceği de kontrol altında. Manager doğrudan fiyat değiştiremiyor; gerekçesiyle bir talep açıyor.
Admin talebi açtığında sistem son 30 günde verilen teklifleri yeni değerle yeniden hesaplıyor ve prim farkını gösteriyor; yani onaylamadan önce etkisini görüyor. Onaylanırsa kuralın yeni sürümü oluşuyor, eski sürüm silinmiyor.
Altta iki güvence var. Fiyat fotoğrafı: her teklif oluştuğu andaki bütün katsayılarla birlikte saklanıyor; tarife ertesi gün değişse bile müşteriye verilen fiyat değişmiyor.
Otomatik onay sınırları: prim 150 bin lirayı, araç değeri 5 milyonu, hasar sayısı 2'yi veya araç yaşı 12'yi aşarsa teklif otomatik satılamıyor, yönetici onayına düşüyor. Bu sınırlar da veritabanındaki kurallardan okunuyor.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Süre: ~1 dk.
Müşteri tarafında en çok öne çıkan özellik hızlı teklif. Ziyaretçi üye olmadan plakasını, aracını ve sürücü bilgilerini giriyor; üç paket fiyatlarıyla yan yana geliyor. Limit ve muafiyet değiştikçe fiyat anında yeniden hesaplanıyor, teklif PDF olarak indirilebiliyor.
Kayıtlı müşteri ise T.C., telefon ve tek kullanımlık kodla doğrulanıyor; kodsuz kimse başkasının verisini sorgulayamıyor. Demo ortamında SMS yerine kod ekranda gösteriliyor.
Aracın zaten aktif poliçesi varsa sistem fiyat hesaplamadan önce uyarıyor. Satın almak isteyen müşteri kayda yönleniyor ve bilgileri otomatik doluyor.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Süre: ~1 dk.
Yönetici tarafında dashboard ilk bakışta işin durumunu gösteriyor: bu ayki tahsilat, aktif poliçe ve açık teklif sayısı, satılan paketlerin dağılımı ve son yedi günün tahsilatı.
Onay bekleyenler panelinde incelemedeki teklifler, fiyat talepleri ve iptal talepleri toplanıyor.
İptal talebinde iade tutarı kullanılmayan gün sayısına göre otomatik hesaplanıyor. Süresi yaklaşan poliçeler takip listesine düşüyor ve tek tıkla yenileme teklifi üretiliyor. TSB kasko listesi her ay Excel'den yüklenebiliyor.
Arka planda çalışan bir servis de süresi dolan teklif ve poliçeleri otomatik kapatıyor, böylece sayılar hep güncel kalıyor.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Süre: ~1 dk.
Güvenlikte altı başlık var. Kimlik doğrulama JWT ile, her uç nokta role göre korunuyor.
Kaynak düzeyinde yetki: müşteri bir başka müşterinin poliçe numarasını denese bile sunucu 404 döndürüyor; kaydın var olduğunu bile söylemiyor. Bu, OWASP API güvenlik listesinde ilk sıradaki açık.
Hızlı teklifte tek kullanımlık kod olmadan müşteri verisi sorgulanamıyor. Şifreler hash'leniyor, T.C. ve telefon maskeleniyor.
Sistemin kendini kilitlemesini önleyen kurallar da var: son aktif Admin silinemiyor, kimse kendi rolünü değiştiremiyor.
Veri tarafında ödeme ve poliçe oluşturma tek transaction içinde; biri başarısız olursa ikisi de geri alınıyor.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Süre: ~1 dk.
Kaliteyi testlerle güvenceye aldım: 210 birim testi fiyat motorunu, durum geçişlerini, poliçe ve iptal senaryolarını ve rol kurallarını kapsıyor; hepsi geçiyor. Entegrasyon testleri uygulamayı bellekte ayağa kaldırıp gerçek HTTP hattı üzerinden, yetkiyle birlikte deniyor. Girdi kuralları FluentValidation ile tek yerde.
Sistem Microsoft Azure'da yayında: arayüz Static Web Apps'te, API App Service'te, veritabanı Azure SQL'de. JWT anahtarı ve bağlantı dizesi gibi gizli bilgiler kodda değil, ortam değişkenlerinde. Aylık maliyet yaklaşık 18 dolar.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Süre: ~3-4 dk (süre kısalırsa yalnızca 1. ve 2. senaryo).
Demo öncesi: canlı siteyi bir kez açıp ısıt, Admin, Manager ve müşteri hesaplarıyla giriş yapılabildiğini kontrol et, tarayıcı yakınlaştırmasını %100 yap.
1) Ana sayfa → Hemen Teklif Al. Plaka, araç sınıfı, marka, model, yıl; kasko değerinin otomatik geldiğini göster. Doğum yılı, kullanım, hasar → paketler. Muafiyeti %5 yap, fiyatların düştüğünü göster, teklifi oluştur ve PDF'i aç.
2) Admin → Paketler → Formül Motoru. 1.500.000 ₺, 35 yaş ile hesapla; sonra sürücü yaşını 20 yap (%30 ek prim), bölgeyi Yüksek yap.
3) Manager → fiyat kuralı değişiklik talebi; Admin → Talepler → etki analizi → onay; kural geçmişinde v2'yi göster.
4) Müşteri portalı → Poliçelerim → poliçe detayı, PDF; iptal talebi aç ve iade tutarını göster.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Süre: ~45 sn.
Sistem bugün uçtan uca çalışıyor ama gerçek kullanım için sıradaki adımlar belli: tek kullanımlık kodun gerçek bir SMS sağlayıcısıyla gönderilmesi, simüle ödemenin yerine sanal POS ve 3D Secure, hasar geçmişinin TRAMER'den sorgulanması ve bir hasar modülü, son olarak GitHub Actions ile otomatik test ve yayın.
Bu staj bana en çok şunları kattı: projeyi büyürken bozulmayacak şekilde katmanlara ayırmak, gerçek iş kurallarını koda dökmek, test ve güvenliği baştan düşünmek ve bir uygulamayı buluta çıkarmak.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Süre: ~15 sn.
Dinlediğiniz için teşekkür ederim. Sistem canlıda, adresi ekranda. Sorularınızı alabilirim.
Olası sorular: fiyat nasıl hesaplanıyor (slayt 7), kural değişince eski teklif etkilenir mi (hayır, fiyat fotoğrafı - slayt 9), ödeme gerçek mi (simülasyon, sanal POS yol haritasında), SMS gidiyor mu (demo modunda kod ekranda), neden katmanlı mimari (bakım ve test kolaylığı - slayt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5"/>
        </a:solidFill>
      </p:bgPr>
    </p:bg>
    <p:spTree>
      <p:nvGrpSpPr>
        <p:cNvPr id="1" name=""/>
        <p:cNvGrpSpPr/>
        <p:nvPr/>
      </p:nvGrpSpPr>
      <p:grpSpPr>
        <a:xfrm>
          <a:off x="0" y="0"/>
          <a:ext cx="0" cy="0"/>
          <a:chOff x="0" y="0"/>
          <a:chExt cx="0" cy="0"/>
        </a:xfrm>
      </p:grpSpPr>
      <p:sp>
        <p:nvSpPr>
          <p:cNvPr id="2" name="Shape 0"/>
          <p:cNvSpPr/>
          <p:nvPr/>
        </p:nvSpPr>
        <p:spPr>
          <a:xfrm>
            <a:off x="822960" y="1417320"/>
            <a:ext cx="3749040" cy="3749040"/>
          </a:xfrm>
          <a:prstGeom prst="roundRect">
            <a:avLst>
              <a:gd name="adj" fmla="val 7317"/>
            </a:avLst>
          </a:prstGeom>
          <a:solidFill>
            <a:srgbClr val="FFFFFF"/>
          </a:solidFill>
          <a:ln w="12700">
            <a:solidFill>
              <a:srgbClr val="FFFFFF"/>
            </a:solidFill>
            <a:prstDash val="solid"/>
          </a:ln>
        </p:spPr>
      </p:sp>
      <p:pic>
        <p:nvPicPr>
          <p:cNvPr id="3" name="Image 0" descr="C:\Users\Asus\AppData\Local\Temp\claude\C--Proje-SigortaSatisUygulama\25ccf29a-d4f5-4ae0-a5ee-6b259b3cc9b7\scratchpad\sunum\img\logo.png">    </p:cNvPr>
          <p:cNvPicPr>
            <a:picLocks noChangeAspect="1"/>
          </p:cNvPicPr>
          <p:nvPr/>
        </p:nvPicPr>
        <p:blipFill>
          <a:blip r:embed="rId1"/>
          <a:stretch>
            <a:fillRect/>
          </a:stretch>
        </p:blipFill>
        <p:spPr>
          <a:xfrm>
            <a:off x="1051560" y="1645920"/>
            <a:ext cx="3291840" cy="3291840"/>
          </a:xfrm>
          <a:prstGeom prst="rect">
            <a:avLst/>
          </a:prstGeom>
        </p:spPr>
      </p:pic>
      <p:sp>
        <p:nvSpPr>
          <p:cNvPr id="4" name="Text 1"/>
          <p:cNvSpPr txBox="1"/>
          <p:nvPr/>
        </p:nvSpPr>
        <p:spPr>
          <a:xfrm>
            <a:off x="5212080" y="1554480"/>
            <a:ext cx="6400800" cy="91440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NetSigorta</a:t>
            </a:r>
            <a:endParaRPr lang="en-US" sz="5400" dirty="0"/>
          </a:p>
        </p:txBody>
      </p:sp>
      <p:sp>
        <p:nvSpPr>
          <p:cNvPr id="5" name="Text 2"/>
          <p:cNvSpPr txBox="1"/>
          <p:nvPr/>
        </p:nvSpPr>
        <p:spPr>
          <a:xfrm>
            <a:off x="5212080" y="2514600"/>
            <a:ext cx="6400800" cy="548640"/>
          </a:xfrm>
          <a:prstGeom prst="rect">
            <a:avLst/>
          </a:prstGeom>
          <a:noFill/>
          <a:ln/>
        </p:spPr>
        <p:txBody>
          <a:bodyPr wrap="square" lIns="0" tIns="0" rIns="0" bIns="0" rtlCol="0" anchor="ctr"/>
          <a:lstStyle/>
          <a:p>
            <a:pPr indent="0" marL="0">
              <a:buNone/>
            </a:pPr>
            <a:r>
              <a:rPr lang="en-US" sz="2400" dirty="0">
                <a:solidFill>
                  <a:srgbClr val="C9DBF7"/>
                </a:solidFill>
                <a:latin typeface="Arial" pitchFamily="34" charset="0"/>
                <a:ea typeface="Arial" pitchFamily="34" charset="-122"/>
                <a:cs typeface="Arial" pitchFamily="34" charset="-120"/>
              </a:rPr>
              <a:t>Kasko Sigortası Satış ve Yönetim Portalı</a:t>
            </a:r>
            <a:endParaRPr lang="en-US" sz="2400" dirty="0"/>
          </a:p>
        </p:txBody>
      </p:sp>
      <p:sp>
        <p:nvSpPr>
          <p:cNvPr id="6" name="Text 3"/>
          <p:cNvSpPr txBox="1"/>
          <p:nvPr/>
        </p:nvSpPr>
        <p:spPr>
          <a:xfrm>
            <a:off x="5212080" y="3108960"/>
            <a:ext cx="6400800" cy="457200"/>
          </a:xfrm>
          <a:prstGeom prst="rect">
            <a:avLst/>
          </a:prstGeom>
          <a:noFill/>
          <a:ln/>
        </p:spPr>
        <p:txBody>
          <a:bodyPr wrap="square" lIns="0" tIns="0" rIns="0" bIns="0" rtlCol="0" anchor="ctr"/>
          <a:lstStyle/>
          <a:p>
            <a:pPr indent="0" marL="0">
              <a:buNone/>
            </a:pPr>
            <a:r>
              <a:rPr lang="en-US" sz="1800" i="1" dirty="0">
                <a:solidFill>
                  <a:srgbClr val="9FB6DA"/>
                </a:solidFill>
                <a:latin typeface="Calibri" pitchFamily="34" charset="0"/>
                <a:ea typeface="Calibri" pitchFamily="34" charset="-122"/>
                <a:cs typeface="Calibri" pitchFamily="34" charset="-120"/>
              </a:rPr>
              <a:t>Teklif, onay, ödeme, poliçe ve fiyat yönetimi tek sistemde</a:t>
            </a:r>
            <a:endParaRPr lang="en-US" sz="1800" dirty="0"/>
          </a:p>
        </p:txBody>
      </p:sp>
      <p:sp>
        <p:nvSpPr>
          <p:cNvPr id="7" name="Text 4"/>
          <p:cNvSpPr txBox="1"/>
          <p:nvPr/>
        </p:nvSpPr>
        <p:spPr>
          <a:xfrm>
            <a:off x="5212080" y="4069080"/>
            <a:ext cx="6583680" cy="1097280"/>
          </a:xfrm>
          <a:prstGeom prst="rect">
            <a:avLst/>
          </a:prstGeom>
          <a:noFill/>
          <a:ln/>
        </p:spPr>
        <p:txBody>
          <a:bodyPr wrap="square" lIns="0" tIns="0" rIns="0" bIns="0" rtlCol="0" anchor="ctr"/>
          <a:lstStyle/>
          <a:p>
            <a:pPr indent="0" marL="0">
              <a:spcAft>
                <a:spcPts val="400"/>
              </a:spcAft>
              <a:buNone/>
            </a:pPr>
            <a:r>
              <a:rPr lang="en-US" sz="1600" b="1" dirty="0">
                <a:solidFill>
                  <a:srgbClr val="FFFFFF"/>
                </a:solidFill>
                <a:latin typeface="Calibri" pitchFamily="34" charset="0"/>
                <a:ea typeface="Calibri" pitchFamily="34" charset="-122"/>
                <a:cs typeface="Calibri" pitchFamily="34" charset="-120"/>
              </a:rPr>
              <a:t>Yusuf Kağan Karadaş</a:t>
            </a:r>
            <a:endParaRPr lang="en-US" sz="1600" dirty="0"/>
          </a:p>
          <a:p>
            <a:pPr indent="0" marL="0">
              <a:spcAft>
                <a:spcPts val="400"/>
              </a:spcAft>
              <a:buNone/>
            </a:pPr>
            <a:r>
              <a:rPr lang="en-US" sz="1600" dirty="0">
                <a:solidFill>
                  <a:srgbClr val="C9DBF7"/>
                </a:solidFill>
                <a:latin typeface="Calibri" pitchFamily="34" charset="0"/>
                <a:ea typeface="Calibri" pitchFamily="34" charset="-122"/>
                <a:cs typeface="Calibri" pitchFamily="34" charset="-120"/>
              </a:rPr>
              <a:t>VakıfBank Bilgi Teknolojileri · Bireysel Krediler Uygulama Geliştirme Müdürlüğü</a:t>
            </a:r>
            <a:endParaRPr lang="en-US" sz="1600" dirty="0"/>
          </a:p>
          <a:p>
            <a:pPr indent="0" marL="0">
              <a:spcAft>
                <a:spcPts val="400"/>
              </a:spcAft>
              <a:buNone/>
            </a:pPr>
            <a:r>
              <a:rPr lang="en-US" sz="1600" dirty="0">
                <a:solidFill>
                  <a:srgbClr val="C9DBF7"/>
                </a:solidFill>
                <a:latin typeface="Calibri" pitchFamily="34" charset="0"/>
                <a:ea typeface="Calibri" pitchFamily="34" charset="-122"/>
                <a:cs typeface="Calibri" pitchFamily="34" charset="-120"/>
              </a:rPr>
              <a:t>Staj Projesi Sunumu · Eylül 2026</a:t>
            </a:r>
            <a:endParaRPr lang="en-US" sz="1600" dirty="0"/>
          </a:p>
        </p:txBody>
      </p:sp>
      <p:sp>
        <p:nvSpPr>
          <p:cNvPr id="8" name="Shape 5"/>
          <p:cNvSpPr/>
          <p:nvPr/>
        </p:nvSpPr>
        <p:spPr>
          <a:xfrm>
            <a:off x="5212080" y="5440680"/>
            <a:ext cx="3017520" cy="420624"/>
          </a:xfrm>
          <a:prstGeom prst="roundRect">
            <a:avLst>
              <a:gd name="adj" fmla="val 50000"/>
            </a:avLst>
          </a:prstGeom>
          <a:solidFill>
            <a:srgbClr val="1D6FF2"/>
          </a:solidFill>
          <a:ln w="12700">
            <a:solidFill>
              <a:srgbClr val="1D6FF2"/>
            </a:solidFill>
            <a:prstDash val="solid"/>
          </a:ln>
        </p:spPr>
      </p:sp>
      <p:sp>
        <p:nvSpPr>
          <p:cNvPr id="9" name="Text 6"/>
          <p:cNvSpPr txBox="1"/>
          <p:nvPr/>
        </p:nvSpPr>
        <p:spPr>
          <a:xfrm>
            <a:off x="5212080" y="5440680"/>
            <a:ext cx="301752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Canlı: netsigorta.online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2F7"/>
        </a:solidFill>
      </p:bgPr>
    </p:bg>
    <p:spTree>
      <p:nvGrpSpPr>
        <p:cNvPr id="1" name=""/>
        <p:cNvGrpSpPr/>
        <p:nvPr/>
      </p:nvGrpSpPr>
      <p:grpSpPr>
        <a:xfrm>
          <a:off x="0" y="0"/>
          <a:ext cx="0" cy="0"/>
          <a:chOff x="0" y="0"/>
          <a:chExt cx="0" cy="0"/>
        </a:xfrm>
      </p:grpSpPr>
      <p:sp>
        <p:nvSpPr>
          <p:cNvPr id="2" name="Shape 0"/>
          <p:cNvSpPr/>
          <p:nvPr/>
        </p:nvSpPr>
        <p:spPr>
          <a:xfrm>
            <a:off x="548640" y="384048"/>
            <a:ext cx="1737360" cy="329184"/>
          </a:xfrm>
          <a:prstGeom prst="roundRect">
            <a:avLst>
              <a:gd name="adj" fmla="val 50000"/>
            </a:avLst>
          </a:prstGeom>
          <a:solidFill>
            <a:srgbClr val="0A2545"/>
          </a:solidFill>
          <a:ln w="12700">
            <a:solidFill>
              <a:srgbClr val="0A2545"/>
            </a:solidFill>
            <a:prstDash val="solid"/>
          </a:ln>
        </p:spPr>
      </p:sp>
      <p:sp>
        <p:nvSpPr>
          <p:cNvPr id="3" name="Text 1"/>
          <p:cNvSpPr txBox="1"/>
          <p:nvPr/>
        </p:nvSpPr>
        <p:spPr>
          <a:xfrm>
            <a:off x="548640" y="384048"/>
            <a:ext cx="173736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PROBLEM VE ÇÖZÜM</a:t>
            </a:r>
            <a:endParaRPr lang="en-US" sz="1100" dirty="0"/>
          </a:p>
        </p:txBody>
      </p:sp>
      <p:sp>
        <p:nvSpPr>
          <p:cNvPr id="4" name="Text 2"/>
          <p:cNvSpPr txBox="1"/>
          <p:nvPr/>
        </p:nvSpPr>
        <p:spPr>
          <a:xfrm>
            <a:off x="548640" y="786384"/>
            <a:ext cx="11094415" cy="731520"/>
          </a:xfrm>
          <a:prstGeom prst="rect">
            <a:avLst/>
          </a:prstGeom>
          <a:noFill/>
          <a:ln/>
        </p:spPr>
        <p:txBody>
          <a:bodyPr wrap="square" lIns="0" tIns="0" rIns="0" bIns="0" rtlCol="0" anchor="ctr"/>
          <a:lstStyle/>
          <a:p>
            <a:pPr indent="0" marL="0">
              <a:buNone/>
            </a:pPr>
            <a:r>
              <a:rPr lang="en-US" sz="3000" b="1" dirty="0">
                <a:solidFill>
                  <a:srgbClr val="0A2545"/>
                </a:solidFill>
                <a:latin typeface="Arial" pitchFamily="34" charset="0"/>
                <a:ea typeface="Arial" pitchFamily="34" charset="-122"/>
                <a:cs typeface="Arial" pitchFamily="34" charset="-120"/>
              </a:rPr>
              <a:t>Kasko satışında neyi çözüyoruz?</a:t>
            </a:r>
            <a:endParaRPr lang="en-US" sz="3000" dirty="0"/>
          </a:p>
        </p:txBody>
      </p:sp>
      <p:sp>
        <p:nvSpPr>
          <p:cNvPr id="5" name="Text 3"/>
          <p:cNvSpPr txBox="1"/>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2 / 16</a:t>
            </a:r>
            <a:endParaRPr lang="en-US" sz="1000" dirty="0"/>
          </a:p>
        </p:txBody>
      </p:sp>
      <p:sp>
        <p:nvSpPr>
          <p:cNvPr id="6" name="Text 4"/>
          <p:cNvSpPr txBox="1"/>
          <p:nvPr/>
        </p:nvSpPr>
        <p:spPr>
          <a:xfrm>
            <a:off x="548640" y="1481328"/>
            <a:ext cx="5074920" cy="320040"/>
          </a:xfrm>
          <a:prstGeom prst="rect">
            <a:avLst/>
          </a:prstGeom>
          <a:noFill/>
          <a:ln/>
        </p:spPr>
        <p:txBody>
          <a:bodyPr wrap="square" lIns="0" tIns="0" rIns="0" bIns="0" rtlCol="0" anchor="ctr"/>
          <a:lstStyle/>
          <a:p>
            <a:pPr indent="0" marL="0">
              <a:buNone/>
            </a:pPr>
            <a:r>
              <a:rPr lang="en-US" sz="1500" b="1" dirty="0">
                <a:solidFill>
                  <a:srgbClr val="DC2626"/>
                </a:solidFill>
                <a:latin typeface="Arial" pitchFamily="34" charset="0"/>
                <a:ea typeface="Arial" pitchFamily="34" charset="-122"/>
                <a:cs typeface="Arial" pitchFamily="34" charset="-120"/>
              </a:rPr>
              <a:t>Bugünkü durum</a:t>
            </a:r>
            <a:endParaRPr lang="en-US" sz="1500" dirty="0"/>
          </a:p>
        </p:txBody>
      </p:sp>
      <p:sp>
        <p:nvSpPr>
          <p:cNvPr id="7" name="Text 5"/>
          <p:cNvSpPr txBox="1"/>
          <p:nvPr/>
        </p:nvSpPr>
        <p:spPr>
          <a:xfrm>
            <a:off x="6568135" y="1481328"/>
            <a:ext cx="5074920" cy="320040"/>
          </a:xfrm>
          <a:prstGeom prst="rect">
            <a:avLst/>
          </a:prstGeom>
          <a:noFill/>
          <a:ln/>
        </p:spPr>
        <p:txBody>
          <a:bodyPr wrap="square" lIns="0" tIns="0" rIns="0" bIns="0" rtlCol="0" anchor="ctr"/>
          <a:lstStyle/>
          <a:p>
            <a:pPr indent="0" marL="0">
              <a:buNone/>
            </a:pPr>
            <a:r>
              <a:rPr lang="en-US" sz="1500" b="1" dirty="0">
                <a:solidFill>
                  <a:srgbClr val="1D6FF2"/>
                </a:solidFill>
                <a:latin typeface="Arial" pitchFamily="34" charset="0"/>
                <a:ea typeface="Arial" pitchFamily="34" charset="-122"/>
                <a:cs typeface="Arial" pitchFamily="34" charset="-120"/>
              </a:rPr>
              <a:t>NetSigorta ile</a:t>
            </a:r>
            <a:endParaRPr lang="en-US" sz="1500" dirty="0"/>
          </a:p>
        </p:txBody>
      </p:sp>
      <p:sp>
        <p:nvSpPr>
          <p:cNvPr id="8" name="Shape 6"/>
          <p:cNvSpPr/>
          <p:nvPr/>
        </p:nvSpPr>
        <p:spPr>
          <a:xfrm>
            <a:off x="548640" y="1828800"/>
            <a:ext cx="5074920" cy="1325880"/>
          </a:xfrm>
          <a:prstGeom prst="roundRect">
            <a:avLst>
              <a:gd name="adj" fmla="val 8276"/>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9" name="Shape 7"/>
          <p:cNvSpPr/>
          <p:nvPr/>
        </p:nvSpPr>
        <p:spPr>
          <a:xfrm>
            <a:off x="804672" y="2162556"/>
            <a:ext cx="658368" cy="658368"/>
          </a:xfrm>
          <a:prstGeom prst="ellipse">
            <a:avLst/>
          </a:prstGeom>
          <a:solidFill>
            <a:srgbClr val="DC2626"/>
          </a:solidFill>
          <a:ln w="12700">
            <a:solidFill>
              <a:srgbClr val="DC2626"/>
            </a:solidFill>
            <a:prstDash val="solid"/>
          </a:ln>
        </p:spPr>
      </p:sp>
      <p:pic>
        <p:nvPicPr>
          <p:cNvPr id="10" name="Image 0" descr="preencoded.png">    </p:cNvPr>
          <p:cNvPicPr>
            <a:picLocks noChangeAspect="1"/>
          </p:cNvPicPr>
          <p:nvPr/>
        </p:nvPicPr>
        <p:blipFill>
          <a:blip r:embed="rId1"/>
          <a:stretch>
            <a:fillRect/>
          </a:stretch>
        </p:blipFill>
        <p:spPr>
          <a:xfrm>
            <a:off x="962680" y="2320564"/>
            <a:ext cx="342351" cy="342351"/>
          </a:xfrm>
          <a:prstGeom prst="rect">
            <a:avLst/>
          </a:prstGeom>
        </p:spPr>
      </p:pic>
      <p:sp>
        <p:nvSpPr>
          <p:cNvPr id="11" name="Text 8"/>
          <p:cNvSpPr txBox="1"/>
          <p:nvPr/>
        </p:nvSpPr>
        <p:spPr>
          <a:xfrm>
            <a:off x="1645920" y="2011680"/>
            <a:ext cx="3794760" cy="3657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Fiyat elle hesaplanıyor</a:t>
            </a:r>
            <a:endParaRPr lang="en-US" sz="1600" dirty="0"/>
          </a:p>
        </p:txBody>
      </p:sp>
      <p:sp>
        <p:nvSpPr>
          <p:cNvPr id="12" name="Text 9"/>
          <p:cNvSpPr txBox="1"/>
          <p:nvPr/>
        </p:nvSpPr>
        <p:spPr>
          <a:xfrm>
            <a:off x="1645920" y="2395728"/>
            <a:ext cx="3794760" cy="64008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Araç değeri, araç yaşı, sürücü ve hasar geçmişi birlikte hesaplanınca tutarsız fiyatlar çıkıyor.</a:t>
            </a:r>
            <a:endParaRPr lang="en-US" sz="1400" dirty="0"/>
          </a:p>
        </p:txBody>
      </p:sp>
      <p:sp>
        <p:nvSpPr>
          <p:cNvPr id="13" name="Shape 10"/>
          <p:cNvSpPr/>
          <p:nvPr/>
        </p:nvSpPr>
        <p:spPr>
          <a:xfrm>
            <a:off x="548640" y="3337560"/>
            <a:ext cx="5074920" cy="1325880"/>
          </a:xfrm>
          <a:prstGeom prst="roundRect">
            <a:avLst>
              <a:gd name="adj" fmla="val 8276"/>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14" name="Shape 11"/>
          <p:cNvSpPr/>
          <p:nvPr/>
        </p:nvSpPr>
        <p:spPr>
          <a:xfrm>
            <a:off x="804672" y="3671316"/>
            <a:ext cx="658368" cy="658368"/>
          </a:xfrm>
          <a:prstGeom prst="ellipse">
            <a:avLst/>
          </a:prstGeom>
          <a:solidFill>
            <a:srgbClr val="DC2626"/>
          </a:solidFill>
          <a:ln w="12700">
            <a:solidFill>
              <a:srgbClr val="DC2626"/>
            </a:solidFill>
            <a:prstDash val="solid"/>
          </a:ln>
        </p:spPr>
      </p:sp>
      <p:pic>
        <p:nvPicPr>
          <p:cNvPr id="15" name="Image 1" descr="preencoded.png">    </p:cNvPr>
          <p:cNvPicPr>
            <a:picLocks noChangeAspect="1"/>
          </p:cNvPicPr>
          <p:nvPr/>
        </p:nvPicPr>
        <p:blipFill>
          <a:blip r:embed="rId2"/>
          <a:stretch>
            <a:fillRect/>
          </a:stretch>
        </p:blipFill>
        <p:spPr>
          <a:xfrm>
            <a:off x="962680" y="3829324"/>
            <a:ext cx="342351" cy="342351"/>
          </a:xfrm>
          <a:prstGeom prst="rect">
            <a:avLst/>
          </a:prstGeom>
        </p:spPr>
      </p:pic>
      <p:sp>
        <p:nvSpPr>
          <p:cNvPr id="16" name="Text 12"/>
          <p:cNvSpPr txBox="1"/>
          <p:nvPr/>
        </p:nvSpPr>
        <p:spPr>
          <a:xfrm>
            <a:off x="1645920" y="3520440"/>
            <a:ext cx="3794760" cy="3657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Teklif takibi dağınık</a:t>
            </a:r>
            <a:endParaRPr lang="en-US" sz="1600" dirty="0"/>
          </a:p>
        </p:txBody>
      </p:sp>
      <p:sp>
        <p:nvSpPr>
          <p:cNvPr id="17" name="Text 13"/>
          <p:cNvSpPr txBox="1"/>
          <p:nvPr/>
        </p:nvSpPr>
        <p:spPr>
          <a:xfrm>
            <a:off x="1645920" y="3904488"/>
            <a:ext cx="3794760" cy="64008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Excel ve telefonla yürüyen süreçte teklif, poliçe ve yenileme takibi kayboluyor.</a:t>
            </a:r>
            <a:endParaRPr lang="en-US" sz="1400" dirty="0"/>
          </a:p>
        </p:txBody>
      </p:sp>
      <p:sp>
        <p:nvSpPr>
          <p:cNvPr id="18" name="Shape 14"/>
          <p:cNvSpPr/>
          <p:nvPr/>
        </p:nvSpPr>
        <p:spPr>
          <a:xfrm>
            <a:off x="548640" y="4846320"/>
            <a:ext cx="5074920" cy="1325880"/>
          </a:xfrm>
          <a:prstGeom prst="roundRect">
            <a:avLst>
              <a:gd name="adj" fmla="val 8276"/>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19" name="Shape 15"/>
          <p:cNvSpPr/>
          <p:nvPr/>
        </p:nvSpPr>
        <p:spPr>
          <a:xfrm>
            <a:off x="804672" y="5180076"/>
            <a:ext cx="658368" cy="658368"/>
          </a:xfrm>
          <a:prstGeom prst="ellipse">
            <a:avLst/>
          </a:prstGeom>
          <a:solidFill>
            <a:srgbClr val="DC2626"/>
          </a:solidFill>
          <a:ln w="12700">
            <a:solidFill>
              <a:srgbClr val="DC2626"/>
            </a:solidFill>
            <a:prstDash val="solid"/>
          </a:ln>
        </p:spPr>
      </p:sp>
      <p:pic>
        <p:nvPicPr>
          <p:cNvPr id="20" name="Image 2" descr="preencoded.png">    </p:cNvPr>
          <p:cNvPicPr>
            <a:picLocks noChangeAspect="1"/>
          </p:cNvPicPr>
          <p:nvPr/>
        </p:nvPicPr>
        <p:blipFill>
          <a:blip r:embed="rId3"/>
          <a:stretch>
            <a:fillRect/>
          </a:stretch>
        </p:blipFill>
        <p:spPr>
          <a:xfrm>
            <a:off x="962680" y="5338084"/>
            <a:ext cx="342351" cy="342351"/>
          </a:xfrm>
          <a:prstGeom prst="rect">
            <a:avLst/>
          </a:prstGeom>
        </p:spPr>
      </p:pic>
      <p:sp>
        <p:nvSpPr>
          <p:cNvPr id="21" name="Text 16"/>
          <p:cNvSpPr txBox="1"/>
          <p:nvPr/>
        </p:nvSpPr>
        <p:spPr>
          <a:xfrm>
            <a:off x="1645920" y="5029200"/>
            <a:ext cx="3794760" cy="3657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Fiyat yetkisi kontrolsüz</a:t>
            </a:r>
            <a:endParaRPr lang="en-US" sz="1600" dirty="0"/>
          </a:p>
        </p:txBody>
      </p:sp>
      <p:sp>
        <p:nvSpPr>
          <p:cNvPr id="22" name="Text 17"/>
          <p:cNvSpPr txBox="1"/>
          <p:nvPr/>
        </p:nvSpPr>
        <p:spPr>
          <a:xfrm>
            <a:off x="1645920" y="5413248"/>
            <a:ext cx="3794760" cy="64008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Kural değişikliği onaysız yapılınca yanlış primle satış riski doğuyor.</a:t>
            </a:r>
            <a:endParaRPr lang="en-US" sz="1400" dirty="0"/>
          </a:p>
        </p:txBody>
      </p:sp>
      <p:sp>
        <p:nvSpPr>
          <p:cNvPr id="23" name="Shape 18"/>
          <p:cNvSpPr/>
          <p:nvPr/>
        </p:nvSpPr>
        <p:spPr>
          <a:xfrm>
            <a:off x="6568135" y="1828800"/>
            <a:ext cx="5074920" cy="1325880"/>
          </a:xfrm>
          <a:prstGeom prst="roundRect">
            <a:avLst>
              <a:gd name="adj" fmla="val 8276"/>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24" name="Shape 19"/>
          <p:cNvSpPr/>
          <p:nvPr/>
        </p:nvSpPr>
        <p:spPr>
          <a:xfrm>
            <a:off x="6824167" y="2162556"/>
            <a:ext cx="658368" cy="658368"/>
          </a:xfrm>
          <a:prstGeom prst="ellipse">
            <a:avLst/>
          </a:prstGeom>
          <a:solidFill>
            <a:srgbClr val="1D6FF2"/>
          </a:solidFill>
          <a:ln w="12700">
            <a:solidFill>
              <a:srgbClr val="1D6FF2"/>
            </a:solidFill>
            <a:prstDash val="solid"/>
          </a:ln>
        </p:spPr>
      </p:sp>
      <p:pic>
        <p:nvPicPr>
          <p:cNvPr id="25" name="Image 3" descr="preencoded.png">    </p:cNvPr>
          <p:cNvPicPr>
            <a:picLocks noChangeAspect="1"/>
          </p:cNvPicPr>
          <p:nvPr/>
        </p:nvPicPr>
        <p:blipFill>
          <a:blip r:embed="rId4"/>
          <a:stretch>
            <a:fillRect/>
          </a:stretch>
        </p:blipFill>
        <p:spPr>
          <a:xfrm>
            <a:off x="6982176" y="2320564"/>
            <a:ext cx="342351" cy="342351"/>
          </a:xfrm>
          <a:prstGeom prst="rect">
            <a:avLst/>
          </a:prstGeom>
        </p:spPr>
      </p:pic>
      <p:sp>
        <p:nvSpPr>
          <p:cNvPr id="26" name="Text 20"/>
          <p:cNvSpPr txBox="1"/>
          <p:nvPr/>
        </p:nvSpPr>
        <p:spPr>
          <a:xfrm>
            <a:off x="7665415" y="2011680"/>
            <a:ext cx="3794760" cy="3657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Merkezî fiyat motoru</a:t>
            </a:r>
            <a:endParaRPr lang="en-US" sz="1600" dirty="0"/>
          </a:p>
        </p:txBody>
      </p:sp>
      <p:sp>
        <p:nvSpPr>
          <p:cNvPr id="27" name="Text 21"/>
          <p:cNvSpPr txBox="1"/>
          <p:nvPr/>
        </p:nvSpPr>
        <p:spPr>
          <a:xfrm>
            <a:off x="7665415" y="2395728"/>
            <a:ext cx="3794760" cy="64008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Bütün kanallar aynı sürümlü kuralları kullanır; her teklifin fiyatı kaydedilir.</a:t>
            </a:r>
            <a:endParaRPr lang="en-US" sz="1400" dirty="0"/>
          </a:p>
        </p:txBody>
      </p:sp>
      <p:sp>
        <p:nvSpPr>
          <p:cNvPr id="28" name="Shape 22"/>
          <p:cNvSpPr/>
          <p:nvPr/>
        </p:nvSpPr>
        <p:spPr>
          <a:xfrm>
            <a:off x="6568135" y="3337560"/>
            <a:ext cx="5074920" cy="1325880"/>
          </a:xfrm>
          <a:prstGeom prst="roundRect">
            <a:avLst>
              <a:gd name="adj" fmla="val 8276"/>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29" name="Shape 23"/>
          <p:cNvSpPr/>
          <p:nvPr/>
        </p:nvSpPr>
        <p:spPr>
          <a:xfrm>
            <a:off x="6824167" y="3671316"/>
            <a:ext cx="658368" cy="658368"/>
          </a:xfrm>
          <a:prstGeom prst="ellipse">
            <a:avLst/>
          </a:prstGeom>
          <a:solidFill>
            <a:srgbClr val="1D6FF2"/>
          </a:solidFill>
          <a:ln w="12700">
            <a:solidFill>
              <a:srgbClr val="1D6FF2"/>
            </a:solidFill>
            <a:prstDash val="solid"/>
          </a:ln>
        </p:spPr>
      </p:sp>
      <p:pic>
        <p:nvPicPr>
          <p:cNvPr id="30" name="Image 4" descr="preencoded.png">    </p:cNvPr>
          <p:cNvPicPr>
            <a:picLocks noChangeAspect="1"/>
          </p:cNvPicPr>
          <p:nvPr/>
        </p:nvPicPr>
        <p:blipFill>
          <a:blip r:embed="rId5"/>
          <a:stretch>
            <a:fillRect/>
          </a:stretch>
        </p:blipFill>
        <p:spPr>
          <a:xfrm>
            <a:off x="6982176" y="3829324"/>
            <a:ext cx="342351" cy="342351"/>
          </a:xfrm>
          <a:prstGeom prst="rect">
            <a:avLst/>
          </a:prstGeom>
        </p:spPr>
      </p:pic>
      <p:sp>
        <p:nvSpPr>
          <p:cNvPr id="31" name="Text 24"/>
          <p:cNvSpPr txBox="1"/>
          <p:nvPr/>
        </p:nvSpPr>
        <p:spPr>
          <a:xfrm>
            <a:off x="7665415" y="3520440"/>
            <a:ext cx="3794760" cy="3657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Uçtan uca dijital satış</a:t>
            </a:r>
            <a:endParaRPr lang="en-US" sz="1600" dirty="0"/>
          </a:p>
        </p:txBody>
      </p:sp>
      <p:sp>
        <p:nvSpPr>
          <p:cNvPr id="32" name="Text 25"/>
          <p:cNvSpPr txBox="1"/>
          <p:nvPr/>
        </p:nvSpPr>
        <p:spPr>
          <a:xfrm>
            <a:off x="7665415" y="3904488"/>
            <a:ext cx="3794760" cy="64008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Teklif, onay, ödeme, poliçe, iptal ve yenileme tek sistemde yürür.</a:t>
            </a:r>
            <a:endParaRPr lang="en-US" sz="1400" dirty="0"/>
          </a:p>
        </p:txBody>
      </p:sp>
      <p:sp>
        <p:nvSpPr>
          <p:cNvPr id="33" name="Shape 26"/>
          <p:cNvSpPr/>
          <p:nvPr/>
        </p:nvSpPr>
        <p:spPr>
          <a:xfrm>
            <a:off x="6568135" y="4846320"/>
            <a:ext cx="5074920" cy="1325880"/>
          </a:xfrm>
          <a:prstGeom prst="roundRect">
            <a:avLst>
              <a:gd name="adj" fmla="val 8276"/>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34" name="Shape 27"/>
          <p:cNvSpPr/>
          <p:nvPr/>
        </p:nvSpPr>
        <p:spPr>
          <a:xfrm>
            <a:off x="6824167" y="5180076"/>
            <a:ext cx="658368" cy="658368"/>
          </a:xfrm>
          <a:prstGeom prst="ellipse">
            <a:avLst/>
          </a:prstGeom>
          <a:solidFill>
            <a:srgbClr val="1D6FF2"/>
          </a:solidFill>
          <a:ln w="12700">
            <a:solidFill>
              <a:srgbClr val="1D6FF2"/>
            </a:solidFill>
            <a:prstDash val="solid"/>
          </a:ln>
        </p:spPr>
      </p:sp>
      <p:pic>
        <p:nvPicPr>
          <p:cNvPr id="35" name="Image 5" descr="preencoded.png">    </p:cNvPr>
          <p:cNvPicPr>
            <a:picLocks noChangeAspect="1"/>
          </p:cNvPicPr>
          <p:nvPr/>
        </p:nvPicPr>
        <p:blipFill>
          <a:blip r:embed="rId6"/>
          <a:stretch>
            <a:fillRect/>
          </a:stretch>
        </p:blipFill>
        <p:spPr>
          <a:xfrm>
            <a:off x="6982176" y="5338084"/>
            <a:ext cx="342351" cy="342351"/>
          </a:xfrm>
          <a:prstGeom prst="rect">
            <a:avLst/>
          </a:prstGeom>
        </p:spPr>
      </p:pic>
      <p:sp>
        <p:nvSpPr>
          <p:cNvPr id="36" name="Text 28"/>
          <p:cNvSpPr txBox="1"/>
          <p:nvPr/>
        </p:nvSpPr>
        <p:spPr>
          <a:xfrm>
            <a:off x="7665415" y="5029200"/>
            <a:ext cx="3794760" cy="3657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Kontrollü tarife yönetimi</a:t>
            </a:r>
            <a:endParaRPr lang="en-US" sz="1600" dirty="0"/>
          </a:p>
        </p:txBody>
      </p:sp>
      <p:sp>
        <p:nvSpPr>
          <p:cNvPr id="37" name="Text 29"/>
          <p:cNvSpPr txBox="1"/>
          <p:nvPr/>
        </p:nvSpPr>
        <p:spPr>
          <a:xfrm>
            <a:off x="7665415" y="5413248"/>
            <a:ext cx="3794760" cy="64008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Manager değişiklik talep eder, Admin etkisini görüp onaylar.</a:t>
            </a:r>
            <a:endParaRPr lang="en-US" sz="1400" dirty="0"/>
          </a:p>
        </p:txBody>
      </p:sp>
      <p:pic>
        <p:nvPicPr>
          <p:cNvPr id="38" name="Image 6" descr="preencoded.png">    </p:cNvPr>
          <p:cNvPicPr>
            <a:picLocks noChangeAspect="1"/>
          </p:cNvPicPr>
          <p:nvPr/>
        </p:nvPicPr>
        <p:blipFill>
          <a:blip r:embed="rId7"/>
          <a:stretch>
            <a:fillRect/>
          </a:stretch>
        </p:blipFill>
        <p:spPr>
          <a:xfrm>
            <a:off x="5821528" y="3726180"/>
            <a:ext cx="548640" cy="5486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2F7"/>
        </a:solidFill>
      </p:bgPr>
    </p:bg>
    <p:spTree>
      <p:nvGrpSpPr>
        <p:cNvPr id="1" name=""/>
        <p:cNvGrpSpPr/>
        <p:nvPr/>
      </p:nvGrpSpPr>
      <p:grpSpPr>
        <a:xfrm>
          <a:off x="0" y="0"/>
          <a:ext cx="0" cy="0"/>
          <a:chOff x="0" y="0"/>
          <a:chExt cx="0" cy="0"/>
        </a:xfrm>
      </p:grpSpPr>
      <p:sp>
        <p:nvSpPr>
          <p:cNvPr id="2" name="Shape 0"/>
          <p:cNvSpPr/>
          <p:nvPr/>
        </p:nvSpPr>
        <p:spPr>
          <a:xfrm>
            <a:off x="548640" y="384048"/>
            <a:ext cx="1161288" cy="329184"/>
          </a:xfrm>
          <a:prstGeom prst="roundRect">
            <a:avLst>
              <a:gd name="adj" fmla="val 50000"/>
            </a:avLst>
          </a:prstGeom>
          <a:solidFill>
            <a:srgbClr val="0A2545"/>
          </a:solidFill>
          <a:ln w="12700">
            <a:solidFill>
              <a:srgbClr val="0A2545"/>
            </a:solidFill>
            <a:prstDash val="solid"/>
          </a:ln>
        </p:spPr>
      </p:sp>
      <p:sp>
        <p:nvSpPr>
          <p:cNvPr id="3" name="Text 1"/>
          <p:cNvSpPr txBox="1"/>
          <p:nvPr/>
        </p:nvSpPr>
        <p:spPr>
          <a:xfrm>
            <a:off x="548640" y="384048"/>
            <a:ext cx="1161288"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RAKAMLARLA</a:t>
            </a:r>
            <a:endParaRPr lang="en-US" sz="1100" dirty="0"/>
          </a:p>
        </p:txBody>
      </p:sp>
      <p:sp>
        <p:nvSpPr>
          <p:cNvPr id="4" name="Text 2"/>
          <p:cNvSpPr txBox="1"/>
          <p:nvPr/>
        </p:nvSpPr>
        <p:spPr>
          <a:xfrm>
            <a:off x="548640" y="786384"/>
            <a:ext cx="11094415" cy="731520"/>
          </a:xfrm>
          <a:prstGeom prst="rect">
            <a:avLst/>
          </a:prstGeom>
          <a:noFill/>
          <a:ln/>
        </p:spPr>
        <p:txBody>
          <a:bodyPr wrap="square" lIns="0" tIns="0" rIns="0" bIns="0" rtlCol="0" anchor="ctr"/>
          <a:lstStyle/>
          <a:p>
            <a:pPr indent="0" marL="0">
              <a:buNone/>
            </a:pPr>
            <a:r>
              <a:rPr lang="en-US" sz="3000" b="1" dirty="0">
                <a:solidFill>
                  <a:srgbClr val="0A2545"/>
                </a:solidFill>
                <a:latin typeface="Arial" pitchFamily="34" charset="0"/>
                <a:ea typeface="Arial" pitchFamily="34" charset="-122"/>
                <a:cs typeface="Arial" pitchFamily="34" charset="-120"/>
              </a:rPr>
              <a:t>Sistem bir bakışta</a:t>
            </a:r>
            <a:endParaRPr lang="en-US" sz="3000" dirty="0"/>
          </a:p>
        </p:txBody>
      </p:sp>
      <p:sp>
        <p:nvSpPr>
          <p:cNvPr id="5" name="Text 3"/>
          <p:cNvSpPr txBox="1"/>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3 / 16</a:t>
            </a:r>
            <a:endParaRPr lang="en-US" sz="1000" dirty="0"/>
          </a:p>
        </p:txBody>
      </p:sp>
      <p:sp>
        <p:nvSpPr>
          <p:cNvPr id="6" name="Shape 4"/>
          <p:cNvSpPr/>
          <p:nvPr/>
        </p:nvSpPr>
        <p:spPr>
          <a:xfrm>
            <a:off x="548640" y="1783080"/>
            <a:ext cx="3493008" cy="2103120"/>
          </a:xfrm>
          <a:prstGeom prst="roundRect">
            <a:avLst>
              <a:gd name="adj" fmla="val 5217"/>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868680" y="2011680"/>
            <a:ext cx="2852928" cy="914400"/>
          </a:xfrm>
          <a:prstGeom prst="rect">
            <a:avLst/>
          </a:prstGeom>
          <a:noFill/>
          <a:ln/>
        </p:spPr>
        <p:txBody>
          <a:bodyPr wrap="square" lIns="0" tIns="0" rIns="0" bIns="0" rtlCol="0" anchor="ctr"/>
          <a:lstStyle/>
          <a:p>
            <a:pPr indent="0" marL="0">
              <a:buNone/>
            </a:pPr>
            <a:r>
              <a:rPr lang="en-US" sz="4800" b="1" dirty="0">
                <a:solidFill>
                  <a:srgbClr val="1D6FF2"/>
                </a:solidFill>
                <a:latin typeface="Arial" pitchFamily="34" charset="0"/>
                <a:ea typeface="Arial" pitchFamily="34" charset="-122"/>
                <a:cs typeface="Arial" pitchFamily="34" charset="-120"/>
              </a:rPr>
              <a:t>79.380</a:t>
            </a:r>
            <a:endParaRPr lang="en-US" sz="4800" dirty="0"/>
          </a:p>
        </p:txBody>
      </p:sp>
      <p:sp>
        <p:nvSpPr>
          <p:cNvPr id="8" name="Text 6"/>
          <p:cNvSpPr txBox="1"/>
          <p:nvPr/>
        </p:nvSpPr>
        <p:spPr>
          <a:xfrm>
            <a:off x="868680" y="2926080"/>
            <a:ext cx="2852928" cy="3657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TSB kasko değer kaydı</a:t>
            </a:r>
            <a:endParaRPr lang="en-US" sz="1600" dirty="0"/>
          </a:p>
        </p:txBody>
      </p:sp>
      <p:sp>
        <p:nvSpPr>
          <p:cNvPr id="9" name="Text 7"/>
          <p:cNvSpPr txBox="1"/>
          <p:nvPr/>
        </p:nvSpPr>
        <p:spPr>
          <a:xfrm>
            <a:off x="868680" y="3319272"/>
            <a:ext cx="2852928" cy="36576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Araç değeri katalogdan otomatik gelir</a:t>
            </a:r>
            <a:endParaRPr lang="en-US" sz="1300" dirty="0"/>
          </a:p>
        </p:txBody>
      </p:sp>
      <p:sp>
        <p:nvSpPr>
          <p:cNvPr id="10" name="Shape 8"/>
          <p:cNvSpPr/>
          <p:nvPr/>
        </p:nvSpPr>
        <p:spPr>
          <a:xfrm>
            <a:off x="4270248" y="1783080"/>
            <a:ext cx="3493008" cy="2103120"/>
          </a:xfrm>
          <a:prstGeom prst="roundRect">
            <a:avLst>
              <a:gd name="adj" fmla="val 5217"/>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11" name="Text 9"/>
          <p:cNvSpPr txBox="1"/>
          <p:nvPr/>
        </p:nvSpPr>
        <p:spPr>
          <a:xfrm>
            <a:off x="4590288" y="2011680"/>
            <a:ext cx="2852928" cy="914400"/>
          </a:xfrm>
          <a:prstGeom prst="rect">
            <a:avLst/>
          </a:prstGeom>
          <a:noFill/>
          <a:ln/>
        </p:spPr>
        <p:txBody>
          <a:bodyPr wrap="square" lIns="0" tIns="0" rIns="0" bIns="0" rtlCol="0" anchor="ctr"/>
          <a:lstStyle/>
          <a:p>
            <a:pPr indent="0" marL="0">
              <a:buNone/>
            </a:pPr>
            <a:r>
              <a:rPr lang="en-US" sz="4800" b="1" dirty="0">
                <a:solidFill>
                  <a:srgbClr val="13325C"/>
                </a:solidFill>
                <a:latin typeface="Arial" pitchFamily="34" charset="0"/>
                <a:ea typeface="Arial" pitchFamily="34" charset="-122"/>
                <a:cs typeface="Arial" pitchFamily="34" charset="-120"/>
              </a:rPr>
              <a:t>109</a:t>
            </a:r>
            <a:endParaRPr lang="en-US" sz="4800" dirty="0"/>
          </a:p>
        </p:txBody>
      </p:sp>
      <p:sp>
        <p:nvSpPr>
          <p:cNvPr id="12" name="Text 10"/>
          <p:cNvSpPr txBox="1"/>
          <p:nvPr/>
        </p:nvSpPr>
        <p:spPr>
          <a:xfrm>
            <a:off x="4590288" y="2926080"/>
            <a:ext cx="2852928" cy="3657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API uç noktası</a:t>
            </a:r>
            <a:endParaRPr lang="en-US" sz="1600" dirty="0"/>
          </a:p>
        </p:txBody>
      </p:sp>
      <p:sp>
        <p:nvSpPr>
          <p:cNvPr id="13" name="Text 11"/>
          <p:cNvSpPr txBox="1"/>
          <p:nvPr/>
        </p:nvSpPr>
        <p:spPr>
          <a:xfrm>
            <a:off x="4590288" y="3319272"/>
            <a:ext cx="2852928" cy="36576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21 controller, REST + JWT</a:t>
            </a:r>
            <a:endParaRPr lang="en-US" sz="1300" dirty="0"/>
          </a:p>
        </p:txBody>
      </p:sp>
      <p:sp>
        <p:nvSpPr>
          <p:cNvPr id="14" name="Shape 12"/>
          <p:cNvSpPr/>
          <p:nvPr/>
        </p:nvSpPr>
        <p:spPr>
          <a:xfrm>
            <a:off x="7991856" y="1783080"/>
            <a:ext cx="3493008" cy="2103120"/>
          </a:xfrm>
          <a:prstGeom prst="roundRect">
            <a:avLst>
              <a:gd name="adj" fmla="val 5217"/>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15" name="Text 13"/>
          <p:cNvSpPr txBox="1"/>
          <p:nvPr/>
        </p:nvSpPr>
        <p:spPr>
          <a:xfrm>
            <a:off x="8311896" y="2011680"/>
            <a:ext cx="2852928" cy="914400"/>
          </a:xfrm>
          <a:prstGeom prst="rect">
            <a:avLst/>
          </a:prstGeom>
          <a:noFill/>
          <a:ln/>
        </p:spPr>
        <p:txBody>
          <a:bodyPr wrap="square" lIns="0" tIns="0" rIns="0" bIns="0" rtlCol="0" anchor="ctr"/>
          <a:lstStyle/>
          <a:p>
            <a:pPr indent="0" marL="0">
              <a:buNone/>
            </a:pPr>
            <a:r>
              <a:rPr lang="en-US" sz="4800" b="1" dirty="0">
                <a:solidFill>
                  <a:srgbClr val="16A34A"/>
                </a:solidFill>
                <a:latin typeface="Arial" pitchFamily="34" charset="0"/>
                <a:ea typeface="Arial" pitchFamily="34" charset="-122"/>
                <a:cs typeface="Arial" pitchFamily="34" charset="-120"/>
              </a:rPr>
              <a:t>210</a:t>
            </a:r>
            <a:endParaRPr lang="en-US" sz="4800" dirty="0"/>
          </a:p>
        </p:txBody>
      </p:sp>
      <p:sp>
        <p:nvSpPr>
          <p:cNvPr id="16" name="Text 14"/>
          <p:cNvSpPr txBox="1"/>
          <p:nvPr/>
        </p:nvSpPr>
        <p:spPr>
          <a:xfrm>
            <a:off x="8311896" y="2926080"/>
            <a:ext cx="2852928" cy="3657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birim testi</a:t>
            </a:r>
            <a:endParaRPr lang="en-US" sz="1600" dirty="0"/>
          </a:p>
        </p:txBody>
      </p:sp>
      <p:sp>
        <p:nvSpPr>
          <p:cNvPr id="17" name="Text 15"/>
          <p:cNvSpPr txBox="1"/>
          <p:nvPr/>
        </p:nvSpPr>
        <p:spPr>
          <a:xfrm>
            <a:off x="8311896" y="3319272"/>
            <a:ext cx="2852928" cy="36576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xUnit + Moq, tamamı başarılı</a:t>
            </a:r>
            <a:endParaRPr lang="en-US" sz="1300" dirty="0"/>
          </a:p>
        </p:txBody>
      </p:sp>
      <p:sp>
        <p:nvSpPr>
          <p:cNvPr id="18" name="Shape 16"/>
          <p:cNvSpPr/>
          <p:nvPr/>
        </p:nvSpPr>
        <p:spPr>
          <a:xfrm>
            <a:off x="548640" y="4160520"/>
            <a:ext cx="3493008" cy="2103120"/>
          </a:xfrm>
          <a:prstGeom prst="roundRect">
            <a:avLst>
              <a:gd name="adj" fmla="val 5217"/>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19" name="Text 17"/>
          <p:cNvSpPr txBox="1"/>
          <p:nvPr/>
        </p:nvSpPr>
        <p:spPr>
          <a:xfrm>
            <a:off x="868680" y="4389120"/>
            <a:ext cx="2852928" cy="914400"/>
          </a:xfrm>
          <a:prstGeom prst="rect">
            <a:avLst/>
          </a:prstGeom>
          <a:noFill/>
          <a:ln/>
        </p:spPr>
        <p:txBody>
          <a:bodyPr wrap="square" lIns="0" tIns="0" rIns="0" bIns="0" rtlCol="0" anchor="ctr"/>
          <a:lstStyle/>
          <a:p>
            <a:pPr indent="0" marL="0">
              <a:buNone/>
            </a:pPr>
            <a:r>
              <a:rPr lang="en-US" sz="4800" b="1" dirty="0">
                <a:solidFill>
                  <a:srgbClr val="13325C"/>
                </a:solidFill>
                <a:latin typeface="Arial" pitchFamily="34" charset="0"/>
                <a:ea typeface="Arial" pitchFamily="34" charset="-122"/>
                <a:cs typeface="Arial" pitchFamily="34" charset="-120"/>
              </a:rPr>
              <a:t>28</a:t>
            </a:r>
            <a:endParaRPr lang="en-US" sz="4800" dirty="0"/>
          </a:p>
        </p:txBody>
      </p:sp>
      <p:sp>
        <p:nvSpPr>
          <p:cNvPr id="20" name="Text 18"/>
          <p:cNvSpPr txBox="1"/>
          <p:nvPr/>
        </p:nvSpPr>
        <p:spPr>
          <a:xfrm>
            <a:off x="868680" y="5303520"/>
            <a:ext cx="2852928" cy="3657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sürümlü fiyat kuralı</a:t>
            </a:r>
            <a:endParaRPr lang="en-US" sz="1600" dirty="0"/>
          </a:p>
        </p:txBody>
      </p:sp>
      <p:sp>
        <p:nvSpPr>
          <p:cNvPr id="21" name="Text 19"/>
          <p:cNvSpPr txBox="1"/>
          <p:nvPr/>
        </p:nvSpPr>
        <p:spPr>
          <a:xfrm>
            <a:off x="868680" y="5696712"/>
            <a:ext cx="2852928" cy="36576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Kod değişmeden fiyat güncellenir</a:t>
            </a:r>
            <a:endParaRPr lang="en-US" sz="1300" dirty="0"/>
          </a:p>
        </p:txBody>
      </p:sp>
      <p:sp>
        <p:nvSpPr>
          <p:cNvPr id="22" name="Shape 20"/>
          <p:cNvSpPr/>
          <p:nvPr/>
        </p:nvSpPr>
        <p:spPr>
          <a:xfrm>
            <a:off x="4270248" y="4160520"/>
            <a:ext cx="3493008" cy="2103120"/>
          </a:xfrm>
          <a:prstGeom prst="roundRect">
            <a:avLst>
              <a:gd name="adj" fmla="val 5217"/>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23" name="Text 21"/>
          <p:cNvSpPr txBox="1"/>
          <p:nvPr/>
        </p:nvSpPr>
        <p:spPr>
          <a:xfrm>
            <a:off x="4590288" y="4389120"/>
            <a:ext cx="2852928" cy="914400"/>
          </a:xfrm>
          <a:prstGeom prst="rect">
            <a:avLst/>
          </a:prstGeom>
          <a:noFill/>
          <a:ln/>
        </p:spPr>
        <p:txBody>
          <a:bodyPr wrap="square" lIns="0" tIns="0" rIns="0" bIns="0" rtlCol="0" anchor="ctr"/>
          <a:lstStyle/>
          <a:p>
            <a:pPr indent="0" marL="0">
              <a:buNone/>
            </a:pPr>
            <a:r>
              <a:rPr lang="en-US" sz="4800" b="1" dirty="0">
                <a:solidFill>
                  <a:srgbClr val="1D6FF2"/>
                </a:solidFill>
                <a:latin typeface="Arial" pitchFamily="34" charset="0"/>
                <a:ea typeface="Arial" pitchFamily="34" charset="-122"/>
                <a:cs typeface="Arial" pitchFamily="34" charset="-120"/>
              </a:rPr>
              <a:t>3 + 1</a:t>
            </a:r>
            <a:endParaRPr lang="en-US" sz="4800" dirty="0"/>
          </a:p>
        </p:txBody>
      </p:sp>
      <p:sp>
        <p:nvSpPr>
          <p:cNvPr id="24" name="Text 22"/>
          <p:cNvSpPr txBox="1"/>
          <p:nvPr/>
        </p:nvSpPr>
        <p:spPr>
          <a:xfrm>
            <a:off x="4590288" y="5303520"/>
            <a:ext cx="2852928" cy="3657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kullanıcı rolü</a:t>
            </a:r>
            <a:endParaRPr lang="en-US" sz="1600" dirty="0"/>
          </a:p>
        </p:txBody>
      </p:sp>
      <p:sp>
        <p:nvSpPr>
          <p:cNvPr id="25" name="Text 23"/>
          <p:cNvSpPr txBox="1"/>
          <p:nvPr/>
        </p:nvSpPr>
        <p:spPr>
          <a:xfrm>
            <a:off x="4590288" y="5696712"/>
            <a:ext cx="2852928" cy="36576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Admin, Manager, Müşteri + misafir</a:t>
            </a:r>
            <a:endParaRPr lang="en-US" sz="1300" dirty="0"/>
          </a:p>
        </p:txBody>
      </p:sp>
      <p:sp>
        <p:nvSpPr>
          <p:cNvPr id="26" name="Shape 24"/>
          <p:cNvSpPr/>
          <p:nvPr/>
        </p:nvSpPr>
        <p:spPr>
          <a:xfrm>
            <a:off x="7991856" y="4160520"/>
            <a:ext cx="3493008" cy="2103120"/>
          </a:xfrm>
          <a:prstGeom prst="roundRect">
            <a:avLst>
              <a:gd name="adj" fmla="val 5217"/>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27" name="Text 25"/>
          <p:cNvSpPr txBox="1"/>
          <p:nvPr/>
        </p:nvSpPr>
        <p:spPr>
          <a:xfrm>
            <a:off x="8311896" y="4389120"/>
            <a:ext cx="2852928" cy="914400"/>
          </a:xfrm>
          <a:prstGeom prst="rect">
            <a:avLst/>
          </a:prstGeom>
          <a:noFill/>
          <a:ln/>
        </p:spPr>
        <p:txBody>
          <a:bodyPr wrap="square" lIns="0" tIns="0" rIns="0" bIns="0" rtlCol="0" anchor="ctr"/>
          <a:lstStyle/>
          <a:p>
            <a:pPr indent="0" marL="0">
              <a:buNone/>
            </a:pPr>
            <a:r>
              <a:rPr lang="en-US" sz="4800" b="1" dirty="0">
                <a:solidFill>
                  <a:srgbClr val="16A34A"/>
                </a:solidFill>
                <a:latin typeface="Arial" pitchFamily="34" charset="0"/>
                <a:ea typeface="Arial" pitchFamily="34" charset="-122"/>
                <a:cs typeface="Arial" pitchFamily="34" charset="-120"/>
              </a:rPr>
              <a:t>3 / 12</a:t>
            </a:r>
            <a:endParaRPr lang="en-US" sz="4800" dirty="0"/>
          </a:p>
        </p:txBody>
      </p:sp>
      <p:sp>
        <p:nvSpPr>
          <p:cNvPr id="28" name="Text 26"/>
          <p:cNvSpPr txBox="1"/>
          <p:nvPr/>
        </p:nvSpPr>
        <p:spPr>
          <a:xfrm>
            <a:off x="8311896" y="5303520"/>
            <a:ext cx="2852928" cy="3657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paket / teminat</a:t>
            </a:r>
            <a:endParaRPr lang="en-US" sz="1600" dirty="0"/>
          </a:p>
        </p:txBody>
      </p:sp>
      <p:sp>
        <p:nvSpPr>
          <p:cNvPr id="29" name="Text 27"/>
          <p:cNvSpPr txBox="1"/>
          <p:nvPr/>
        </p:nvSpPr>
        <p:spPr>
          <a:xfrm>
            <a:off x="8311896" y="5696712"/>
            <a:ext cx="2852928" cy="36576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Ekonomik, Standart, Kapsamlı</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2F7"/>
        </a:solidFill>
      </p:bgPr>
    </p:bg>
    <p:spTree>
      <p:nvGrpSpPr>
        <p:cNvPr id="1" name=""/>
        <p:cNvGrpSpPr/>
        <p:nvPr/>
      </p:nvGrpSpPr>
      <p:grpSpPr>
        <a:xfrm>
          <a:off x="0" y="0"/>
          <a:ext cx="0" cy="0"/>
          <a:chOff x="0" y="0"/>
          <a:chExt cx="0" cy="0"/>
        </a:xfrm>
      </p:grpSpPr>
      <p:sp>
        <p:nvSpPr>
          <p:cNvPr id="2" name="Shape 0"/>
          <p:cNvSpPr/>
          <p:nvPr/>
        </p:nvSpPr>
        <p:spPr>
          <a:xfrm>
            <a:off x="548640" y="384048"/>
            <a:ext cx="1833372" cy="329184"/>
          </a:xfrm>
          <a:prstGeom prst="roundRect">
            <a:avLst>
              <a:gd name="adj" fmla="val 50000"/>
            </a:avLst>
          </a:prstGeom>
          <a:solidFill>
            <a:srgbClr val="0A2545"/>
          </a:solidFill>
          <a:ln w="12700">
            <a:solidFill>
              <a:srgbClr val="0A2545"/>
            </a:solidFill>
            <a:prstDash val="solid"/>
          </a:ln>
        </p:spPr>
      </p:sp>
      <p:sp>
        <p:nvSpPr>
          <p:cNvPr id="3" name="Text 1"/>
          <p:cNvSpPr txBox="1"/>
          <p:nvPr/>
        </p:nvSpPr>
        <p:spPr>
          <a:xfrm>
            <a:off x="548640" y="384048"/>
            <a:ext cx="1833372"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KULLANICI ROLLERİ</a:t>
            </a:r>
            <a:endParaRPr lang="en-US" sz="1100" dirty="0"/>
          </a:p>
        </p:txBody>
      </p:sp>
      <p:sp>
        <p:nvSpPr>
          <p:cNvPr id="4" name="Text 2"/>
          <p:cNvSpPr txBox="1"/>
          <p:nvPr/>
        </p:nvSpPr>
        <p:spPr>
          <a:xfrm>
            <a:off x="548640" y="786384"/>
            <a:ext cx="11094415" cy="731520"/>
          </a:xfrm>
          <a:prstGeom prst="rect">
            <a:avLst/>
          </a:prstGeom>
          <a:noFill/>
          <a:ln/>
        </p:spPr>
        <p:txBody>
          <a:bodyPr wrap="square" lIns="0" tIns="0" rIns="0" bIns="0" rtlCol="0" anchor="ctr"/>
          <a:lstStyle/>
          <a:p>
            <a:pPr indent="0" marL="0">
              <a:buNone/>
            </a:pPr>
            <a:r>
              <a:rPr lang="en-US" sz="3000" b="1" dirty="0">
                <a:solidFill>
                  <a:srgbClr val="0A2545"/>
                </a:solidFill>
                <a:latin typeface="Arial" pitchFamily="34" charset="0"/>
                <a:ea typeface="Arial" pitchFamily="34" charset="-122"/>
                <a:cs typeface="Arial" pitchFamily="34" charset="-120"/>
              </a:rPr>
              <a:t>Herkes yalnızca işi kadar yetkili</a:t>
            </a:r>
            <a:endParaRPr lang="en-US" sz="3000" dirty="0"/>
          </a:p>
        </p:txBody>
      </p:sp>
      <p:sp>
        <p:nvSpPr>
          <p:cNvPr id="5" name="Text 3"/>
          <p:cNvSpPr txBox="1"/>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4 / 16</a:t>
            </a:r>
            <a:endParaRPr lang="en-US" sz="1000" dirty="0"/>
          </a:p>
        </p:txBody>
      </p:sp>
      <p:sp>
        <p:nvSpPr>
          <p:cNvPr id="6" name="Shape 4"/>
          <p:cNvSpPr/>
          <p:nvPr/>
        </p:nvSpPr>
        <p:spPr>
          <a:xfrm>
            <a:off x="548640" y="1783080"/>
            <a:ext cx="2615184" cy="3749040"/>
          </a:xfrm>
          <a:prstGeom prst="roundRect">
            <a:avLst>
              <a:gd name="adj" fmla="val 4196"/>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7" name="Shape 5"/>
          <p:cNvSpPr/>
          <p:nvPr/>
        </p:nvSpPr>
        <p:spPr>
          <a:xfrm>
            <a:off x="1421892" y="2103120"/>
            <a:ext cx="868680" cy="868680"/>
          </a:xfrm>
          <a:prstGeom prst="ellipse">
            <a:avLst/>
          </a:prstGeom>
          <a:solidFill>
            <a:srgbClr val="8A94A6"/>
          </a:solidFill>
          <a:ln w="12700">
            <a:solidFill>
              <a:srgbClr val="8A94A6"/>
            </a:solidFill>
            <a:prstDash val="solid"/>
          </a:ln>
        </p:spPr>
      </p:sp>
      <p:pic>
        <p:nvPicPr>
          <p:cNvPr id="8" name="Image 0" descr="preencoded.png">    </p:cNvPr>
          <p:cNvPicPr>
            <a:picLocks noChangeAspect="1"/>
          </p:cNvPicPr>
          <p:nvPr/>
        </p:nvPicPr>
        <p:blipFill>
          <a:blip r:embed="rId1"/>
          <a:stretch>
            <a:fillRect/>
          </a:stretch>
        </p:blipFill>
        <p:spPr>
          <a:xfrm>
            <a:off x="1630375" y="2311603"/>
            <a:ext cx="451714" cy="451714"/>
          </a:xfrm>
          <a:prstGeom prst="rect">
            <a:avLst/>
          </a:prstGeom>
        </p:spPr>
      </p:pic>
      <p:sp>
        <p:nvSpPr>
          <p:cNvPr id="9" name="Text 6"/>
          <p:cNvSpPr txBox="1"/>
          <p:nvPr/>
        </p:nvSpPr>
        <p:spPr>
          <a:xfrm>
            <a:off x="548640" y="3108960"/>
            <a:ext cx="2615184" cy="411480"/>
          </a:xfrm>
          <a:prstGeom prst="rect">
            <a:avLst/>
          </a:prstGeom>
          <a:noFill/>
          <a:ln/>
        </p:spPr>
        <p:txBody>
          <a:bodyPr wrap="square" lIns="0" tIns="0" rIns="0" bIns="0" rtlCol="0" anchor="ctr"/>
          <a:lstStyle/>
          <a:p>
            <a:pPr algn="ctr" indent="0" marL="0">
              <a:buNone/>
            </a:pPr>
            <a:r>
              <a:rPr lang="en-US" sz="1900" b="1" dirty="0">
                <a:solidFill>
                  <a:srgbClr val="1F2937"/>
                </a:solidFill>
                <a:latin typeface="Arial" pitchFamily="34" charset="0"/>
                <a:ea typeface="Arial" pitchFamily="34" charset="-122"/>
                <a:cs typeface="Arial" pitchFamily="34" charset="-120"/>
              </a:rPr>
              <a:t>Misafir</a:t>
            </a:r>
            <a:endParaRPr lang="en-US" sz="1900" dirty="0"/>
          </a:p>
        </p:txBody>
      </p:sp>
      <p:sp>
        <p:nvSpPr>
          <p:cNvPr id="10" name="Text 7"/>
          <p:cNvSpPr txBox="1"/>
          <p:nvPr/>
        </p:nvSpPr>
        <p:spPr>
          <a:xfrm>
            <a:off x="777240" y="3657600"/>
            <a:ext cx="2203704" cy="16916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5B6472"/>
                </a:solidFill>
                <a:latin typeface="Calibri" pitchFamily="34" charset="0"/>
                <a:ea typeface="Calibri" pitchFamily="34" charset="-122"/>
                <a:cs typeface="Calibri" pitchFamily="34" charset="-120"/>
              </a:rPr>
              <a:t>Üye olmadan hızlı teklif</a:t>
            </a:r>
            <a:endParaRPr lang="en-US" sz="1400" dirty="0"/>
          </a:p>
          <a:p>
            <a:pPr marL="342900" indent="-342900">
              <a:spcAft>
                <a:spcPts val="800"/>
              </a:spcAft>
              <a:buSzPct val="100000"/>
              <a:buChar char="•"/>
            </a:pPr>
            <a:r>
              <a:rPr lang="en-US" sz="1400" dirty="0">
                <a:solidFill>
                  <a:srgbClr val="5B6472"/>
                </a:solidFill>
                <a:latin typeface="Calibri" pitchFamily="34" charset="0"/>
                <a:ea typeface="Calibri" pitchFamily="34" charset="-122"/>
                <a:cs typeface="Calibri" pitchFamily="34" charset="-120"/>
              </a:rPr>
              <a:t>Paketleri karşılaştırır, PDF indirir</a:t>
            </a:r>
            <a:endParaRPr lang="en-US" sz="1400" dirty="0"/>
          </a:p>
          <a:p>
            <a:pPr marL="342900" indent="-342900">
              <a:spcAft>
                <a:spcPts val="800"/>
              </a:spcAft>
              <a:buSzPct val="100000"/>
              <a:buChar char="•"/>
            </a:pPr>
            <a:r>
              <a:rPr lang="en-US" sz="1400" dirty="0">
                <a:solidFill>
                  <a:srgbClr val="5B6472"/>
                </a:solidFill>
                <a:latin typeface="Calibri" pitchFamily="34" charset="0"/>
                <a:ea typeface="Calibri" pitchFamily="34" charset="-122"/>
                <a:cs typeface="Calibri" pitchFamily="34" charset="-120"/>
              </a:rPr>
              <a:t>Satın almak için kayda yönlenir</a:t>
            </a:r>
            <a:endParaRPr lang="en-US" sz="1400" dirty="0"/>
          </a:p>
        </p:txBody>
      </p:sp>
      <p:sp>
        <p:nvSpPr>
          <p:cNvPr id="11" name="Shape 8"/>
          <p:cNvSpPr/>
          <p:nvPr/>
        </p:nvSpPr>
        <p:spPr>
          <a:xfrm>
            <a:off x="3392424" y="1783080"/>
            <a:ext cx="2615184" cy="3749040"/>
          </a:xfrm>
          <a:prstGeom prst="roundRect">
            <a:avLst>
              <a:gd name="adj" fmla="val 4196"/>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4265676" y="2103120"/>
            <a:ext cx="868680" cy="868680"/>
          </a:xfrm>
          <a:prstGeom prst="ellipse">
            <a:avLst/>
          </a:prstGeom>
          <a:solidFill>
            <a:srgbClr val="1D6FF2"/>
          </a:solidFill>
          <a:ln w="12700">
            <a:solidFill>
              <a:srgbClr val="1D6FF2"/>
            </a:solidFill>
            <a:prstDash val="solid"/>
          </a:ln>
        </p:spPr>
      </p:sp>
      <p:pic>
        <p:nvPicPr>
          <p:cNvPr id="13" name="Image 1" descr="preencoded.png">    </p:cNvPr>
          <p:cNvPicPr>
            <a:picLocks noChangeAspect="1"/>
          </p:cNvPicPr>
          <p:nvPr/>
        </p:nvPicPr>
        <p:blipFill>
          <a:blip r:embed="rId2"/>
          <a:stretch>
            <a:fillRect/>
          </a:stretch>
        </p:blipFill>
        <p:spPr>
          <a:xfrm>
            <a:off x="4474159" y="2311603"/>
            <a:ext cx="451714" cy="451714"/>
          </a:xfrm>
          <a:prstGeom prst="rect">
            <a:avLst/>
          </a:prstGeom>
        </p:spPr>
      </p:pic>
      <p:sp>
        <p:nvSpPr>
          <p:cNvPr id="14" name="Text 10"/>
          <p:cNvSpPr txBox="1"/>
          <p:nvPr/>
        </p:nvSpPr>
        <p:spPr>
          <a:xfrm>
            <a:off x="3392424" y="3108960"/>
            <a:ext cx="2615184" cy="411480"/>
          </a:xfrm>
          <a:prstGeom prst="rect">
            <a:avLst/>
          </a:prstGeom>
          <a:noFill/>
          <a:ln/>
        </p:spPr>
        <p:txBody>
          <a:bodyPr wrap="square" lIns="0" tIns="0" rIns="0" bIns="0" rtlCol="0" anchor="ctr"/>
          <a:lstStyle/>
          <a:p>
            <a:pPr algn="ctr" indent="0" marL="0">
              <a:buNone/>
            </a:pPr>
            <a:r>
              <a:rPr lang="en-US" sz="1900" b="1" dirty="0">
                <a:solidFill>
                  <a:srgbClr val="1F2937"/>
                </a:solidFill>
                <a:latin typeface="Arial" pitchFamily="34" charset="0"/>
                <a:ea typeface="Arial" pitchFamily="34" charset="-122"/>
                <a:cs typeface="Arial" pitchFamily="34" charset="-120"/>
              </a:rPr>
              <a:t>Müşteri</a:t>
            </a:r>
            <a:endParaRPr lang="en-US" sz="1900" dirty="0"/>
          </a:p>
        </p:txBody>
      </p:sp>
      <p:sp>
        <p:nvSpPr>
          <p:cNvPr id="15" name="Text 11"/>
          <p:cNvSpPr txBox="1"/>
          <p:nvPr/>
        </p:nvSpPr>
        <p:spPr>
          <a:xfrm>
            <a:off x="3621024" y="3657600"/>
            <a:ext cx="2203704" cy="16916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5B6472"/>
                </a:solidFill>
                <a:latin typeface="Calibri" pitchFamily="34" charset="0"/>
                <a:ea typeface="Calibri" pitchFamily="34" charset="-122"/>
                <a:cs typeface="Calibri" pitchFamily="34" charset="-120"/>
              </a:rPr>
              <a:t>Araç ekler, teklif alır</a:t>
            </a:r>
            <a:endParaRPr lang="en-US" sz="1400" dirty="0"/>
          </a:p>
          <a:p>
            <a:pPr marL="342900" indent="-342900">
              <a:spcAft>
                <a:spcPts val="800"/>
              </a:spcAft>
              <a:buSzPct val="100000"/>
              <a:buChar char="•"/>
            </a:pPr>
            <a:r>
              <a:rPr lang="en-US" sz="1400" dirty="0">
                <a:solidFill>
                  <a:srgbClr val="5B6472"/>
                </a:solidFill>
                <a:latin typeface="Calibri" pitchFamily="34" charset="0"/>
                <a:ea typeface="Calibri" pitchFamily="34" charset="-122"/>
                <a:cs typeface="Calibri" pitchFamily="34" charset="-120"/>
              </a:rPr>
              <a:t>Peşin veya 3-6-9 taksitle satın alır</a:t>
            </a:r>
            <a:endParaRPr lang="en-US" sz="1400" dirty="0"/>
          </a:p>
          <a:p>
            <a:pPr marL="342900" indent="-342900">
              <a:spcAft>
                <a:spcPts val="800"/>
              </a:spcAft>
              <a:buSzPct val="100000"/>
              <a:buChar char="•"/>
            </a:pPr>
            <a:r>
              <a:rPr lang="en-US" sz="1400" dirty="0">
                <a:solidFill>
                  <a:srgbClr val="5B6472"/>
                </a:solidFill>
                <a:latin typeface="Calibri" pitchFamily="34" charset="0"/>
                <a:ea typeface="Calibri" pitchFamily="34" charset="-122"/>
                <a:cs typeface="Calibri" pitchFamily="34" charset="-120"/>
              </a:rPr>
              <a:t>Poliçe, iptal talebi, yenileme</a:t>
            </a:r>
            <a:endParaRPr lang="en-US" sz="1400" dirty="0"/>
          </a:p>
        </p:txBody>
      </p:sp>
      <p:sp>
        <p:nvSpPr>
          <p:cNvPr id="16" name="Shape 12"/>
          <p:cNvSpPr/>
          <p:nvPr/>
        </p:nvSpPr>
        <p:spPr>
          <a:xfrm>
            <a:off x="6236208" y="1783080"/>
            <a:ext cx="2615184" cy="3749040"/>
          </a:xfrm>
          <a:prstGeom prst="roundRect">
            <a:avLst>
              <a:gd name="adj" fmla="val 4196"/>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17" name="Shape 13"/>
          <p:cNvSpPr/>
          <p:nvPr/>
        </p:nvSpPr>
        <p:spPr>
          <a:xfrm>
            <a:off x="7109460" y="2103120"/>
            <a:ext cx="868680" cy="868680"/>
          </a:xfrm>
          <a:prstGeom prst="ellipse">
            <a:avLst/>
          </a:prstGeom>
          <a:solidFill>
            <a:srgbClr val="13325C"/>
          </a:solidFill>
          <a:ln w="12700">
            <a:solidFill>
              <a:srgbClr val="13325C"/>
            </a:solidFill>
            <a:prstDash val="solid"/>
          </a:ln>
        </p:spPr>
      </p:sp>
      <p:pic>
        <p:nvPicPr>
          <p:cNvPr id="18" name="Image 2" descr="preencoded.png">    </p:cNvPr>
          <p:cNvPicPr>
            <a:picLocks noChangeAspect="1"/>
          </p:cNvPicPr>
          <p:nvPr/>
        </p:nvPicPr>
        <p:blipFill>
          <a:blip r:embed="rId3"/>
          <a:stretch>
            <a:fillRect/>
          </a:stretch>
        </p:blipFill>
        <p:spPr>
          <a:xfrm>
            <a:off x="7317943" y="2311603"/>
            <a:ext cx="451714" cy="451714"/>
          </a:xfrm>
          <a:prstGeom prst="rect">
            <a:avLst/>
          </a:prstGeom>
        </p:spPr>
      </p:pic>
      <p:sp>
        <p:nvSpPr>
          <p:cNvPr id="19" name="Text 14"/>
          <p:cNvSpPr txBox="1"/>
          <p:nvPr/>
        </p:nvSpPr>
        <p:spPr>
          <a:xfrm>
            <a:off x="6236208" y="3108960"/>
            <a:ext cx="2615184" cy="411480"/>
          </a:xfrm>
          <a:prstGeom prst="rect">
            <a:avLst/>
          </a:prstGeom>
          <a:noFill/>
          <a:ln/>
        </p:spPr>
        <p:txBody>
          <a:bodyPr wrap="square" lIns="0" tIns="0" rIns="0" bIns="0" rtlCol="0" anchor="ctr"/>
          <a:lstStyle/>
          <a:p>
            <a:pPr algn="ctr" indent="0" marL="0">
              <a:buNone/>
            </a:pPr>
            <a:r>
              <a:rPr lang="en-US" sz="1900" b="1" dirty="0">
                <a:solidFill>
                  <a:srgbClr val="1F2937"/>
                </a:solidFill>
                <a:latin typeface="Arial" pitchFamily="34" charset="0"/>
                <a:ea typeface="Arial" pitchFamily="34" charset="-122"/>
                <a:cs typeface="Arial" pitchFamily="34" charset="-120"/>
              </a:rPr>
              <a:t>Manager</a:t>
            </a:r>
            <a:endParaRPr lang="en-US" sz="1900" dirty="0"/>
          </a:p>
        </p:txBody>
      </p:sp>
      <p:sp>
        <p:nvSpPr>
          <p:cNvPr id="20" name="Text 15"/>
          <p:cNvSpPr txBox="1"/>
          <p:nvPr/>
        </p:nvSpPr>
        <p:spPr>
          <a:xfrm>
            <a:off x="6464808" y="3657600"/>
            <a:ext cx="2203704" cy="16916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5B6472"/>
                </a:solidFill>
                <a:latin typeface="Calibri" pitchFamily="34" charset="0"/>
                <a:ea typeface="Calibri" pitchFamily="34" charset="-122"/>
                <a:cs typeface="Calibri" pitchFamily="34" charset="-120"/>
              </a:rPr>
              <a:t>Portföyü ve dashboard'u izler</a:t>
            </a:r>
            <a:endParaRPr lang="en-US" sz="1400" dirty="0"/>
          </a:p>
          <a:p>
            <a:pPr marL="342900" indent="-342900">
              <a:spcAft>
                <a:spcPts val="800"/>
              </a:spcAft>
              <a:buSzPct val="100000"/>
              <a:buChar char="•"/>
            </a:pPr>
            <a:r>
              <a:rPr lang="en-US" sz="1400" dirty="0">
                <a:solidFill>
                  <a:srgbClr val="5B6472"/>
                </a:solidFill>
                <a:latin typeface="Calibri" pitchFamily="34" charset="0"/>
                <a:ea typeface="Calibri" pitchFamily="34" charset="-122"/>
                <a:cs typeface="Calibri" pitchFamily="34" charset="-120"/>
              </a:rPr>
              <a:t>Tarife değişikliği talep eder</a:t>
            </a:r>
            <a:endParaRPr lang="en-US" sz="1400" dirty="0"/>
          </a:p>
          <a:p>
            <a:pPr marL="342900" indent="-342900">
              <a:spcAft>
                <a:spcPts val="800"/>
              </a:spcAft>
              <a:buSzPct val="100000"/>
              <a:buChar char="•"/>
            </a:pPr>
            <a:r>
              <a:rPr lang="en-US" sz="1400" dirty="0">
                <a:solidFill>
                  <a:srgbClr val="5B6472"/>
                </a:solidFill>
                <a:latin typeface="Calibri" pitchFamily="34" charset="0"/>
                <a:ea typeface="Calibri" pitchFamily="34" charset="-122"/>
                <a:cs typeface="Calibri" pitchFamily="34" charset="-120"/>
              </a:rPr>
              <a:t>Kendi hesap bilgilerini yönetir</a:t>
            </a:r>
            <a:endParaRPr lang="en-US" sz="1400" dirty="0"/>
          </a:p>
        </p:txBody>
      </p:sp>
      <p:sp>
        <p:nvSpPr>
          <p:cNvPr id="21" name="Shape 16"/>
          <p:cNvSpPr/>
          <p:nvPr/>
        </p:nvSpPr>
        <p:spPr>
          <a:xfrm>
            <a:off x="9079992" y="1783080"/>
            <a:ext cx="2615184" cy="3749040"/>
          </a:xfrm>
          <a:prstGeom prst="roundRect">
            <a:avLst>
              <a:gd name="adj" fmla="val 4196"/>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22" name="Shape 17"/>
          <p:cNvSpPr/>
          <p:nvPr/>
        </p:nvSpPr>
        <p:spPr>
          <a:xfrm>
            <a:off x="9953244" y="2103120"/>
            <a:ext cx="868680" cy="868680"/>
          </a:xfrm>
          <a:prstGeom prst="ellipse">
            <a:avLst/>
          </a:prstGeom>
          <a:solidFill>
            <a:srgbClr val="0A2545"/>
          </a:solidFill>
          <a:ln w="12700">
            <a:solidFill>
              <a:srgbClr val="0A2545"/>
            </a:solidFill>
            <a:prstDash val="solid"/>
          </a:ln>
        </p:spPr>
      </p:sp>
      <p:pic>
        <p:nvPicPr>
          <p:cNvPr id="23" name="Image 3" descr="preencoded.png">    </p:cNvPr>
          <p:cNvPicPr>
            <a:picLocks noChangeAspect="1"/>
          </p:cNvPicPr>
          <p:nvPr/>
        </p:nvPicPr>
        <p:blipFill>
          <a:blip r:embed="rId4"/>
          <a:stretch>
            <a:fillRect/>
          </a:stretch>
        </p:blipFill>
        <p:spPr>
          <a:xfrm>
            <a:off x="10161727" y="2311603"/>
            <a:ext cx="451714" cy="451714"/>
          </a:xfrm>
          <a:prstGeom prst="rect">
            <a:avLst/>
          </a:prstGeom>
        </p:spPr>
      </p:pic>
      <p:sp>
        <p:nvSpPr>
          <p:cNvPr id="24" name="Text 18"/>
          <p:cNvSpPr txBox="1"/>
          <p:nvPr/>
        </p:nvSpPr>
        <p:spPr>
          <a:xfrm>
            <a:off x="9079992" y="3108960"/>
            <a:ext cx="2615184" cy="411480"/>
          </a:xfrm>
          <a:prstGeom prst="rect">
            <a:avLst/>
          </a:prstGeom>
          <a:noFill/>
          <a:ln/>
        </p:spPr>
        <p:txBody>
          <a:bodyPr wrap="square" lIns="0" tIns="0" rIns="0" bIns="0" rtlCol="0" anchor="ctr"/>
          <a:lstStyle/>
          <a:p>
            <a:pPr algn="ctr" indent="0" marL="0">
              <a:buNone/>
            </a:pPr>
            <a:r>
              <a:rPr lang="en-US" sz="1900" b="1" dirty="0">
                <a:solidFill>
                  <a:srgbClr val="1F2937"/>
                </a:solidFill>
                <a:latin typeface="Arial" pitchFamily="34" charset="0"/>
                <a:ea typeface="Arial" pitchFamily="34" charset="-122"/>
                <a:cs typeface="Arial" pitchFamily="34" charset="-120"/>
              </a:rPr>
              <a:t>Admin</a:t>
            </a:r>
            <a:endParaRPr lang="en-US" sz="1900" dirty="0"/>
          </a:p>
        </p:txBody>
      </p:sp>
      <p:sp>
        <p:nvSpPr>
          <p:cNvPr id="25" name="Text 19"/>
          <p:cNvSpPr txBox="1"/>
          <p:nvPr/>
        </p:nvSpPr>
        <p:spPr>
          <a:xfrm>
            <a:off x="9308592" y="3657600"/>
            <a:ext cx="2203704" cy="16916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5B6472"/>
                </a:solidFill>
                <a:latin typeface="Calibri" pitchFamily="34" charset="0"/>
                <a:ea typeface="Calibri" pitchFamily="34" charset="-122"/>
                <a:cs typeface="Calibri" pitchFamily="34" charset="-120"/>
              </a:rPr>
              <a:t>Kullanıcı, rol ve tüm kayıtlar</a:t>
            </a:r>
            <a:endParaRPr lang="en-US" sz="1400" dirty="0"/>
          </a:p>
          <a:p>
            <a:pPr marL="342900" indent="-342900">
              <a:spcAft>
                <a:spcPts val="800"/>
              </a:spcAft>
              <a:buSzPct val="100000"/>
              <a:buChar char="•"/>
            </a:pPr>
            <a:r>
              <a:rPr lang="en-US" sz="1400" dirty="0">
                <a:solidFill>
                  <a:srgbClr val="5B6472"/>
                </a:solidFill>
                <a:latin typeface="Calibri" pitchFamily="34" charset="0"/>
                <a:ea typeface="Calibri" pitchFamily="34" charset="-122"/>
                <a:cs typeface="Calibri" pitchFamily="34" charset="-120"/>
              </a:rPr>
              <a:t>Talepleri etkisini görerek onaylar</a:t>
            </a:r>
            <a:endParaRPr lang="en-US" sz="1400" dirty="0"/>
          </a:p>
          <a:p>
            <a:pPr marL="342900" indent="-342900">
              <a:spcAft>
                <a:spcPts val="800"/>
              </a:spcAft>
              <a:buSzPct val="100000"/>
              <a:buChar char="•"/>
            </a:pPr>
            <a:r>
              <a:rPr lang="en-US" sz="1400" dirty="0">
                <a:solidFill>
                  <a:srgbClr val="5B6472"/>
                </a:solidFill>
                <a:latin typeface="Calibri" pitchFamily="34" charset="0"/>
                <a:ea typeface="Calibri" pitchFamily="34" charset="-122"/>
                <a:cs typeface="Calibri" pitchFamily="34" charset="-120"/>
              </a:rPr>
              <a:t>Formül motoru, TSB kataloğu, ayarlar</a:t>
            </a:r>
            <a:endParaRPr lang="en-US" sz="1400" dirty="0"/>
          </a:p>
        </p:txBody>
      </p:sp>
      <p:pic>
        <p:nvPicPr>
          <p:cNvPr id="26" name="Image 4" descr="preencoded.png">    </p:cNvPr>
          <p:cNvPicPr>
            <a:picLocks noChangeAspect="1"/>
          </p:cNvPicPr>
          <p:nvPr/>
        </p:nvPicPr>
        <p:blipFill>
          <a:blip r:embed="rId5"/>
          <a:stretch>
            <a:fillRect/>
          </a:stretch>
        </p:blipFill>
        <p:spPr>
          <a:xfrm>
            <a:off x="548640" y="5760720"/>
            <a:ext cx="292608" cy="292608"/>
          </a:xfrm>
          <a:prstGeom prst="rect">
            <a:avLst/>
          </a:prstGeom>
        </p:spPr>
      </p:pic>
      <p:sp>
        <p:nvSpPr>
          <p:cNvPr id="27" name="Text 20"/>
          <p:cNvSpPr txBox="1"/>
          <p:nvPr/>
        </p:nvSpPr>
        <p:spPr>
          <a:xfrm>
            <a:off x="960120" y="5742432"/>
            <a:ext cx="10515600" cy="329184"/>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Yetki hem arayüzde hem API'de denetlenir; müşteri yalnızca kendi araç, teklif, poliçe ve ödemelerini görebilir.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2F7"/>
        </a:solidFill>
      </p:bgPr>
    </p:bg>
    <p:spTree>
      <p:nvGrpSpPr>
        <p:cNvPr id="1" name=""/>
        <p:cNvGrpSpPr/>
        <p:nvPr/>
      </p:nvGrpSpPr>
      <p:grpSpPr>
        <a:xfrm>
          <a:off x="0" y="0"/>
          <a:ext cx="0" cy="0"/>
          <a:chOff x="0" y="0"/>
          <a:chExt cx="0" cy="0"/>
        </a:xfrm>
      </p:grpSpPr>
      <p:sp>
        <p:nvSpPr>
          <p:cNvPr id="2" name="Shape 0"/>
          <p:cNvSpPr/>
          <p:nvPr/>
        </p:nvSpPr>
        <p:spPr>
          <a:xfrm>
            <a:off x="548640" y="384048"/>
            <a:ext cx="1257300" cy="329184"/>
          </a:xfrm>
          <a:prstGeom prst="roundRect">
            <a:avLst>
              <a:gd name="adj" fmla="val 50000"/>
            </a:avLst>
          </a:prstGeom>
          <a:solidFill>
            <a:srgbClr val="0A2545"/>
          </a:solidFill>
          <a:ln w="12700">
            <a:solidFill>
              <a:srgbClr val="0A2545"/>
            </a:solidFill>
            <a:prstDash val="solid"/>
          </a:ln>
        </p:spPr>
      </p:sp>
      <p:sp>
        <p:nvSpPr>
          <p:cNvPr id="3" name="Text 1"/>
          <p:cNvSpPr txBox="1"/>
          <p:nvPr/>
        </p:nvSpPr>
        <p:spPr>
          <a:xfrm>
            <a:off x="548640" y="384048"/>
            <a:ext cx="125730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SATIŞ AKIŞI</a:t>
            </a:r>
            <a:endParaRPr lang="en-US" sz="1100" dirty="0"/>
          </a:p>
        </p:txBody>
      </p:sp>
      <p:sp>
        <p:nvSpPr>
          <p:cNvPr id="4" name="Text 2"/>
          <p:cNvSpPr txBox="1"/>
          <p:nvPr/>
        </p:nvSpPr>
        <p:spPr>
          <a:xfrm>
            <a:off x="548640" y="786384"/>
            <a:ext cx="11094415" cy="731520"/>
          </a:xfrm>
          <a:prstGeom prst="rect">
            <a:avLst/>
          </a:prstGeom>
          <a:noFill/>
          <a:ln/>
        </p:spPr>
        <p:txBody>
          <a:bodyPr wrap="square" lIns="0" tIns="0" rIns="0" bIns="0" rtlCol="0" anchor="ctr"/>
          <a:lstStyle/>
          <a:p>
            <a:pPr indent="0" marL="0">
              <a:buNone/>
            </a:pPr>
            <a:r>
              <a:rPr lang="en-US" sz="3000" b="1" dirty="0">
                <a:solidFill>
                  <a:srgbClr val="0A2545"/>
                </a:solidFill>
                <a:latin typeface="Arial" pitchFamily="34" charset="0"/>
                <a:ea typeface="Arial" pitchFamily="34" charset="-122"/>
                <a:cs typeface="Arial" pitchFamily="34" charset="-120"/>
              </a:rPr>
              <a:t>Tekliften poliçeye uçtan uca süreç</a:t>
            </a:r>
            <a:endParaRPr lang="en-US" sz="3000" dirty="0"/>
          </a:p>
        </p:txBody>
      </p:sp>
      <p:sp>
        <p:nvSpPr>
          <p:cNvPr id="5" name="Text 3"/>
          <p:cNvSpPr txBox="1"/>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5 / 16</a:t>
            </a:r>
            <a:endParaRPr lang="en-US" sz="1000" dirty="0"/>
          </a:p>
        </p:txBody>
      </p:sp>
      <p:sp>
        <p:nvSpPr>
          <p:cNvPr id="6" name="Shape 4"/>
          <p:cNvSpPr/>
          <p:nvPr/>
        </p:nvSpPr>
        <p:spPr>
          <a:xfrm>
            <a:off x="548640" y="1874520"/>
            <a:ext cx="1627632" cy="2148840"/>
          </a:xfrm>
          <a:prstGeom prst="roundRect">
            <a:avLst>
              <a:gd name="adj" fmla="val 6742"/>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7" name="Shape 5"/>
          <p:cNvSpPr/>
          <p:nvPr/>
        </p:nvSpPr>
        <p:spPr>
          <a:xfrm>
            <a:off x="1078992" y="2103120"/>
            <a:ext cx="566928" cy="566928"/>
          </a:xfrm>
          <a:prstGeom prst="ellipse">
            <a:avLst/>
          </a:prstGeom>
          <a:solidFill>
            <a:srgbClr val="1D6FF2"/>
          </a:solidFill>
          <a:ln w="12700">
            <a:solidFill>
              <a:srgbClr val="1D6FF2"/>
            </a:solidFill>
            <a:prstDash val="solid"/>
          </a:ln>
        </p:spPr>
      </p:sp>
      <p:sp>
        <p:nvSpPr>
          <p:cNvPr id="8" name="Text 6"/>
          <p:cNvSpPr txBox="1"/>
          <p:nvPr/>
        </p:nvSpPr>
        <p:spPr>
          <a:xfrm>
            <a:off x="1078992" y="21031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9" name="Text 7"/>
          <p:cNvSpPr txBox="1"/>
          <p:nvPr/>
        </p:nvSpPr>
        <p:spPr>
          <a:xfrm>
            <a:off x="640080" y="2788920"/>
            <a:ext cx="1444752" cy="365760"/>
          </a:xfrm>
          <a:prstGeom prst="rect">
            <a:avLst/>
          </a:prstGeom>
          <a:noFill/>
          <a:ln/>
        </p:spPr>
        <p:txBody>
          <a:bodyPr wrap="square" lIns="0" tIns="0" rIns="0" bIns="0" rtlCol="0" anchor="ctr"/>
          <a:lstStyle/>
          <a:p>
            <a:pPr algn="ctr" indent="0" marL="0">
              <a:buNone/>
            </a:pPr>
            <a:r>
              <a:rPr lang="en-US" sz="1500" b="1" dirty="0">
                <a:solidFill>
                  <a:srgbClr val="1F2937"/>
                </a:solidFill>
                <a:latin typeface="Arial" pitchFamily="34" charset="0"/>
                <a:ea typeface="Arial" pitchFamily="34" charset="-122"/>
                <a:cs typeface="Arial" pitchFamily="34" charset="-120"/>
              </a:rPr>
              <a:t>Hızlı teklif</a:t>
            </a:r>
            <a:endParaRPr lang="en-US" sz="1500" dirty="0"/>
          </a:p>
        </p:txBody>
      </p:sp>
      <p:sp>
        <p:nvSpPr>
          <p:cNvPr id="10" name="Text 8"/>
          <p:cNvSpPr txBox="1"/>
          <p:nvPr/>
        </p:nvSpPr>
        <p:spPr>
          <a:xfrm>
            <a:off x="658368" y="3200400"/>
            <a:ext cx="1408176" cy="777240"/>
          </a:xfrm>
          <a:prstGeom prst="rect">
            <a:avLst/>
          </a:prstGeom>
          <a:noFill/>
          <a:ln/>
        </p:spPr>
        <p:txBody>
          <a:bodyPr wrap="square" lIns="0" tIns="0" rIns="0" bIns="0" rtlCol="0" anchor="t"/>
          <a:lstStyle/>
          <a:p>
            <a:pPr algn="ctr" indent="0" marL="0">
              <a:buNone/>
            </a:pPr>
            <a:r>
              <a:rPr lang="en-US" sz="1300" dirty="0">
                <a:solidFill>
                  <a:srgbClr val="5B6472"/>
                </a:solidFill>
                <a:latin typeface="Calibri" pitchFamily="34" charset="0"/>
                <a:ea typeface="Calibri" pitchFamily="34" charset="-122"/>
                <a:cs typeface="Calibri" pitchFamily="34" charset="-120"/>
              </a:rPr>
              <a:t>Plaka, araç ve sürücü; değer TSB'den gelir</a:t>
            </a:r>
            <a:endParaRPr lang="en-US" sz="1300" dirty="0"/>
          </a:p>
        </p:txBody>
      </p:sp>
      <p:pic>
        <p:nvPicPr>
          <p:cNvPr id="11" name="Image 0" descr="preencoded.png">    </p:cNvPr>
          <p:cNvPicPr>
            <a:picLocks noChangeAspect="1"/>
          </p:cNvPicPr>
          <p:nvPr/>
        </p:nvPicPr>
        <p:blipFill>
          <a:blip r:embed="rId1"/>
          <a:stretch>
            <a:fillRect/>
          </a:stretch>
        </p:blipFill>
        <p:spPr>
          <a:xfrm>
            <a:off x="2217694" y="2926080"/>
            <a:ext cx="182880" cy="182880"/>
          </a:xfrm>
          <a:prstGeom prst="rect">
            <a:avLst/>
          </a:prstGeom>
        </p:spPr>
      </p:pic>
      <p:sp>
        <p:nvSpPr>
          <p:cNvPr id="12" name="Shape 9"/>
          <p:cNvSpPr/>
          <p:nvPr/>
        </p:nvSpPr>
        <p:spPr>
          <a:xfrm>
            <a:off x="2441997" y="1874520"/>
            <a:ext cx="1627632" cy="2148840"/>
          </a:xfrm>
          <a:prstGeom prst="roundRect">
            <a:avLst>
              <a:gd name="adj" fmla="val 6742"/>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13" name="Shape 10"/>
          <p:cNvSpPr/>
          <p:nvPr/>
        </p:nvSpPr>
        <p:spPr>
          <a:xfrm>
            <a:off x="2972349" y="2103120"/>
            <a:ext cx="566928" cy="566928"/>
          </a:xfrm>
          <a:prstGeom prst="ellipse">
            <a:avLst/>
          </a:prstGeom>
          <a:solidFill>
            <a:srgbClr val="1D6FF2"/>
          </a:solidFill>
          <a:ln w="12700">
            <a:solidFill>
              <a:srgbClr val="1D6FF2"/>
            </a:solidFill>
            <a:prstDash val="solid"/>
          </a:ln>
        </p:spPr>
      </p:sp>
      <p:sp>
        <p:nvSpPr>
          <p:cNvPr id="14" name="Text 11"/>
          <p:cNvSpPr txBox="1"/>
          <p:nvPr/>
        </p:nvSpPr>
        <p:spPr>
          <a:xfrm>
            <a:off x="2972349" y="21031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5" name="Text 12"/>
          <p:cNvSpPr txBox="1"/>
          <p:nvPr/>
        </p:nvSpPr>
        <p:spPr>
          <a:xfrm>
            <a:off x="2533437" y="2788920"/>
            <a:ext cx="1444752" cy="365760"/>
          </a:xfrm>
          <a:prstGeom prst="rect">
            <a:avLst/>
          </a:prstGeom>
          <a:noFill/>
          <a:ln/>
        </p:spPr>
        <p:txBody>
          <a:bodyPr wrap="square" lIns="0" tIns="0" rIns="0" bIns="0" rtlCol="0" anchor="ctr"/>
          <a:lstStyle/>
          <a:p>
            <a:pPr algn="ctr" indent="0" marL="0">
              <a:buNone/>
            </a:pPr>
            <a:r>
              <a:rPr lang="en-US" sz="1500" b="1" dirty="0">
                <a:solidFill>
                  <a:srgbClr val="1F2937"/>
                </a:solidFill>
                <a:latin typeface="Arial" pitchFamily="34" charset="0"/>
                <a:ea typeface="Arial" pitchFamily="34" charset="-122"/>
                <a:cs typeface="Arial" pitchFamily="34" charset="-120"/>
              </a:rPr>
              <a:t>Doğrulama</a:t>
            </a:r>
            <a:endParaRPr lang="en-US" sz="1500" dirty="0"/>
          </a:p>
        </p:txBody>
      </p:sp>
      <p:sp>
        <p:nvSpPr>
          <p:cNvPr id="16" name="Text 13"/>
          <p:cNvSpPr txBox="1"/>
          <p:nvPr/>
        </p:nvSpPr>
        <p:spPr>
          <a:xfrm>
            <a:off x="2551725" y="3200400"/>
            <a:ext cx="1408176" cy="777240"/>
          </a:xfrm>
          <a:prstGeom prst="rect">
            <a:avLst/>
          </a:prstGeom>
          <a:noFill/>
          <a:ln/>
        </p:spPr>
        <p:txBody>
          <a:bodyPr wrap="square" lIns="0" tIns="0" rIns="0" bIns="0" rtlCol="0" anchor="t"/>
          <a:lstStyle/>
          <a:p>
            <a:pPr algn="ctr" indent="0" marL="0">
              <a:buNone/>
            </a:pPr>
            <a:r>
              <a:rPr lang="en-US" sz="1300" dirty="0">
                <a:solidFill>
                  <a:srgbClr val="5B6472"/>
                </a:solidFill>
                <a:latin typeface="Calibri" pitchFamily="34" charset="0"/>
                <a:ea typeface="Calibri" pitchFamily="34" charset="-122"/>
                <a:cs typeface="Calibri" pitchFamily="34" charset="-120"/>
              </a:rPr>
              <a:t>Kayıt veya T.C. + telefon + tek kullanımlık kod</a:t>
            </a:r>
            <a:endParaRPr lang="en-US" sz="1300" dirty="0"/>
          </a:p>
        </p:txBody>
      </p:sp>
      <p:pic>
        <p:nvPicPr>
          <p:cNvPr id="17" name="Image 1" descr="preencoded.png">    </p:cNvPr>
          <p:cNvPicPr>
            <a:picLocks noChangeAspect="1"/>
          </p:cNvPicPr>
          <p:nvPr/>
        </p:nvPicPr>
        <p:blipFill>
          <a:blip r:embed="rId2"/>
          <a:stretch>
            <a:fillRect/>
          </a:stretch>
        </p:blipFill>
        <p:spPr>
          <a:xfrm>
            <a:off x="4111051" y="2926080"/>
            <a:ext cx="182880" cy="182880"/>
          </a:xfrm>
          <a:prstGeom prst="rect">
            <a:avLst/>
          </a:prstGeom>
        </p:spPr>
      </p:pic>
      <p:sp>
        <p:nvSpPr>
          <p:cNvPr id="18" name="Shape 14"/>
          <p:cNvSpPr/>
          <p:nvPr/>
        </p:nvSpPr>
        <p:spPr>
          <a:xfrm>
            <a:off x="4335353" y="1874520"/>
            <a:ext cx="1627632" cy="2148840"/>
          </a:xfrm>
          <a:prstGeom prst="roundRect">
            <a:avLst>
              <a:gd name="adj" fmla="val 6742"/>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19" name="Shape 15"/>
          <p:cNvSpPr/>
          <p:nvPr/>
        </p:nvSpPr>
        <p:spPr>
          <a:xfrm>
            <a:off x="4865705" y="2103120"/>
            <a:ext cx="566928" cy="566928"/>
          </a:xfrm>
          <a:prstGeom prst="ellipse">
            <a:avLst/>
          </a:prstGeom>
          <a:solidFill>
            <a:srgbClr val="1D6FF2"/>
          </a:solidFill>
          <a:ln w="12700">
            <a:solidFill>
              <a:srgbClr val="1D6FF2"/>
            </a:solidFill>
            <a:prstDash val="solid"/>
          </a:ln>
        </p:spPr>
      </p:sp>
      <p:sp>
        <p:nvSpPr>
          <p:cNvPr id="20" name="Text 16"/>
          <p:cNvSpPr txBox="1"/>
          <p:nvPr/>
        </p:nvSpPr>
        <p:spPr>
          <a:xfrm>
            <a:off x="4865705" y="21031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1" name="Text 17"/>
          <p:cNvSpPr txBox="1"/>
          <p:nvPr/>
        </p:nvSpPr>
        <p:spPr>
          <a:xfrm>
            <a:off x="4426793" y="2788920"/>
            <a:ext cx="1444752" cy="365760"/>
          </a:xfrm>
          <a:prstGeom prst="rect">
            <a:avLst/>
          </a:prstGeom>
          <a:noFill/>
          <a:ln/>
        </p:spPr>
        <p:txBody>
          <a:bodyPr wrap="square" lIns="0" tIns="0" rIns="0" bIns="0" rtlCol="0" anchor="ctr"/>
          <a:lstStyle/>
          <a:p>
            <a:pPr algn="ctr" indent="0" marL="0">
              <a:buNone/>
            </a:pPr>
            <a:r>
              <a:rPr lang="en-US" sz="1500" b="1" dirty="0">
                <a:solidFill>
                  <a:srgbClr val="1F2937"/>
                </a:solidFill>
                <a:latin typeface="Arial" pitchFamily="34" charset="0"/>
                <a:ea typeface="Arial" pitchFamily="34" charset="-122"/>
                <a:cs typeface="Arial" pitchFamily="34" charset="-120"/>
              </a:rPr>
              <a:t>Teklif ve onay</a:t>
            </a:r>
            <a:endParaRPr lang="en-US" sz="1500" dirty="0"/>
          </a:p>
        </p:txBody>
      </p:sp>
      <p:sp>
        <p:nvSpPr>
          <p:cNvPr id="22" name="Text 18"/>
          <p:cNvSpPr txBox="1"/>
          <p:nvPr/>
        </p:nvSpPr>
        <p:spPr>
          <a:xfrm>
            <a:off x="4445081" y="3200400"/>
            <a:ext cx="1408176" cy="777240"/>
          </a:xfrm>
          <a:prstGeom prst="rect">
            <a:avLst/>
          </a:prstGeom>
          <a:noFill/>
          <a:ln/>
        </p:spPr>
        <p:txBody>
          <a:bodyPr wrap="square" lIns="0" tIns="0" rIns="0" bIns="0" rtlCol="0" anchor="t"/>
          <a:lstStyle/>
          <a:p>
            <a:pPr algn="ctr" indent="0" marL="0">
              <a:buNone/>
            </a:pPr>
            <a:r>
              <a:rPr lang="en-US" sz="1300" dirty="0">
                <a:solidFill>
                  <a:srgbClr val="5B6472"/>
                </a:solidFill>
                <a:latin typeface="Calibri" pitchFamily="34" charset="0"/>
                <a:ea typeface="Calibri" pitchFamily="34" charset="-122"/>
                <a:cs typeface="Calibri" pitchFamily="34" charset="-120"/>
              </a:rPr>
              <a:t>Sınır içindeyse otomatik, değilse yönetici onayı</a:t>
            </a:r>
            <a:endParaRPr lang="en-US" sz="1300" dirty="0"/>
          </a:p>
        </p:txBody>
      </p:sp>
      <p:pic>
        <p:nvPicPr>
          <p:cNvPr id="23" name="Image 2" descr="preencoded.png">    </p:cNvPr>
          <p:cNvPicPr>
            <a:picLocks noChangeAspect="1"/>
          </p:cNvPicPr>
          <p:nvPr/>
        </p:nvPicPr>
        <p:blipFill>
          <a:blip r:embed="rId3"/>
          <a:stretch>
            <a:fillRect/>
          </a:stretch>
        </p:blipFill>
        <p:spPr>
          <a:xfrm>
            <a:off x="6004408" y="2926080"/>
            <a:ext cx="182880" cy="182880"/>
          </a:xfrm>
          <a:prstGeom prst="rect">
            <a:avLst/>
          </a:prstGeom>
        </p:spPr>
      </p:pic>
      <p:sp>
        <p:nvSpPr>
          <p:cNvPr id="24" name="Shape 19"/>
          <p:cNvSpPr/>
          <p:nvPr/>
        </p:nvSpPr>
        <p:spPr>
          <a:xfrm>
            <a:off x="6228710" y="1874520"/>
            <a:ext cx="1627632" cy="2148840"/>
          </a:xfrm>
          <a:prstGeom prst="roundRect">
            <a:avLst>
              <a:gd name="adj" fmla="val 6742"/>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25" name="Shape 20"/>
          <p:cNvSpPr/>
          <p:nvPr/>
        </p:nvSpPr>
        <p:spPr>
          <a:xfrm>
            <a:off x="6759062" y="2103120"/>
            <a:ext cx="566928" cy="566928"/>
          </a:xfrm>
          <a:prstGeom prst="ellipse">
            <a:avLst/>
          </a:prstGeom>
          <a:solidFill>
            <a:srgbClr val="1D6FF2"/>
          </a:solidFill>
          <a:ln w="12700">
            <a:solidFill>
              <a:srgbClr val="1D6FF2"/>
            </a:solidFill>
            <a:prstDash val="solid"/>
          </a:ln>
        </p:spPr>
      </p:sp>
      <p:sp>
        <p:nvSpPr>
          <p:cNvPr id="26" name="Text 21"/>
          <p:cNvSpPr txBox="1"/>
          <p:nvPr/>
        </p:nvSpPr>
        <p:spPr>
          <a:xfrm>
            <a:off x="6759062" y="21031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7" name="Text 22"/>
          <p:cNvSpPr txBox="1"/>
          <p:nvPr/>
        </p:nvSpPr>
        <p:spPr>
          <a:xfrm>
            <a:off x="6320150" y="2788920"/>
            <a:ext cx="1444752" cy="365760"/>
          </a:xfrm>
          <a:prstGeom prst="rect">
            <a:avLst/>
          </a:prstGeom>
          <a:noFill/>
          <a:ln/>
        </p:spPr>
        <p:txBody>
          <a:bodyPr wrap="square" lIns="0" tIns="0" rIns="0" bIns="0" rtlCol="0" anchor="ctr"/>
          <a:lstStyle/>
          <a:p>
            <a:pPr algn="ctr" indent="0" marL="0">
              <a:buNone/>
            </a:pPr>
            <a:r>
              <a:rPr lang="en-US" sz="1500" b="1" dirty="0">
                <a:solidFill>
                  <a:srgbClr val="1F2937"/>
                </a:solidFill>
                <a:latin typeface="Arial" pitchFamily="34" charset="0"/>
                <a:ea typeface="Arial" pitchFamily="34" charset="-122"/>
                <a:cs typeface="Arial" pitchFamily="34" charset="-120"/>
              </a:rPr>
              <a:t>Ödeme</a:t>
            </a:r>
            <a:endParaRPr lang="en-US" sz="1500" dirty="0"/>
          </a:p>
        </p:txBody>
      </p:sp>
      <p:sp>
        <p:nvSpPr>
          <p:cNvPr id="28" name="Text 23"/>
          <p:cNvSpPr txBox="1"/>
          <p:nvPr/>
        </p:nvSpPr>
        <p:spPr>
          <a:xfrm>
            <a:off x="6338438" y="3200400"/>
            <a:ext cx="1408176" cy="777240"/>
          </a:xfrm>
          <a:prstGeom prst="rect">
            <a:avLst/>
          </a:prstGeom>
          <a:noFill/>
          <a:ln/>
        </p:spPr>
        <p:txBody>
          <a:bodyPr wrap="square" lIns="0" tIns="0" rIns="0" bIns="0" rtlCol="0" anchor="t"/>
          <a:lstStyle/>
          <a:p>
            <a:pPr algn="ctr" indent="0" marL="0">
              <a:buNone/>
            </a:pPr>
            <a:r>
              <a:rPr lang="en-US" sz="1300" dirty="0">
                <a:solidFill>
                  <a:srgbClr val="5B6472"/>
                </a:solidFill>
                <a:latin typeface="Calibri" pitchFamily="34" charset="0"/>
                <a:ea typeface="Calibri" pitchFamily="34" charset="-122"/>
                <a:cs typeface="Calibri" pitchFamily="34" charset="-120"/>
              </a:rPr>
              <a:t>Peşin veya 3-6-9 taksit, başlangıç tarihi</a:t>
            </a:r>
            <a:endParaRPr lang="en-US" sz="1300" dirty="0"/>
          </a:p>
        </p:txBody>
      </p:sp>
      <p:pic>
        <p:nvPicPr>
          <p:cNvPr id="29" name="Image 3" descr="preencoded.png">    </p:cNvPr>
          <p:cNvPicPr>
            <a:picLocks noChangeAspect="1"/>
          </p:cNvPicPr>
          <p:nvPr/>
        </p:nvPicPr>
        <p:blipFill>
          <a:blip r:embed="rId4"/>
          <a:stretch>
            <a:fillRect/>
          </a:stretch>
        </p:blipFill>
        <p:spPr>
          <a:xfrm>
            <a:off x="7897764" y="2926080"/>
            <a:ext cx="182880" cy="182880"/>
          </a:xfrm>
          <a:prstGeom prst="rect">
            <a:avLst/>
          </a:prstGeom>
        </p:spPr>
      </p:pic>
      <p:sp>
        <p:nvSpPr>
          <p:cNvPr id="30" name="Shape 24"/>
          <p:cNvSpPr/>
          <p:nvPr/>
        </p:nvSpPr>
        <p:spPr>
          <a:xfrm>
            <a:off x="8122067" y="1874520"/>
            <a:ext cx="1627632" cy="2148840"/>
          </a:xfrm>
          <a:prstGeom prst="roundRect">
            <a:avLst>
              <a:gd name="adj" fmla="val 6742"/>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31" name="Shape 25"/>
          <p:cNvSpPr/>
          <p:nvPr/>
        </p:nvSpPr>
        <p:spPr>
          <a:xfrm>
            <a:off x="8652419" y="2103120"/>
            <a:ext cx="566928" cy="566928"/>
          </a:xfrm>
          <a:prstGeom prst="ellipse">
            <a:avLst/>
          </a:prstGeom>
          <a:solidFill>
            <a:srgbClr val="16A34A"/>
          </a:solidFill>
          <a:ln w="12700">
            <a:solidFill>
              <a:srgbClr val="16A34A"/>
            </a:solidFill>
            <a:prstDash val="solid"/>
          </a:ln>
        </p:spPr>
      </p:sp>
      <p:sp>
        <p:nvSpPr>
          <p:cNvPr id="32" name="Text 26"/>
          <p:cNvSpPr txBox="1"/>
          <p:nvPr/>
        </p:nvSpPr>
        <p:spPr>
          <a:xfrm>
            <a:off x="8652419" y="21031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33" name="Text 27"/>
          <p:cNvSpPr txBox="1"/>
          <p:nvPr/>
        </p:nvSpPr>
        <p:spPr>
          <a:xfrm>
            <a:off x="8213507" y="2788920"/>
            <a:ext cx="1444752" cy="365760"/>
          </a:xfrm>
          <a:prstGeom prst="rect">
            <a:avLst/>
          </a:prstGeom>
          <a:noFill/>
          <a:ln/>
        </p:spPr>
        <p:txBody>
          <a:bodyPr wrap="square" lIns="0" tIns="0" rIns="0" bIns="0" rtlCol="0" anchor="ctr"/>
          <a:lstStyle/>
          <a:p>
            <a:pPr algn="ctr" indent="0" marL="0">
              <a:buNone/>
            </a:pPr>
            <a:r>
              <a:rPr lang="en-US" sz="1500" b="1" dirty="0">
                <a:solidFill>
                  <a:srgbClr val="1F2937"/>
                </a:solidFill>
                <a:latin typeface="Arial" pitchFamily="34" charset="0"/>
                <a:ea typeface="Arial" pitchFamily="34" charset="-122"/>
                <a:cs typeface="Arial" pitchFamily="34" charset="-120"/>
              </a:rPr>
              <a:t>Poliçe</a:t>
            </a:r>
            <a:endParaRPr lang="en-US" sz="1500" dirty="0"/>
          </a:p>
        </p:txBody>
      </p:sp>
      <p:sp>
        <p:nvSpPr>
          <p:cNvPr id="34" name="Text 28"/>
          <p:cNvSpPr txBox="1"/>
          <p:nvPr/>
        </p:nvSpPr>
        <p:spPr>
          <a:xfrm>
            <a:off x="8231795" y="3200400"/>
            <a:ext cx="1408176" cy="777240"/>
          </a:xfrm>
          <a:prstGeom prst="rect">
            <a:avLst/>
          </a:prstGeom>
          <a:noFill/>
          <a:ln/>
        </p:spPr>
        <p:txBody>
          <a:bodyPr wrap="square" lIns="0" tIns="0" rIns="0" bIns="0" rtlCol="0" anchor="t"/>
          <a:lstStyle/>
          <a:p>
            <a:pPr algn="ctr" indent="0" marL="0">
              <a:buNone/>
            </a:pPr>
            <a:r>
              <a:rPr lang="en-US" sz="1300" dirty="0">
                <a:solidFill>
                  <a:srgbClr val="5B6472"/>
                </a:solidFill>
                <a:latin typeface="Calibri" pitchFamily="34" charset="0"/>
                <a:ea typeface="Calibri" pitchFamily="34" charset="-122"/>
                <a:cs typeface="Calibri" pitchFamily="34" charset="-120"/>
              </a:rPr>
              <a:t>Poliçe oluşur, PDF üretilir, bildirim gider</a:t>
            </a:r>
            <a:endParaRPr lang="en-US" sz="1300" dirty="0"/>
          </a:p>
        </p:txBody>
      </p:sp>
      <p:pic>
        <p:nvPicPr>
          <p:cNvPr id="35" name="Image 4" descr="preencoded.png">    </p:cNvPr>
          <p:cNvPicPr>
            <a:picLocks noChangeAspect="1"/>
          </p:cNvPicPr>
          <p:nvPr/>
        </p:nvPicPr>
        <p:blipFill>
          <a:blip r:embed="rId5"/>
          <a:stretch>
            <a:fillRect/>
          </a:stretch>
        </p:blipFill>
        <p:spPr>
          <a:xfrm>
            <a:off x="9791121" y="2926080"/>
            <a:ext cx="182880" cy="182880"/>
          </a:xfrm>
          <a:prstGeom prst="rect">
            <a:avLst/>
          </a:prstGeom>
        </p:spPr>
      </p:pic>
      <p:sp>
        <p:nvSpPr>
          <p:cNvPr id="36" name="Shape 29"/>
          <p:cNvSpPr/>
          <p:nvPr/>
        </p:nvSpPr>
        <p:spPr>
          <a:xfrm>
            <a:off x="10015423" y="1874520"/>
            <a:ext cx="1627632" cy="2148840"/>
          </a:xfrm>
          <a:prstGeom prst="roundRect">
            <a:avLst>
              <a:gd name="adj" fmla="val 6742"/>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37" name="Shape 30"/>
          <p:cNvSpPr/>
          <p:nvPr/>
        </p:nvSpPr>
        <p:spPr>
          <a:xfrm>
            <a:off x="10545775" y="2103120"/>
            <a:ext cx="566928" cy="566928"/>
          </a:xfrm>
          <a:prstGeom prst="ellipse">
            <a:avLst/>
          </a:prstGeom>
          <a:solidFill>
            <a:srgbClr val="1D6FF2"/>
          </a:solidFill>
          <a:ln w="12700">
            <a:solidFill>
              <a:srgbClr val="1D6FF2"/>
            </a:solidFill>
            <a:prstDash val="solid"/>
          </a:ln>
        </p:spPr>
      </p:sp>
      <p:sp>
        <p:nvSpPr>
          <p:cNvPr id="38" name="Text 31"/>
          <p:cNvSpPr txBox="1"/>
          <p:nvPr/>
        </p:nvSpPr>
        <p:spPr>
          <a:xfrm>
            <a:off x="10545775" y="21031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6</a:t>
            </a:r>
            <a:endParaRPr lang="en-US" sz="2000" dirty="0"/>
          </a:p>
        </p:txBody>
      </p:sp>
      <p:sp>
        <p:nvSpPr>
          <p:cNvPr id="39" name="Text 32"/>
          <p:cNvSpPr txBox="1"/>
          <p:nvPr/>
        </p:nvSpPr>
        <p:spPr>
          <a:xfrm>
            <a:off x="10106863" y="2788920"/>
            <a:ext cx="1444752" cy="365760"/>
          </a:xfrm>
          <a:prstGeom prst="rect">
            <a:avLst/>
          </a:prstGeom>
          <a:noFill/>
          <a:ln/>
        </p:spPr>
        <p:txBody>
          <a:bodyPr wrap="square" lIns="0" tIns="0" rIns="0" bIns="0" rtlCol="0" anchor="ctr"/>
          <a:lstStyle/>
          <a:p>
            <a:pPr algn="ctr" indent="0" marL="0">
              <a:buNone/>
            </a:pPr>
            <a:r>
              <a:rPr lang="en-US" sz="1500" b="1" dirty="0">
                <a:solidFill>
                  <a:srgbClr val="1F2937"/>
                </a:solidFill>
                <a:latin typeface="Arial" pitchFamily="34" charset="0"/>
                <a:ea typeface="Arial" pitchFamily="34" charset="-122"/>
                <a:cs typeface="Arial" pitchFamily="34" charset="-120"/>
              </a:rPr>
              <a:t>Satış sonrası</a:t>
            </a:r>
            <a:endParaRPr lang="en-US" sz="1500" dirty="0"/>
          </a:p>
        </p:txBody>
      </p:sp>
      <p:sp>
        <p:nvSpPr>
          <p:cNvPr id="40" name="Text 33"/>
          <p:cNvSpPr txBox="1"/>
          <p:nvPr/>
        </p:nvSpPr>
        <p:spPr>
          <a:xfrm>
            <a:off x="10125151" y="3200400"/>
            <a:ext cx="1408176" cy="777240"/>
          </a:xfrm>
          <a:prstGeom prst="rect">
            <a:avLst/>
          </a:prstGeom>
          <a:noFill/>
          <a:ln/>
        </p:spPr>
        <p:txBody>
          <a:bodyPr wrap="square" lIns="0" tIns="0" rIns="0" bIns="0" rtlCol="0" anchor="t"/>
          <a:lstStyle/>
          <a:p>
            <a:pPr algn="ctr" indent="0" marL="0">
              <a:buNone/>
            </a:pPr>
            <a:r>
              <a:rPr lang="en-US" sz="1300" dirty="0">
                <a:solidFill>
                  <a:srgbClr val="5B6472"/>
                </a:solidFill>
                <a:latin typeface="Calibri" pitchFamily="34" charset="0"/>
                <a:ea typeface="Calibri" pitchFamily="34" charset="-122"/>
                <a:cs typeface="Calibri" pitchFamily="34" charset="-120"/>
              </a:rPr>
              <a:t>İptal ve iade hesabı, yenileme</a:t>
            </a:r>
            <a:endParaRPr lang="en-US" sz="1300" dirty="0"/>
          </a:p>
        </p:txBody>
      </p:sp>
      <p:sp>
        <p:nvSpPr>
          <p:cNvPr id="41" name="Text 34"/>
          <p:cNvSpPr txBox="1"/>
          <p:nvPr/>
        </p:nvSpPr>
        <p:spPr>
          <a:xfrm>
            <a:off x="548640" y="4434840"/>
            <a:ext cx="10972800" cy="320040"/>
          </a:xfrm>
          <a:prstGeom prst="rect">
            <a:avLst/>
          </a:prstGeom>
          <a:noFill/>
          <a:ln/>
        </p:spPr>
        <p:txBody>
          <a:bodyPr wrap="square" lIns="0" tIns="0" rIns="0" bIns="0" rtlCol="0" anchor="ctr"/>
          <a:lstStyle/>
          <a:p>
            <a:pPr indent="0" marL="0">
              <a:buNone/>
            </a:pPr>
            <a:r>
              <a:rPr lang="en-US" sz="1300" i="1" dirty="0">
                <a:solidFill>
                  <a:srgbClr val="5B6472"/>
                </a:solidFill>
                <a:latin typeface="Calibri" pitchFamily="34" charset="0"/>
                <a:ea typeface="Calibri" pitchFamily="34" charset="-122"/>
                <a:cs typeface="Calibri" pitchFamily="34" charset="-120"/>
              </a:rPr>
              <a:t>Durum geçişleri servis katmanında denetlenir; geçersiz geçiş (ör. iptal edilmiş poliçeyi aktifleştirmek) reddedilir.</a:t>
            </a:r>
            <a:endParaRPr lang="en-US" sz="1300" dirty="0"/>
          </a:p>
        </p:txBody>
      </p:sp>
      <p:sp>
        <p:nvSpPr>
          <p:cNvPr id="42" name="Text 35"/>
          <p:cNvSpPr txBox="1"/>
          <p:nvPr/>
        </p:nvSpPr>
        <p:spPr>
          <a:xfrm>
            <a:off x="548640" y="4892040"/>
            <a:ext cx="1371600" cy="457200"/>
          </a:xfrm>
          <a:prstGeom prst="rect">
            <a:avLst/>
          </a:prstGeom>
          <a:noFill/>
          <a:ln/>
        </p:spPr>
        <p:txBody>
          <a:bodyPr wrap="square" lIns="0" tIns="0" rIns="0" bIns="0" rtlCol="0" anchor="ctr"/>
          <a:lstStyle/>
          <a:p>
            <a:pPr indent="0" marL="0">
              <a:buNone/>
            </a:pPr>
            <a:r>
              <a:rPr lang="en-US" sz="1400" b="1" dirty="0">
                <a:solidFill>
                  <a:srgbClr val="0A2545"/>
                </a:solidFill>
                <a:latin typeface="Arial" pitchFamily="34" charset="0"/>
                <a:ea typeface="Arial" pitchFamily="34" charset="-122"/>
                <a:cs typeface="Arial" pitchFamily="34" charset="-120"/>
              </a:rPr>
              <a:t>Teklif</a:t>
            </a:r>
            <a:endParaRPr lang="en-US" sz="1400" dirty="0"/>
          </a:p>
        </p:txBody>
      </p:sp>
      <p:sp>
        <p:nvSpPr>
          <p:cNvPr id="43" name="Shape 36"/>
          <p:cNvSpPr/>
          <p:nvPr/>
        </p:nvSpPr>
        <p:spPr>
          <a:xfrm>
            <a:off x="2011680" y="4928616"/>
            <a:ext cx="868680" cy="384048"/>
          </a:xfrm>
          <a:prstGeom prst="roundRect">
            <a:avLst>
              <a:gd name="adj" fmla="val 50000"/>
            </a:avLst>
          </a:prstGeom>
          <a:solidFill>
            <a:srgbClr val="8A94A6"/>
          </a:solidFill>
          <a:ln w="12700">
            <a:solidFill>
              <a:srgbClr val="8A94A6"/>
            </a:solidFill>
            <a:prstDash val="solid"/>
          </a:ln>
        </p:spPr>
      </p:sp>
      <p:sp>
        <p:nvSpPr>
          <p:cNvPr id="44" name="Text 37"/>
          <p:cNvSpPr txBox="1"/>
          <p:nvPr/>
        </p:nvSpPr>
        <p:spPr>
          <a:xfrm>
            <a:off x="2011680" y="4928616"/>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Taslak</a:t>
            </a:r>
            <a:endParaRPr lang="en-US" sz="1300" dirty="0"/>
          </a:p>
        </p:txBody>
      </p:sp>
      <p:pic>
        <p:nvPicPr>
          <p:cNvPr id="45" name="Image 5" descr="preencoded.png">    </p:cNvPr>
          <p:cNvPicPr>
            <a:picLocks noChangeAspect="1"/>
          </p:cNvPicPr>
          <p:nvPr/>
        </p:nvPicPr>
        <p:blipFill>
          <a:blip r:embed="rId6"/>
          <a:stretch>
            <a:fillRect/>
          </a:stretch>
        </p:blipFill>
        <p:spPr>
          <a:xfrm>
            <a:off x="2971800" y="5010912"/>
            <a:ext cx="219456" cy="219456"/>
          </a:xfrm>
          <a:prstGeom prst="rect">
            <a:avLst/>
          </a:prstGeom>
        </p:spPr>
      </p:pic>
      <p:sp>
        <p:nvSpPr>
          <p:cNvPr id="46" name="Shape 38"/>
          <p:cNvSpPr/>
          <p:nvPr/>
        </p:nvSpPr>
        <p:spPr>
          <a:xfrm>
            <a:off x="3282696" y="4928616"/>
            <a:ext cx="1600200" cy="384048"/>
          </a:xfrm>
          <a:prstGeom prst="roundRect">
            <a:avLst>
              <a:gd name="adj" fmla="val 50000"/>
            </a:avLst>
          </a:prstGeom>
          <a:solidFill>
            <a:srgbClr val="1D6FF2"/>
          </a:solidFill>
          <a:ln w="12700">
            <a:solidFill>
              <a:srgbClr val="1D6FF2"/>
            </a:solidFill>
            <a:prstDash val="solid"/>
          </a:ln>
        </p:spPr>
      </p:sp>
      <p:sp>
        <p:nvSpPr>
          <p:cNvPr id="47" name="Text 39"/>
          <p:cNvSpPr txBox="1"/>
          <p:nvPr/>
        </p:nvSpPr>
        <p:spPr>
          <a:xfrm>
            <a:off x="3282696" y="4928616"/>
            <a:ext cx="160020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Teklif Verildi</a:t>
            </a:r>
            <a:endParaRPr lang="en-US" sz="1300" dirty="0"/>
          </a:p>
        </p:txBody>
      </p:sp>
      <p:pic>
        <p:nvPicPr>
          <p:cNvPr id="48" name="Image 6" descr="preencoded.png">    </p:cNvPr>
          <p:cNvPicPr>
            <a:picLocks noChangeAspect="1"/>
          </p:cNvPicPr>
          <p:nvPr/>
        </p:nvPicPr>
        <p:blipFill>
          <a:blip r:embed="rId7"/>
          <a:stretch>
            <a:fillRect/>
          </a:stretch>
        </p:blipFill>
        <p:spPr>
          <a:xfrm>
            <a:off x="4974336" y="5010912"/>
            <a:ext cx="219456" cy="219456"/>
          </a:xfrm>
          <a:prstGeom prst="rect">
            <a:avLst/>
          </a:prstGeom>
        </p:spPr>
      </p:pic>
      <p:sp>
        <p:nvSpPr>
          <p:cNvPr id="49" name="Shape 40"/>
          <p:cNvSpPr/>
          <p:nvPr/>
        </p:nvSpPr>
        <p:spPr>
          <a:xfrm>
            <a:off x="5285232" y="4928616"/>
            <a:ext cx="1417320" cy="384048"/>
          </a:xfrm>
          <a:prstGeom prst="roundRect">
            <a:avLst>
              <a:gd name="adj" fmla="val 50000"/>
            </a:avLst>
          </a:prstGeom>
          <a:solidFill>
            <a:srgbClr val="16A34A"/>
          </a:solidFill>
          <a:ln w="12700">
            <a:solidFill>
              <a:srgbClr val="16A34A"/>
            </a:solidFill>
            <a:prstDash val="solid"/>
          </a:ln>
        </p:spPr>
      </p:sp>
      <p:sp>
        <p:nvSpPr>
          <p:cNvPr id="50" name="Text 41"/>
          <p:cNvSpPr txBox="1"/>
          <p:nvPr/>
        </p:nvSpPr>
        <p:spPr>
          <a:xfrm>
            <a:off x="5285232" y="4928616"/>
            <a:ext cx="141732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Kabul Edildi</a:t>
            </a:r>
            <a:endParaRPr lang="en-US" sz="1300" dirty="0"/>
          </a:p>
        </p:txBody>
      </p:sp>
      <p:sp>
        <p:nvSpPr>
          <p:cNvPr id="51" name="Text 42"/>
          <p:cNvSpPr txBox="1"/>
          <p:nvPr/>
        </p:nvSpPr>
        <p:spPr>
          <a:xfrm>
            <a:off x="548640" y="5440680"/>
            <a:ext cx="1371600" cy="457200"/>
          </a:xfrm>
          <a:prstGeom prst="rect">
            <a:avLst/>
          </a:prstGeom>
          <a:noFill/>
          <a:ln/>
        </p:spPr>
        <p:txBody>
          <a:bodyPr wrap="square" lIns="0" tIns="0" rIns="0" bIns="0" rtlCol="0" anchor="ctr"/>
          <a:lstStyle/>
          <a:p>
            <a:pPr indent="0" marL="0">
              <a:buNone/>
            </a:pPr>
            <a:r>
              <a:rPr lang="en-US" sz="1400" b="1" dirty="0">
                <a:solidFill>
                  <a:srgbClr val="0A2545"/>
                </a:solidFill>
                <a:latin typeface="Arial" pitchFamily="34" charset="0"/>
                <a:ea typeface="Arial" pitchFamily="34" charset="-122"/>
                <a:cs typeface="Arial" pitchFamily="34" charset="-120"/>
              </a:rPr>
              <a:t>Poliçe</a:t>
            </a:r>
            <a:endParaRPr lang="en-US" sz="1400" dirty="0"/>
          </a:p>
        </p:txBody>
      </p:sp>
      <p:sp>
        <p:nvSpPr>
          <p:cNvPr id="52" name="Shape 43"/>
          <p:cNvSpPr/>
          <p:nvPr/>
        </p:nvSpPr>
        <p:spPr>
          <a:xfrm>
            <a:off x="2011680" y="5477256"/>
            <a:ext cx="868680" cy="384048"/>
          </a:xfrm>
          <a:prstGeom prst="roundRect">
            <a:avLst>
              <a:gd name="adj" fmla="val 50000"/>
            </a:avLst>
          </a:prstGeom>
          <a:solidFill>
            <a:srgbClr val="8A94A6"/>
          </a:solidFill>
          <a:ln w="12700">
            <a:solidFill>
              <a:srgbClr val="8A94A6"/>
            </a:solidFill>
            <a:prstDash val="solid"/>
          </a:ln>
        </p:spPr>
      </p:sp>
      <p:sp>
        <p:nvSpPr>
          <p:cNvPr id="53" name="Text 44"/>
          <p:cNvSpPr txBox="1"/>
          <p:nvPr/>
        </p:nvSpPr>
        <p:spPr>
          <a:xfrm>
            <a:off x="2011680" y="5477256"/>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Taslak</a:t>
            </a:r>
            <a:endParaRPr lang="en-US" sz="1300" dirty="0"/>
          </a:p>
        </p:txBody>
      </p:sp>
      <p:pic>
        <p:nvPicPr>
          <p:cNvPr id="54" name="Image 7" descr="preencoded.png">    </p:cNvPr>
          <p:cNvPicPr>
            <a:picLocks noChangeAspect="1"/>
          </p:cNvPicPr>
          <p:nvPr/>
        </p:nvPicPr>
        <p:blipFill>
          <a:blip r:embed="rId8"/>
          <a:stretch>
            <a:fillRect/>
          </a:stretch>
        </p:blipFill>
        <p:spPr>
          <a:xfrm>
            <a:off x="2971800" y="5559552"/>
            <a:ext cx="219456" cy="219456"/>
          </a:xfrm>
          <a:prstGeom prst="rect">
            <a:avLst/>
          </a:prstGeom>
        </p:spPr>
      </p:pic>
      <p:sp>
        <p:nvSpPr>
          <p:cNvPr id="55" name="Shape 45"/>
          <p:cNvSpPr/>
          <p:nvPr/>
        </p:nvSpPr>
        <p:spPr>
          <a:xfrm>
            <a:off x="3282696" y="5477256"/>
            <a:ext cx="777240" cy="384048"/>
          </a:xfrm>
          <a:prstGeom prst="roundRect">
            <a:avLst>
              <a:gd name="adj" fmla="val 50000"/>
            </a:avLst>
          </a:prstGeom>
          <a:solidFill>
            <a:srgbClr val="16A34A"/>
          </a:solidFill>
          <a:ln w="12700">
            <a:solidFill>
              <a:srgbClr val="16A34A"/>
            </a:solidFill>
            <a:prstDash val="solid"/>
          </a:ln>
        </p:spPr>
      </p:sp>
      <p:sp>
        <p:nvSpPr>
          <p:cNvPr id="56" name="Text 46"/>
          <p:cNvSpPr txBox="1"/>
          <p:nvPr/>
        </p:nvSpPr>
        <p:spPr>
          <a:xfrm>
            <a:off x="3282696" y="5477256"/>
            <a:ext cx="77724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Aktif</a:t>
            </a:r>
            <a:endParaRPr lang="en-US" sz="1300" dirty="0"/>
          </a:p>
        </p:txBody>
      </p:sp>
      <p:pic>
        <p:nvPicPr>
          <p:cNvPr id="57" name="Image 8" descr="preencoded.png">    </p:cNvPr>
          <p:cNvPicPr>
            <a:picLocks noChangeAspect="1"/>
          </p:cNvPicPr>
          <p:nvPr/>
        </p:nvPicPr>
        <p:blipFill>
          <a:blip r:embed="rId9"/>
          <a:stretch>
            <a:fillRect/>
          </a:stretch>
        </p:blipFill>
        <p:spPr>
          <a:xfrm>
            <a:off x="4151376" y="5559552"/>
            <a:ext cx="219456" cy="219456"/>
          </a:xfrm>
          <a:prstGeom prst="rect">
            <a:avLst/>
          </a:prstGeom>
        </p:spPr>
      </p:pic>
      <p:sp>
        <p:nvSpPr>
          <p:cNvPr id="58" name="Shape 47"/>
          <p:cNvSpPr/>
          <p:nvPr/>
        </p:nvSpPr>
        <p:spPr>
          <a:xfrm>
            <a:off x="4462272" y="5477256"/>
            <a:ext cx="2148840" cy="384048"/>
          </a:xfrm>
          <a:prstGeom prst="roundRect">
            <a:avLst>
              <a:gd name="adj" fmla="val 50000"/>
            </a:avLst>
          </a:prstGeom>
          <a:solidFill>
            <a:srgbClr val="DC2626"/>
          </a:solidFill>
          <a:ln w="12700">
            <a:solidFill>
              <a:srgbClr val="DC2626"/>
            </a:solidFill>
            <a:prstDash val="solid"/>
          </a:ln>
        </p:spPr>
      </p:sp>
      <p:sp>
        <p:nvSpPr>
          <p:cNvPr id="59" name="Text 48"/>
          <p:cNvSpPr txBox="1"/>
          <p:nvPr/>
        </p:nvSpPr>
        <p:spPr>
          <a:xfrm>
            <a:off x="4462272" y="5477256"/>
            <a:ext cx="214884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İptal / Süresi Doldu</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2F7"/>
        </a:solidFill>
      </p:bgPr>
    </p:bg>
    <p:spTree>
      <p:nvGrpSpPr>
        <p:cNvPr id="1" name=""/>
        <p:cNvGrpSpPr/>
        <p:nvPr/>
      </p:nvGrpSpPr>
      <p:grpSpPr>
        <a:xfrm>
          <a:off x="0" y="0"/>
          <a:ext cx="0" cy="0"/>
          <a:chOff x="0" y="0"/>
          <a:chExt cx="0" cy="0"/>
        </a:xfrm>
      </p:grpSpPr>
      <p:sp>
        <p:nvSpPr>
          <p:cNvPr id="2" name="Shape 0"/>
          <p:cNvSpPr/>
          <p:nvPr/>
        </p:nvSpPr>
        <p:spPr>
          <a:xfrm>
            <a:off x="548640" y="384048"/>
            <a:ext cx="777240" cy="329184"/>
          </a:xfrm>
          <a:prstGeom prst="roundRect">
            <a:avLst>
              <a:gd name="adj" fmla="val 50000"/>
            </a:avLst>
          </a:prstGeom>
          <a:solidFill>
            <a:srgbClr val="0A2545"/>
          </a:solidFill>
          <a:ln w="12700">
            <a:solidFill>
              <a:srgbClr val="0A2545"/>
            </a:solidFill>
            <a:prstDash val="solid"/>
          </a:ln>
        </p:spPr>
      </p:sp>
      <p:sp>
        <p:nvSpPr>
          <p:cNvPr id="3" name="Text 1"/>
          <p:cNvSpPr txBox="1"/>
          <p:nvPr/>
        </p:nvSpPr>
        <p:spPr>
          <a:xfrm>
            <a:off x="548640" y="384048"/>
            <a:ext cx="77724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MİMARİ</a:t>
            </a:r>
            <a:endParaRPr lang="en-US" sz="1100" dirty="0"/>
          </a:p>
        </p:txBody>
      </p:sp>
      <p:sp>
        <p:nvSpPr>
          <p:cNvPr id="4" name="Text 2"/>
          <p:cNvSpPr txBox="1"/>
          <p:nvPr/>
        </p:nvSpPr>
        <p:spPr>
          <a:xfrm>
            <a:off x="548640" y="786384"/>
            <a:ext cx="11094415" cy="731520"/>
          </a:xfrm>
          <a:prstGeom prst="rect">
            <a:avLst/>
          </a:prstGeom>
          <a:noFill/>
          <a:ln/>
        </p:spPr>
        <p:txBody>
          <a:bodyPr wrap="square" lIns="0" tIns="0" rIns="0" bIns="0" rtlCol="0" anchor="ctr"/>
          <a:lstStyle/>
          <a:p>
            <a:pPr indent="0" marL="0">
              <a:buNone/>
            </a:pPr>
            <a:r>
              <a:rPr lang="en-US" sz="3000" b="1" dirty="0">
                <a:solidFill>
                  <a:srgbClr val="0A2545"/>
                </a:solidFill>
                <a:latin typeface="Arial" pitchFamily="34" charset="0"/>
                <a:ea typeface="Arial" pitchFamily="34" charset="-122"/>
                <a:cs typeface="Arial" pitchFamily="34" charset="-120"/>
              </a:rPr>
              <a:t>Katmanlı mimari ve bulut yerleşimi</a:t>
            </a:r>
            <a:endParaRPr lang="en-US" sz="3000" dirty="0"/>
          </a:p>
        </p:txBody>
      </p:sp>
      <p:sp>
        <p:nvSpPr>
          <p:cNvPr id="5" name="Text 3"/>
          <p:cNvSpPr txBox="1"/>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6 / 16</a:t>
            </a:r>
            <a:endParaRPr lang="en-US" sz="1000" dirty="0"/>
          </a:p>
        </p:txBody>
      </p:sp>
      <p:sp>
        <p:nvSpPr>
          <p:cNvPr id="6" name="Shape 4"/>
          <p:cNvSpPr/>
          <p:nvPr/>
        </p:nvSpPr>
        <p:spPr>
          <a:xfrm>
            <a:off x="548640" y="1737360"/>
            <a:ext cx="6949440" cy="731520"/>
          </a:xfrm>
          <a:prstGeom prst="roundRect">
            <a:avLst>
              <a:gd name="adj" fmla="val 12500"/>
            </a:avLst>
          </a:prstGeom>
          <a:solidFill>
            <a:srgbClr val="FFFFFF"/>
          </a:solidFill>
          <a:ln w="19050">
            <a:solidFill>
              <a:srgbClr val="1D6FF2"/>
            </a:solidFill>
            <a:prstDash val="solid"/>
          </a:ln>
          <a:effectLst>
            <a:outerShdw sx="100000" sy="100000" kx="0" ky="0" algn="bl" rotWithShape="0" blurRad="101600" dist="25400" dir="5400000">
              <a:srgbClr val="000000">
                <a:alpha val="12000"/>
              </a:srgbClr>
            </a:outerShdw>
          </a:effectLst>
        </p:spPr>
      </p:sp>
      <p:sp>
        <p:nvSpPr>
          <p:cNvPr id="7" name="Shape 5"/>
          <p:cNvSpPr/>
          <p:nvPr/>
        </p:nvSpPr>
        <p:spPr>
          <a:xfrm>
            <a:off x="685800" y="1892808"/>
            <a:ext cx="420624" cy="420624"/>
          </a:xfrm>
          <a:prstGeom prst="roundRect">
            <a:avLst>
              <a:gd name="adj" fmla="val 21739"/>
            </a:avLst>
          </a:prstGeom>
          <a:solidFill>
            <a:srgbClr val="1D6FF2"/>
          </a:solidFill>
          <a:ln w="12700">
            <a:solidFill>
              <a:srgbClr val="1D6FF2"/>
            </a:solidFill>
            <a:prstDash val="solid"/>
          </a:ln>
        </p:spPr>
      </p:sp>
      <p:sp>
        <p:nvSpPr>
          <p:cNvPr id="8" name="Text 6"/>
          <p:cNvSpPr txBox="1"/>
          <p:nvPr/>
        </p:nvSpPr>
        <p:spPr>
          <a:xfrm>
            <a:off x="685800" y="18928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9" name="Text 7"/>
          <p:cNvSpPr txBox="1"/>
          <p:nvPr/>
        </p:nvSpPr>
        <p:spPr>
          <a:xfrm>
            <a:off x="1261872" y="1810512"/>
            <a:ext cx="3840480" cy="310896"/>
          </a:xfrm>
          <a:prstGeom prst="rect">
            <a:avLst/>
          </a:prstGeom>
          <a:noFill/>
          <a:ln/>
        </p:spPr>
        <p:txBody>
          <a:bodyPr wrap="square" lIns="0" tIns="0" rIns="0" bIns="0" rtlCol="0" anchor="ctr"/>
          <a:lstStyle/>
          <a:p>
            <a:pPr indent="0" marL="0">
              <a:buNone/>
            </a:pPr>
            <a:r>
              <a:rPr lang="en-US" sz="1500" b="1" dirty="0">
                <a:solidFill>
                  <a:srgbClr val="1F2937"/>
                </a:solidFill>
                <a:latin typeface="Arial" pitchFamily="34" charset="0"/>
                <a:ea typeface="Arial" pitchFamily="34" charset="-122"/>
                <a:cs typeface="Arial" pitchFamily="34" charset="-120"/>
              </a:rPr>
              <a:t>Angular 22 arayüz</a:t>
            </a:r>
            <a:endParaRPr lang="en-US" sz="1500" dirty="0"/>
          </a:p>
        </p:txBody>
      </p:sp>
      <p:sp>
        <p:nvSpPr>
          <p:cNvPr id="10" name="Text 8"/>
          <p:cNvSpPr txBox="1"/>
          <p:nvPr/>
        </p:nvSpPr>
        <p:spPr>
          <a:xfrm>
            <a:off x="1261872" y="2121408"/>
            <a:ext cx="4937760" cy="27432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Standalone bileşenler, signals, guard ve interceptor'lar</a:t>
            </a:r>
            <a:endParaRPr lang="en-US" sz="1250" dirty="0"/>
          </a:p>
        </p:txBody>
      </p:sp>
      <p:sp>
        <p:nvSpPr>
          <p:cNvPr id="11" name="Text 9"/>
          <p:cNvSpPr txBox="1"/>
          <p:nvPr/>
        </p:nvSpPr>
        <p:spPr>
          <a:xfrm>
            <a:off x="5486400" y="1810512"/>
            <a:ext cx="1874520" cy="274320"/>
          </a:xfrm>
          <a:prstGeom prst="rect">
            <a:avLst/>
          </a:prstGeom>
          <a:noFill/>
          <a:ln/>
        </p:spPr>
        <p:txBody>
          <a:bodyPr wrap="square" lIns="0" tIns="0" rIns="0" bIns="0" rtlCol="0" anchor="ctr"/>
          <a:lstStyle/>
          <a:p>
            <a:pPr algn="r" indent="0" marL="0">
              <a:buNone/>
            </a:pPr>
            <a:r>
              <a:rPr lang="en-US" sz="1150" b="1" dirty="0">
                <a:solidFill>
                  <a:srgbClr val="1D6FF2"/>
                </a:solidFill>
                <a:latin typeface="Calibri" pitchFamily="34" charset="0"/>
                <a:ea typeface="Calibri" pitchFamily="34" charset="-122"/>
                <a:cs typeface="Calibri" pitchFamily="34" charset="-120"/>
              </a:rPr>
              <a:t>Azure Static Web Apps</a:t>
            </a:r>
            <a:endParaRPr lang="en-US" sz="1150" dirty="0"/>
          </a:p>
        </p:txBody>
      </p:sp>
      <p:pic>
        <p:nvPicPr>
          <p:cNvPr id="12" name="Image 0" descr="preencoded.png">    </p:cNvPr>
          <p:cNvPicPr>
            <a:picLocks noChangeAspect="1"/>
          </p:cNvPicPr>
          <p:nvPr/>
        </p:nvPicPr>
        <p:blipFill>
          <a:blip r:embed="rId1"/>
          <a:stretch>
            <a:fillRect/>
          </a:stretch>
        </p:blipFill>
        <p:spPr>
          <a:xfrm>
            <a:off x="3931920" y="2487168"/>
            <a:ext cx="164592" cy="164592"/>
          </a:xfrm>
          <a:prstGeom prst="rect">
            <a:avLst/>
          </a:prstGeom>
        </p:spPr>
      </p:pic>
      <p:sp>
        <p:nvSpPr>
          <p:cNvPr id="13" name="Shape 10"/>
          <p:cNvSpPr/>
          <p:nvPr/>
        </p:nvSpPr>
        <p:spPr>
          <a:xfrm>
            <a:off x="548640" y="2670048"/>
            <a:ext cx="6949440" cy="731520"/>
          </a:xfrm>
          <a:prstGeom prst="roundRect">
            <a:avLst>
              <a:gd name="adj" fmla="val 12500"/>
            </a:avLst>
          </a:prstGeom>
          <a:solidFill>
            <a:srgbClr val="FFFFFF"/>
          </a:solidFill>
          <a:ln w="19050">
            <a:solidFill>
              <a:srgbClr val="13325C"/>
            </a:solidFill>
            <a:prstDash val="solid"/>
          </a:ln>
          <a:effectLst>
            <a:outerShdw sx="100000" sy="100000" kx="0" ky="0" algn="bl" rotWithShape="0" blurRad="101600" dist="25400" dir="5400000">
              <a:srgbClr val="000000">
                <a:alpha val="12000"/>
              </a:srgbClr>
            </a:outerShdw>
          </a:effectLst>
        </p:spPr>
      </p:sp>
      <p:sp>
        <p:nvSpPr>
          <p:cNvPr id="14" name="Shape 11"/>
          <p:cNvSpPr/>
          <p:nvPr/>
        </p:nvSpPr>
        <p:spPr>
          <a:xfrm>
            <a:off x="685800" y="2825496"/>
            <a:ext cx="420624" cy="420624"/>
          </a:xfrm>
          <a:prstGeom prst="roundRect">
            <a:avLst>
              <a:gd name="adj" fmla="val 21739"/>
            </a:avLst>
          </a:prstGeom>
          <a:solidFill>
            <a:srgbClr val="13325C"/>
          </a:solidFill>
          <a:ln w="12700">
            <a:solidFill>
              <a:srgbClr val="13325C"/>
            </a:solidFill>
            <a:prstDash val="solid"/>
          </a:ln>
        </p:spPr>
      </p:sp>
      <p:sp>
        <p:nvSpPr>
          <p:cNvPr id="15" name="Text 12"/>
          <p:cNvSpPr txBox="1"/>
          <p:nvPr/>
        </p:nvSpPr>
        <p:spPr>
          <a:xfrm>
            <a:off x="685800" y="28254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txBox="1"/>
          <p:nvPr/>
        </p:nvSpPr>
        <p:spPr>
          <a:xfrm>
            <a:off x="1261872" y="2743200"/>
            <a:ext cx="3840480" cy="310896"/>
          </a:xfrm>
          <a:prstGeom prst="rect">
            <a:avLst/>
          </a:prstGeom>
          <a:noFill/>
          <a:ln/>
        </p:spPr>
        <p:txBody>
          <a:bodyPr wrap="square" lIns="0" tIns="0" rIns="0" bIns="0" rtlCol="0" anchor="ctr"/>
          <a:lstStyle/>
          <a:p>
            <a:pPr indent="0" marL="0">
              <a:buNone/>
            </a:pPr>
            <a:r>
              <a:rPr lang="en-US" sz="1500" b="1" dirty="0">
                <a:solidFill>
                  <a:srgbClr val="1F2937"/>
                </a:solidFill>
                <a:latin typeface="Arial" pitchFamily="34" charset="0"/>
                <a:ea typeface="Arial" pitchFamily="34" charset="-122"/>
                <a:cs typeface="Arial" pitchFamily="34" charset="-120"/>
              </a:rPr>
              <a:t>Kasko.API</a:t>
            </a:r>
            <a:endParaRPr lang="en-US" sz="1500" dirty="0"/>
          </a:p>
        </p:txBody>
      </p:sp>
      <p:sp>
        <p:nvSpPr>
          <p:cNvPr id="17" name="Text 14"/>
          <p:cNvSpPr txBox="1"/>
          <p:nvPr/>
        </p:nvSpPr>
        <p:spPr>
          <a:xfrm>
            <a:off x="1261872" y="3054096"/>
            <a:ext cx="4937760" cy="27432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ASP.NET Core 8 · 21 controller · JWT · hata middleware'i</a:t>
            </a:r>
            <a:endParaRPr lang="en-US" sz="1250" dirty="0"/>
          </a:p>
        </p:txBody>
      </p:sp>
      <p:sp>
        <p:nvSpPr>
          <p:cNvPr id="18" name="Text 15"/>
          <p:cNvSpPr txBox="1"/>
          <p:nvPr/>
        </p:nvSpPr>
        <p:spPr>
          <a:xfrm>
            <a:off x="5486400" y="2743200"/>
            <a:ext cx="1874520" cy="274320"/>
          </a:xfrm>
          <a:prstGeom prst="rect">
            <a:avLst/>
          </a:prstGeom>
          <a:noFill/>
          <a:ln/>
        </p:spPr>
        <p:txBody>
          <a:bodyPr wrap="square" lIns="0" tIns="0" rIns="0" bIns="0" rtlCol="0" anchor="ctr"/>
          <a:lstStyle/>
          <a:p>
            <a:pPr algn="r" indent="0" marL="0">
              <a:buNone/>
            </a:pPr>
            <a:r>
              <a:rPr lang="en-US" sz="1150" b="1" dirty="0">
                <a:solidFill>
                  <a:srgbClr val="13325C"/>
                </a:solidFill>
                <a:latin typeface="Calibri" pitchFamily="34" charset="0"/>
                <a:ea typeface="Calibri" pitchFamily="34" charset="-122"/>
                <a:cs typeface="Calibri" pitchFamily="34" charset="-120"/>
              </a:rPr>
              <a:t>Azure App Service</a:t>
            </a:r>
            <a:endParaRPr lang="en-US" sz="1150" dirty="0"/>
          </a:p>
        </p:txBody>
      </p:sp>
      <p:pic>
        <p:nvPicPr>
          <p:cNvPr id="19" name="Image 1" descr="preencoded.png">    </p:cNvPr>
          <p:cNvPicPr>
            <a:picLocks noChangeAspect="1"/>
          </p:cNvPicPr>
          <p:nvPr/>
        </p:nvPicPr>
        <p:blipFill>
          <a:blip r:embed="rId2"/>
          <a:stretch>
            <a:fillRect/>
          </a:stretch>
        </p:blipFill>
        <p:spPr>
          <a:xfrm>
            <a:off x="3931920" y="3419856"/>
            <a:ext cx="164592" cy="164592"/>
          </a:xfrm>
          <a:prstGeom prst="rect">
            <a:avLst/>
          </a:prstGeom>
        </p:spPr>
      </p:pic>
      <p:sp>
        <p:nvSpPr>
          <p:cNvPr id="20" name="Shape 16"/>
          <p:cNvSpPr/>
          <p:nvPr/>
        </p:nvSpPr>
        <p:spPr>
          <a:xfrm>
            <a:off x="548640" y="3602736"/>
            <a:ext cx="6949440" cy="731520"/>
          </a:xfrm>
          <a:prstGeom prst="roundRect">
            <a:avLst>
              <a:gd name="adj" fmla="val 12500"/>
            </a:avLst>
          </a:prstGeom>
          <a:solidFill>
            <a:srgbClr val="FFFFFF"/>
          </a:solidFill>
          <a:ln w="19050">
            <a:solidFill>
              <a:srgbClr val="13325C"/>
            </a:solidFill>
            <a:prstDash val="solid"/>
          </a:ln>
          <a:effectLst>
            <a:outerShdw sx="100000" sy="100000" kx="0" ky="0" algn="bl" rotWithShape="0" blurRad="101600" dist="25400" dir="5400000">
              <a:srgbClr val="000000">
                <a:alpha val="12000"/>
              </a:srgbClr>
            </a:outerShdw>
          </a:effectLst>
        </p:spPr>
      </p:sp>
      <p:sp>
        <p:nvSpPr>
          <p:cNvPr id="21" name="Shape 17"/>
          <p:cNvSpPr/>
          <p:nvPr/>
        </p:nvSpPr>
        <p:spPr>
          <a:xfrm>
            <a:off x="685800" y="3758184"/>
            <a:ext cx="420624" cy="420624"/>
          </a:xfrm>
          <a:prstGeom prst="roundRect">
            <a:avLst>
              <a:gd name="adj" fmla="val 21739"/>
            </a:avLst>
          </a:prstGeom>
          <a:solidFill>
            <a:srgbClr val="13325C"/>
          </a:solidFill>
          <a:ln w="12700">
            <a:solidFill>
              <a:srgbClr val="13325C"/>
            </a:solidFill>
            <a:prstDash val="solid"/>
          </a:ln>
        </p:spPr>
      </p:sp>
      <p:sp>
        <p:nvSpPr>
          <p:cNvPr id="22" name="Text 18"/>
          <p:cNvSpPr txBox="1"/>
          <p:nvPr/>
        </p:nvSpPr>
        <p:spPr>
          <a:xfrm>
            <a:off x="685800" y="37581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3" name="Text 19"/>
          <p:cNvSpPr txBox="1"/>
          <p:nvPr/>
        </p:nvSpPr>
        <p:spPr>
          <a:xfrm>
            <a:off x="1261872" y="3675888"/>
            <a:ext cx="3840480" cy="310896"/>
          </a:xfrm>
          <a:prstGeom prst="rect">
            <a:avLst/>
          </a:prstGeom>
          <a:noFill/>
          <a:ln/>
        </p:spPr>
        <p:txBody>
          <a:bodyPr wrap="square" lIns="0" tIns="0" rIns="0" bIns="0" rtlCol="0" anchor="ctr"/>
          <a:lstStyle/>
          <a:p>
            <a:pPr indent="0" marL="0">
              <a:buNone/>
            </a:pPr>
            <a:r>
              <a:rPr lang="en-US" sz="1500" b="1" dirty="0">
                <a:solidFill>
                  <a:srgbClr val="1F2937"/>
                </a:solidFill>
                <a:latin typeface="Arial" pitchFamily="34" charset="0"/>
                <a:ea typeface="Arial" pitchFamily="34" charset="-122"/>
                <a:cs typeface="Arial" pitchFamily="34" charset="-120"/>
              </a:rPr>
              <a:t>Kasko.Business</a:t>
            </a:r>
            <a:endParaRPr lang="en-US" sz="1500" dirty="0"/>
          </a:p>
        </p:txBody>
      </p:sp>
      <p:sp>
        <p:nvSpPr>
          <p:cNvPr id="24" name="Text 20"/>
          <p:cNvSpPr txBox="1"/>
          <p:nvPr/>
        </p:nvSpPr>
        <p:spPr>
          <a:xfrm>
            <a:off x="1261872" y="3986784"/>
            <a:ext cx="4937760" cy="27432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İş kuralları · fiyat motoru · QuestPDF · FluentValidation</a:t>
            </a:r>
            <a:endParaRPr lang="en-US" sz="1250" dirty="0"/>
          </a:p>
        </p:txBody>
      </p:sp>
      <p:pic>
        <p:nvPicPr>
          <p:cNvPr id="25" name="Image 2" descr="preencoded.png">    </p:cNvPr>
          <p:cNvPicPr>
            <a:picLocks noChangeAspect="1"/>
          </p:cNvPicPr>
          <p:nvPr/>
        </p:nvPicPr>
        <p:blipFill>
          <a:blip r:embed="rId3"/>
          <a:stretch>
            <a:fillRect/>
          </a:stretch>
        </p:blipFill>
        <p:spPr>
          <a:xfrm>
            <a:off x="3931920" y="4352544"/>
            <a:ext cx="164592" cy="164592"/>
          </a:xfrm>
          <a:prstGeom prst="rect">
            <a:avLst/>
          </a:prstGeom>
        </p:spPr>
      </p:pic>
      <p:sp>
        <p:nvSpPr>
          <p:cNvPr id="26" name="Shape 21"/>
          <p:cNvSpPr/>
          <p:nvPr/>
        </p:nvSpPr>
        <p:spPr>
          <a:xfrm>
            <a:off x="548640" y="4535424"/>
            <a:ext cx="6949440" cy="731520"/>
          </a:xfrm>
          <a:prstGeom prst="roundRect">
            <a:avLst>
              <a:gd name="adj" fmla="val 12500"/>
            </a:avLst>
          </a:prstGeom>
          <a:solidFill>
            <a:srgbClr val="FFFFFF"/>
          </a:solidFill>
          <a:ln w="19050">
            <a:solidFill>
              <a:srgbClr val="13325C"/>
            </a:solidFill>
            <a:prstDash val="solid"/>
          </a:ln>
          <a:effectLst>
            <a:outerShdw sx="100000" sy="100000" kx="0" ky="0" algn="bl" rotWithShape="0" blurRad="101600" dist="25400" dir="5400000">
              <a:srgbClr val="000000">
                <a:alpha val="12000"/>
              </a:srgbClr>
            </a:outerShdw>
          </a:effectLst>
        </p:spPr>
      </p:sp>
      <p:sp>
        <p:nvSpPr>
          <p:cNvPr id="27" name="Shape 22"/>
          <p:cNvSpPr/>
          <p:nvPr/>
        </p:nvSpPr>
        <p:spPr>
          <a:xfrm>
            <a:off x="685800" y="4690872"/>
            <a:ext cx="420624" cy="420624"/>
          </a:xfrm>
          <a:prstGeom prst="roundRect">
            <a:avLst>
              <a:gd name="adj" fmla="val 21739"/>
            </a:avLst>
          </a:prstGeom>
          <a:solidFill>
            <a:srgbClr val="13325C"/>
          </a:solidFill>
          <a:ln w="12700">
            <a:solidFill>
              <a:srgbClr val="13325C"/>
            </a:solidFill>
            <a:prstDash val="solid"/>
          </a:ln>
        </p:spPr>
      </p:sp>
      <p:sp>
        <p:nvSpPr>
          <p:cNvPr id="28" name="Text 23"/>
          <p:cNvSpPr txBox="1"/>
          <p:nvPr/>
        </p:nvSpPr>
        <p:spPr>
          <a:xfrm>
            <a:off x="685800" y="46908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9" name="Text 24"/>
          <p:cNvSpPr txBox="1"/>
          <p:nvPr/>
        </p:nvSpPr>
        <p:spPr>
          <a:xfrm>
            <a:off x="1261872" y="4608576"/>
            <a:ext cx="3840480" cy="310896"/>
          </a:xfrm>
          <a:prstGeom prst="rect">
            <a:avLst/>
          </a:prstGeom>
          <a:noFill/>
          <a:ln/>
        </p:spPr>
        <p:txBody>
          <a:bodyPr wrap="square" lIns="0" tIns="0" rIns="0" bIns="0" rtlCol="0" anchor="ctr"/>
          <a:lstStyle/>
          <a:p>
            <a:pPr indent="0" marL="0">
              <a:buNone/>
            </a:pPr>
            <a:r>
              <a:rPr lang="en-US" sz="1500" b="1" dirty="0">
                <a:solidFill>
                  <a:srgbClr val="1F2937"/>
                </a:solidFill>
                <a:latin typeface="Arial" pitchFamily="34" charset="0"/>
                <a:ea typeface="Arial" pitchFamily="34" charset="-122"/>
                <a:cs typeface="Arial" pitchFamily="34" charset="-120"/>
              </a:rPr>
              <a:t>Kasko.DataAccess</a:t>
            </a:r>
            <a:endParaRPr lang="en-US" sz="1500" dirty="0"/>
          </a:p>
        </p:txBody>
      </p:sp>
      <p:sp>
        <p:nvSpPr>
          <p:cNvPr id="30" name="Text 25"/>
          <p:cNvSpPr txBox="1"/>
          <p:nvPr/>
        </p:nvSpPr>
        <p:spPr>
          <a:xfrm>
            <a:off x="1261872" y="4919472"/>
            <a:ext cx="4937760" cy="27432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EF Core Code First · Repository + Unit of Work · migration</a:t>
            </a:r>
            <a:endParaRPr lang="en-US" sz="1250" dirty="0"/>
          </a:p>
        </p:txBody>
      </p:sp>
      <p:pic>
        <p:nvPicPr>
          <p:cNvPr id="31" name="Image 3" descr="preencoded.png">    </p:cNvPr>
          <p:cNvPicPr>
            <a:picLocks noChangeAspect="1"/>
          </p:cNvPicPr>
          <p:nvPr/>
        </p:nvPicPr>
        <p:blipFill>
          <a:blip r:embed="rId4"/>
          <a:stretch>
            <a:fillRect/>
          </a:stretch>
        </p:blipFill>
        <p:spPr>
          <a:xfrm>
            <a:off x="3931920" y="5285232"/>
            <a:ext cx="164592" cy="164592"/>
          </a:xfrm>
          <a:prstGeom prst="rect">
            <a:avLst/>
          </a:prstGeom>
        </p:spPr>
      </p:pic>
      <p:sp>
        <p:nvSpPr>
          <p:cNvPr id="32" name="Shape 26"/>
          <p:cNvSpPr/>
          <p:nvPr/>
        </p:nvSpPr>
        <p:spPr>
          <a:xfrm>
            <a:off x="548640" y="5468112"/>
            <a:ext cx="6949440" cy="731520"/>
          </a:xfrm>
          <a:prstGeom prst="roundRect">
            <a:avLst>
              <a:gd name="adj" fmla="val 12500"/>
            </a:avLst>
          </a:prstGeom>
          <a:solidFill>
            <a:srgbClr val="FFFFFF"/>
          </a:solidFill>
          <a:ln w="19050">
            <a:solidFill>
              <a:srgbClr val="16A34A"/>
            </a:solidFill>
            <a:prstDash val="solid"/>
          </a:ln>
          <a:effectLst>
            <a:outerShdw sx="100000" sy="100000" kx="0" ky="0" algn="bl" rotWithShape="0" blurRad="101600" dist="25400" dir="5400000">
              <a:srgbClr val="000000">
                <a:alpha val="12000"/>
              </a:srgbClr>
            </a:outerShdw>
          </a:effectLst>
        </p:spPr>
      </p:sp>
      <p:sp>
        <p:nvSpPr>
          <p:cNvPr id="33" name="Shape 27"/>
          <p:cNvSpPr/>
          <p:nvPr/>
        </p:nvSpPr>
        <p:spPr>
          <a:xfrm>
            <a:off x="685800" y="5623560"/>
            <a:ext cx="420624" cy="420624"/>
          </a:xfrm>
          <a:prstGeom prst="roundRect">
            <a:avLst>
              <a:gd name="adj" fmla="val 21739"/>
            </a:avLst>
          </a:prstGeom>
          <a:solidFill>
            <a:srgbClr val="16A34A"/>
          </a:solidFill>
          <a:ln w="12700">
            <a:solidFill>
              <a:srgbClr val="16A34A"/>
            </a:solidFill>
            <a:prstDash val="solid"/>
          </a:ln>
        </p:spPr>
      </p:sp>
      <p:sp>
        <p:nvSpPr>
          <p:cNvPr id="34" name="Text 28"/>
          <p:cNvSpPr txBox="1"/>
          <p:nvPr/>
        </p:nvSpPr>
        <p:spPr>
          <a:xfrm>
            <a:off x="685800" y="562356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5" name="Text 29"/>
          <p:cNvSpPr txBox="1"/>
          <p:nvPr/>
        </p:nvSpPr>
        <p:spPr>
          <a:xfrm>
            <a:off x="1261872" y="5541264"/>
            <a:ext cx="3840480" cy="310896"/>
          </a:xfrm>
          <a:prstGeom prst="rect">
            <a:avLst/>
          </a:prstGeom>
          <a:noFill/>
          <a:ln/>
        </p:spPr>
        <p:txBody>
          <a:bodyPr wrap="square" lIns="0" tIns="0" rIns="0" bIns="0" rtlCol="0" anchor="ctr"/>
          <a:lstStyle/>
          <a:p>
            <a:pPr indent="0" marL="0">
              <a:buNone/>
            </a:pPr>
            <a:r>
              <a:rPr lang="en-US" sz="1500" b="1" dirty="0">
                <a:solidFill>
                  <a:srgbClr val="1F2937"/>
                </a:solidFill>
                <a:latin typeface="Arial" pitchFamily="34" charset="0"/>
                <a:ea typeface="Arial" pitchFamily="34" charset="-122"/>
                <a:cs typeface="Arial" pitchFamily="34" charset="-120"/>
              </a:rPr>
              <a:t>SQL Server veritabanı</a:t>
            </a:r>
            <a:endParaRPr lang="en-US" sz="1500" dirty="0"/>
          </a:p>
        </p:txBody>
      </p:sp>
      <p:sp>
        <p:nvSpPr>
          <p:cNvPr id="36" name="Text 30"/>
          <p:cNvSpPr txBox="1"/>
          <p:nvPr/>
        </p:nvSpPr>
        <p:spPr>
          <a:xfrm>
            <a:off x="1261872" y="5852160"/>
            <a:ext cx="4937760" cy="27432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Satış verisi · sürümlü kurallar · 79.380 TSB kaydı</a:t>
            </a:r>
            <a:endParaRPr lang="en-US" sz="1250" dirty="0"/>
          </a:p>
        </p:txBody>
      </p:sp>
      <p:sp>
        <p:nvSpPr>
          <p:cNvPr id="37" name="Text 31"/>
          <p:cNvSpPr txBox="1"/>
          <p:nvPr/>
        </p:nvSpPr>
        <p:spPr>
          <a:xfrm>
            <a:off x="5486400" y="5541264"/>
            <a:ext cx="1874520" cy="274320"/>
          </a:xfrm>
          <a:prstGeom prst="rect">
            <a:avLst/>
          </a:prstGeom>
          <a:noFill/>
          <a:ln/>
        </p:spPr>
        <p:txBody>
          <a:bodyPr wrap="square" lIns="0" tIns="0" rIns="0" bIns="0" rtlCol="0" anchor="ctr"/>
          <a:lstStyle/>
          <a:p>
            <a:pPr algn="r" indent="0" marL="0">
              <a:buNone/>
            </a:pPr>
            <a:r>
              <a:rPr lang="en-US" sz="1150" b="1" dirty="0">
                <a:solidFill>
                  <a:srgbClr val="16A34A"/>
                </a:solidFill>
                <a:latin typeface="Calibri" pitchFamily="34" charset="0"/>
                <a:ea typeface="Calibri" pitchFamily="34" charset="-122"/>
                <a:cs typeface="Calibri" pitchFamily="34" charset="-120"/>
              </a:rPr>
              <a:t>Azure SQL</a:t>
            </a:r>
            <a:endParaRPr lang="en-US" sz="1150" dirty="0"/>
          </a:p>
        </p:txBody>
      </p:sp>
      <p:sp>
        <p:nvSpPr>
          <p:cNvPr id="38" name="Shape 32"/>
          <p:cNvSpPr/>
          <p:nvPr/>
        </p:nvSpPr>
        <p:spPr>
          <a:xfrm>
            <a:off x="7909560" y="1737360"/>
            <a:ext cx="3733495" cy="4553712"/>
          </a:xfrm>
          <a:prstGeom prst="roundRect">
            <a:avLst>
              <a:gd name="adj" fmla="val 2939"/>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39" name="Text 33"/>
          <p:cNvSpPr txBox="1"/>
          <p:nvPr/>
        </p:nvSpPr>
        <p:spPr>
          <a:xfrm>
            <a:off x="8183880" y="1938528"/>
            <a:ext cx="3184855" cy="365760"/>
          </a:xfrm>
          <a:prstGeom prst="rect">
            <a:avLst/>
          </a:prstGeom>
          <a:noFill/>
          <a:ln/>
        </p:spPr>
        <p:txBody>
          <a:bodyPr wrap="square" lIns="0" tIns="0" rIns="0" bIns="0" rtlCol="0" anchor="ctr"/>
          <a:lstStyle/>
          <a:p>
            <a:pPr indent="0" marL="0">
              <a:buNone/>
            </a:pPr>
            <a:r>
              <a:rPr lang="en-US" sz="1600" b="1" dirty="0">
                <a:solidFill>
                  <a:srgbClr val="0A2545"/>
                </a:solidFill>
                <a:latin typeface="Arial" pitchFamily="34" charset="0"/>
                <a:ea typeface="Arial" pitchFamily="34" charset="-122"/>
                <a:cs typeface="Arial" pitchFamily="34" charset="-120"/>
              </a:rPr>
              <a:t>Kullanılan desenler</a:t>
            </a:r>
            <a:endParaRPr lang="en-US" sz="1600" dirty="0"/>
          </a:p>
        </p:txBody>
      </p:sp>
      <p:sp>
        <p:nvSpPr>
          <p:cNvPr id="40" name="Text 34"/>
          <p:cNvSpPr txBox="1"/>
          <p:nvPr/>
        </p:nvSpPr>
        <p:spPr>
          <a:xfrm>
            <a:off x="8183880" y="2423160"/>
            <a:ext cx="3276295" cy="3749040"/>
          </a:xfrm>
          <a:prstGeom prst="rect">
            <a:avLst/>
          </a:prstGeom>
          <a:noFill/>
          <a:ln/>
        </p:spPr>
        <p:txBody>
          <a:bodyPr wrap="square" lIns="0" tIns="0" rIns="0" bIns="0" rtlCol="0" anchor="t"/>
          <a:lstStyle/>
          <a:p>
            <a:pPr indent="0" marL="0">
              <a:spcAft>
                <a:spcPts val="600"/>
              </a:spcAft>
              <a:buNone/>
            </a:pPr>
            <a:r>
              <a:rPr lang="en-US" sz="1500" b="1" dirty="0">
                <a:solidFill>
                  <a:srgbClr val="1F2937"/>
                </a:solidFill>
                <a:latin typeface="Calibri" pitchFamily="34" charset="0"/>
                <a:ea typeface="Calibri" pitchFamily="34" charset="-122"/>
                <a:cs typeface="Calibri" pitchFamily="34" charset="-120"/>
              </a:rPr>
              <a:t>Repository + Unit of Work</a:t>
            </a:r>
            <a:endParaRPr lang="en-US" sz="1500" dirty="0"/>
          </a:p>
          <a:p>
            <a:pPr indent="0" marL="0">
              <a:spcAft>
                <a:spcPts val="600"/>
              </a:spcAft>
              <a:buNone/>
            </a:pPr>
            <a:r>
              <a:rPr lang="en-US" sz="1250" dirty="0">
                <a:solidFill>
                  <a:srgbClr val="5B6472"/>
                </a:solidFill>
                <a:latin typeface="Calibri" pitchFamily="34" charset="0"/>
                <a:ea typeface="Calibri" pitchFamily="34" charset="-122"/>
                <a:cs typeface="Calibri" pitchFamily="34" charset="-120"/>
              </a:rPr>
              <a:t>çok adımlı işlem tek transaction</a:t>
            </a:r>
            <a:endParaRPr lang="en-US" sz="1500" dirty="0"/>
          </a:p>
          <a:p>
            <a:pPr indent="0" marL="0">
              <a:spcAft>
                <a:spcPts val="600"/>
              </a:spcAft>
              <a:buNone/>
            </a:pPr>
            <a:r>
              <a:rPr lang="en-US" sz="1500" b="1" dirty="0">
                <a:solidFill>
                  <a:srgbClr val="1F2937"/>
                </a:solidFill>
                <a:latin typeface="Calibri" pitchFamily="34" charset="0"/>
                <a:ea typeface="Calibri" pitchFamily="34" charset="-122"/>
                <a:cs typeface="Calibri" pitchFamily="34" charset="-120"/>
              </a:rPr>
              <a:t>DTO + Dependency Injection</a:t>
            </a:r>
            <a:endParaRPr lang="en-US" sz="1500" dirty="0"/>
          </a:p>
          <a:p>
            <a:pPr indent="0" marL="0">
              <a:spcAft>
                <a:spcPts val="600"/>
              </a:spcAft>
              <a:buNone/>
            </a:pPr>
            <a:r>
              <a:rPr lang="en-US" sz="1250" dirty="0">
                <a:solidFill>
                  <a:srgbClr val="5B6472"/>
                </a:solidFill>
                <a:latin typeface="Calibri" pitchFamily="34" charset="0"/>
                <a:ea typeface="Calibri" pitchFamily="34" charset="-122"/>
                <a:cs typeface="Calibri" pitchFamily="34" charset="-120"/>
              </a:rPr>
              <a:t>varlıklar dışarı açılmaz, test edilebilir</a:t>
            </a:r>
            <a:endParaRPr lang="en-US" sz="1500" dirty="0"/>
          </a:p>
          <a:p>
            <a:pPr indent="0" marL="0">
              <a:spcAft>
                <a:spcPts val="600"/>
              </a:spcAft>
              <a:buNone/>
            </a:pPr>
            <a:r>
              <a:rPr lang="en-US" sz="1500" b="1" dirty="0">
                <a:solidFill>
                  <a:srgbClr val="1F2937"/>
                </a:solidFill>
                <a:latin typeface="Calibri" pitchFamily="34" charset="0"/>
                <a:ea typeface="Calibri" pitchFamily="34" charset="-122"/>
                <a:cs typeface="Calibri" pitchFamily="34" charset="-120"/>
              </a:rPr>
              <a:t>Fiyat fotoğrafı (snapshot)</a:t>
            </a:r>
            <a:endParaRPr lang="en-US" sz="1500" dirty="0"/>
          </a:p>
          <a:p>
            <a:pPr indent="0" marL="0">
              <a:spcAft>
                <a:spcPts val="600"/>
              </a:spcAft>
              <a:buNone/>
            </a:pPr>
            <a:r>
              <a:rPr lang="en-US" sz="1250" dirty="0">
                <a:solidFill>
                  <a:srgbClr val="5B6472"/>
                </a:solidFill>
                <a:latin typeface="Calibri" pitchFamily="34" charset="0"/>
                <a:ea typeface="Calibri" pitchFamily="34" charset="-122"/>
                <a:cs typeface="Calibri" pitchFamily="34" charset="-120"/>
              </a:rPr>
              <a:t>teklif anındaki katsayılar saklanır</a:t>
            </a:r>
            <a:endParaRPr lang="en-US" sz="1500" dirty="0"/>
          </a:p>
          <a:p>
            <a:pPr indent="0" marL="0">
              <a:spcAft>
                <a:spcPts val="600"/>
              </a:spcAft>
              <a:buNone/>
            </a:pPr>
            <a:r>
              <a:rPr lang="en-US" sz="1500" b="1" dirty="0">
                <a:solidFill>
                  <a:srgbClr val="1F2937"/>
                </a:solidFill>
                <a:latin typeface="Calibri" pitchFamily="34" charset="0"/>
                <a:ea typeface="Calibri" pitchFamily="34" charset="-122"/>
                <a:cs typeface="Calibri" pitchFamily="34" charset="-120"/>
              </a:rPr>
              <a:t>Sürümlü kurallar</a:t>
            </a:r>
            <a:endParaRPr lang="en-US" sz="1500" dirty="0"/>
          </a:p>
          <a:p>
            <a:pPr indent="0" marL="0">
              <a:spcAft>
                <a:spcPts val="600"/>
              </a:spcAft>
              <a:buNone/>
            </a:pPr>
            <a:r>
              <a:rPr lang="en-US" sz="1250" dirty="0">
                <a:solidFill>
                  <a:srgbClr val="5B6472"/>
                </a:solidFill>
                <a:latin typeface="Calibri" pitchFamily="34" charset="0"/>
                <a:ea typeface="Calibri" pitchFamily="34" charset="-122"/>
                <a:cs typeface="Calibri" pitchFamily="34" charset="-120"/>
              </a:rPr>
              <a:t>geçerlilik tarihiyle v1, v2, v3…</a:t>
            </a:r>
            <a:endParaRPr lang="en-US" sz="1500" dirty="0"/>
          </a:p>
          <a:p>
            <a:pPr indent="0" marL="0">
              <a:spcAft>
                <a:spcPts val="600"/>
              </a:spcAft>
              <a:buNone/>
            </a:pPr>
            <a:r>
              <a:rPr lang="en-US" sz="1500" b="1" dirty="0">
                <a:solidFill>
                  <a:srgbClr val="1F2937"/>
                </a:solidFill>
                <a:latin typeface="Calibri" pitchFamily="34" charset="0"/>
                <a:ea typeface="Calibri" pitchFamily="34" charset="-122"/>
                <a:cs typeface="Calibri" pitchFamily="34" charset="-120"/>
              </a:rPr>
              <a:t>Soft delete + denetim izi</a:t>
            </a:r>
            <a:endParaRPr lang="en-US" sz="1500" dirty="0"/>
          </a:p>
          <a:p>
            <a:pPr indent="0" marL="0">
              <a:spcAft>
                <a:spcPts val="600"/>
              </a:spcAft>
              <a:buNone/>
            </a:pPr>
            <a:r>
              <a:rPr lang="en-US" sz="1250" dirty="0">
                <a:solidFill>
                  <a:srgbClr val="5B6472"/>
                </a:solidFill>
                <a:latin typeface="Calibri" pitchFamily="34" charset="0"/>
                <a:ea typeface="Calibri" pitchFamily="34" charset="-122"/>
                <a:cs typeface="Calibri" pitchFamily="34" charset="-120"/>
              </a:rPr>
              <a:t>kayıt silinmez, kim/ne zaman tutulur</a:t>
            </a:r>
            <a:endParaRPr lang="en-US" sz="1500" dirty="0"/>
          </a:p>
          <a:p>
            <a:pPr indent="0" marL="0">
              <a:spcAft>
                <a:spcPts val="600"/>
              </a:spcAft>
              <a:buNone/>
            </a:pPr>
            <a:r>
              <a:rPr lang="en-US" sz="1500" b="1" dirty="0">
                <a:solidFill>
                  <a:srgbClr val="1F2937"/>
                </a:solidFill>
                <a:latin typeface="Calibri" pitchFamily="34" charset="0"/>
                <a:ea typeface="Calibri" pitchFamily="34" charset="-122"/>
                <a:cs typeface="Calibri" pitchFamily="34" charset="-120"/>
              </a:rPr>
              <a:t>Optimistic concurrency</a:t>
            </a:r>
            <a:endParaRPr lang="en-US" sz="1500" dirty="0"/>
          </a:p>
          <a:p>
            <a:pPr indent="0" marL="0">
              <a:spcAft>
                <a:spcPts val="600"/>
              </a:spcAft>
              <a:buNone/>
            </a:pPr>
            <a:r>
              <a:rPr lang="en-US" sz="1250" dirty="0">
                <a:solidFill>
                  <a:srgbClr val="5B6472"/>
                </a:solidFill>
                <a:latin typeface="Calibri" pitchFamily="34" charset="0"/>
                <a:ea typeface="Calibri" pitchFamily="34" charset="-122"/>
                <a:cs typeface="Calibri" pitchFamily="34" charset="-120"/>
              </a:rPr>
              <a:t>eşzamanlı güncelleme çakışması engellenir</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2F7"/>
        </a:solidFill>
      </p:bgPr>
    </p:bg>
    <p:spTree>
      <p:nvGrpSpPr>
        <p:cNvPr id="1" name=""/>
        <p:cNvGrpSpPr/>
        <p:nvPr/>
      </p:nvGrpSpPr>
      <p:grpSpPr>
        <a:xfrm>
          <a:off x="0" y="0"/>
          <a:ext cx="0" cy="0"/>
          <a:chOff x="0" y="0"/>
          <a:chExt cx="0" cy="0"/>
        </a:xfrm>
      </p:grpSpPr>
      <p:sp>
        <p:nvSpPr>
          <p:cNvPr id="2" name="Shape 0"/>
          <p:cNvSpPr/>
          <p:nvPr/>
        </p:nvSpPr>
        <p:spPr>
          <a:xfrm>
            <a:off x="548640" y="384048"/>
            <a:ext cx="1353312" cy="329184"/>
          </a:xfrm>
          <a:prstGeom prst="roundRect">
            <a:avLst>
              <a:gd name="adj" fmla="val 50000"/>
            </a:avLst>
          </a:prstGeom>
          <a:solidFill>
            <a:srgbClr val="0A2545"/>
          </a:solidFill>
          <a:ln w="12700">
            <a:solidFill>
              <a:srgbClr val="0A2545"/>
            </a:solidFill>
            <a:prstDash val="solid"/>
          </a:ln>
        </p:spPr>
      </p:sp>
      <p:sp>
        <p:nvSpPr>
          <p:cNvPr id="3" name="Text 1"/>
          <p:cNvSpPr txBox="1"/>
          <p:nvPr/>
        </p:nvSpPr>
        <p:spPr>
          <a:xfrm>
            <a:off x="548640" y="384048"/>
            <a:ext cx="1353312"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FİYAT MOTORU</a:t>
            </a:r>
            <a:endParaRPr lang="en-US" sz="1100" dirty="0"/>
          </a:p>
        </p:txBody>
      </p:sp>
      <p:sp>
        <p:nvSpPr>
          <p:cNvPr id="4" name="Text 2"/>
          <p:cNvSpPr txBox="1"/>
          <p:nvPr/>
        </p:nvSpPr>
        <p:spPr>
          <a:xfrm>
            <a:off x="548640" y="786384"/>
            <a:ext cx="11094415" cy="731520"/>
          </a:xfrm>
          <a:prstGeom prst="rect">
            <a:avLst/>
          </a:prstGeom>
          <a:noFill/>
          <a:ln/>
        </p:spPr>
        <p:txBody>
          <a:bodyPr wrap="square" lIns="0" tIns="0" rIns="0" bIns="0" rtlCol="0" anchor="ctr"/>
          <a:lstStyle/>
          <a:p>
            <a:pPr indent="0" marL="0">
              <a:buNone/>
            </a:pPr>
            <a:r>
              <a:rPr lang="en-US" sz="3000" b="1" dirty="0">
                <a:solidFill>
                  <a:srgbClr val="0A2545"/>
                </a:solidFill>
                <a:latin typeface="Arial" pitchFamily="34" charset="0"/>
                <a:ea typeface="Arial" pitchFamily="34" charset="-122"/>
                <a:cs typeface="Arial" pitchFamily="34" charset="-120"/>
              </a:rPr>
              <a:t>Prim nasıl hesaplanıyor?</a:t>
            </a:r>
            <a:endParaRPr lang="en-US" sz="3000" dirty="0"/>
          </a:p>
        </p:txBody>
      </p:sp>
      <p:sp>
        <p:nvSpPr>
          <p:cNvPr id="5" name="Text 3"/>
          <p:cNvSpPr txBox="1"/>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7 / 16</a:t>
            </a:r>
            <a:endParaRPr lang="en-US" sz="1000" dirty="0"/>
          </a:p>
        </p:txBody>
      </p:sp>
      <p:sp>
        <p:nvSpPr>
          <p:cNvPr id="6" name="Shape 4"/>
          <p:cNvSpPr/>
          <p:nvPr/>
        </p:nvSpPr>
        <p:spPr>
          <a:xfrm>
            <a:off x="548640" y="1737360"/>
            <a:ext cx="11094415" cy="1143000"/>
          </a:xfrm>
          <a:prstGeom prst="roundRect">
            <a:avLst>
              <a:gd name="adj" fmla="val 9600"/>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7" name="Shape 5"/>
          <p:cNvSpPr/>
          <p:nvPr/>
        </p:nvSpPr>
        <p:spPr>
          <a:xfrm>
            <a:off x="908456" y="2103120"/>
            <a:ext cx="1024128" cy="420624"/>
          </a:xfrm>
          <a:prstGeom prst="roundRect">
            <a:avLst>
              <a:gd name="adj" fmla="val 50000"/>
            </a:avLst>
          </a:prstGeom>
          <a:solidFill>
            <a:srgbClr val="0A2545"/>
          </a:solidFill>
          <a:ln w="12700">
            <a:solidFill>
              <a:srgbClr val="0A2545"/>
            </a:solidFill>
            <a:prstDash val="solid"/>
          </a:ln>
        </p:spPr>
      </p:sp>
      <p:sp>
        <p:nvSpPr>
          <p:cNvPr id="8" name="Text 6"/>
          <p:cNvSpPr txBox="1"/>
          <p:nvPr/>
        </p:nvSpPr>
        <p:spPr>
          <a:xfrm>
            <a:off x="908456" y="2103120"/>
            <a:ext cx="1024128"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TSB Değeri</a:t>
            </a:r>
            <a:endParaRPr lang="en-US" sz="1250" dirty="0"/>
          </a:p>
        </p:txBody>
      </p:sp>
      <p:sp>
        <p:nvSpPr>
          <p:cNvPr id="9" name="Text 7"/>
          <p:cNvSpPr txBox="1"/>
          <p:nvPr/>
        </p:nvSpPr>
        <p:spPr>
          <a:xfrm>
            <a:off x="1932584" y="2103120"/>
            <a:ext cx="201168" cy="420624"/>
          </a:xfrm>
          <a:prstGeom prst="rect">
            <a:avLst/>
          </a:prstGeom>
          <a:noFill/>
          <a:ln/>
        </p:spPr>
        <p:txBody>
          <a:bodyPr wrap="square" lIns="0" tIns="0" rIns="0" bIns="0" rtlCol="0" anchor="ctr"/>
          <a:lstStyle/>
          <a:p>
            <a:pPr algn="ctr" indent="0" marL="0">
              <a:buNone/>
            </a:pPr>
            <a:r>
              <a:rPr lang="en-US" sz="1600" b="1" dirty="0">
                <a:solidFill>
                  <a:srgbClr val="5B6472"/>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133752" y="2103120"/>
            <a:ext cx="1024128" cy="420624"/>
          </a:xfrm>
          <a:prstGeom prst="roundRect">
            <a:avLst>
              <a:gd name="adj" fmla="val 50000"/>
            </a:avLst>
          </a:prstGeom>
          <a:solidFill>
            <a:srgbClr val="0A2545"/>
          </a:solidFill>
          <a:ln w="12700">
            <a:solidFill>
              <a:srgbClr val="0A2545"/>
            </a:solidFill>
            <a:prstDash val="solid"/>
          </a:ln>
        </p:spPr>
      </p:sp>
      <p:sp>
        <p:nvSpPr>
          <p:cNvPr id="11" name="Text 9"/>
          <p:cNvSpPr txBox="1"/>
          <p:nvPr/>
        </p:nvSpPr>
        <p:spPr>
          <a:xfrm>
            <a:off x="2133752" y="2103120"/>
            <a:ext cx="1024128"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Temel Oran</a:t>
            </a:r>
            <a:endParaRPr lang="en-US" sz="1250" dirty="0"/>
          </a:p>
        </p:txBody>
      </p:sp>
      <p:sp>
        <p:nvSpPr>
          <p:cNvPr id="12" name="Text 10"/>
          <p:cNvSpPr txBox="1"/>
          <p:nvPr/>
        </p:nvSpPr>
        <p:spPr>
          <a:xfrm>
            <a:off x="3157880" y="2103120"/>
            <a:ext cx="201168" cy="420624"/>
          </a:xfrm>
          <a:prstGeom prst="rect">
            <a:avLst/>
          </a:prstGeom>
          <a:noFill/>
          <a:ln/>
        </p:spPr>
        <p:txBody>
          <a:bodyPr wrap="square" lIns="0" tIns="0" rIns="0" bIns="0" rtlCol="0" anchor="ctr"/>
          <a:lstStyle/>
          <a:p>
            <a:pPr algn="ctr" indent="0" marL="0">
              <a:buNone/>
            </a:pPr>
            <a:r>
              <a:rPr lang="en-US" sz="1600" b="1" dirty="0">
                <a:solidFill>
                  <a:srgbClr val="5B6472"/>
                </a:solidFill>
                <a:latin typeface="Arial" pitchFamily="34" charset="0"/>
                <a:ea typeface="Arial" pitchFamily="34" charset="-122"/>
                <a:cs typeface="Arial" pitchFamily="34" charset="-120"/>
              </a:rPr>
              <a:t>×</a:t>
            </a:r>
            <a:endParaRPr lang="en-US" sz="1600" dirty="0"/>
          </a:p>
        </p:txBody>
      </p:sp>
      <p:sp>
        <p:nvSpPr>
          <p:cNvPr id="13" name="Shape 11"/>
          <p:cNvSpPr/>
          <p:nvPr/>
        </p:nvSpPr>
        <p:spPr>
          <a:xfrm>
            <a:off x="3359048" y="2103120"/>
            <a:ext cx="945490" cy="420624"/>
          </a:xfrm>
          <a:prstGeom prst="roundRect">
            <a:avLst>
              <a:gd name="adj" fmla="val 50000"/>
            </a:avLst>
          </a:prstGeom>
          <a:solidFill>
            <a:srgbClr val="1D6FF2"/>
          </a:solidFill>
          <a:ln w="12700">
            <a:solidFill>
              <a:srgbClr val="1D6FF2"/>
            </a:solidFill>
            <a:prstDash val="solid"/>
          </a:ln>
        </p:spPr>
      </p:sp>
      <p:sp>
        <p:nvSpPr>
          <p:cNvPr id="14" name="Text 12"/>
          <p:cNvSpPr txBox="1"/>
          <p:nvPr/>
        </p:nvSpPr>
        <p:spPr>
          <a:xfrm>
            <a:off x="3359048" y="2103120"/>
            <a:ext cx="945490"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Araç Yaşı</a:t>
            </a:r>
            <a:endParaRPr lang="en-US" sz="1250" dirty="0"/>
          </a:p>
        </p:txBody>
      </p:sp>
      <p:sp>
        <p:nvSpPr>
          <p:cNvPr id="15" name="Text 13"/>
          <p:cNvSpPr txBox="1"/>
          <p:nvPr/>
        </p:nvSpPr>
        <p:spPr>
          <a:xfrm>
            <a:off x="4304538" y="2103120"/>
            <a:ext cx="201168" cy="420624"/>
          </a:xfrm>
          <a:prstGeom prst="rect">
            <a:avLst/>
          </a:prstGeom>
          <a:noFill/>
          <a:ln/>
        </p:spPr>
        <p:txBody>
          <a:bodyPr wrap="square" lIns="0" tIns="0" rIns="0" bIns="0" rtlCol="0" anchor="ctr"/>
          <a:lstStyle/>
          <a:p>
            <a:pPr algn="ctr" indent="0" marL="0">
              <a:buNone/>
            </a:pPr>
            <a:r>
              <a:rPr lang="en-US" sz="1600" b="1" dirty="0">
                <a:solidFill>
                  <a:srgbClr val="5B6472"/>
                </a:solidFill>
                <a:latin typeface="Arial" pitchFamily="34" charset="0"/>
                <a:ea typeface="Arial" pitchFamily="34" charset="-122"/>
                <a:cs typeface="Arial" pitchFamily="34" charset="-120"/>
              </a:rPr>
              <a:t>×</a:t>
            </a:r>
            <a:endParaRPr lang="en-US" sz="1600" dirty="0"/>
          </a:p>
        </p:txBody>
      </p:sp>
      <p:sp>
        <p:nvSpPr>
          <p:cNvPr id="16" name="Shape 14"/>
          <p:cNvSpPr/>
          <p:nvPr/>
        </p:nvSpPr>
        <p:spPr>
          <a:xfrm>
            <a:off x="4505706" y="2103120"/>
            <a:ext cx="866851" cy="420624"/>
          </a:xfrm>
          <a:prstGeom prst="roundRect">
            <a:avLst>
              <a:gd name="adj" fmla="val 50000"/>
            </a:avLst>
          </a:prstGeom>
          <a:solidFill>
            <a:srgbClr val="1D6FF2"/>
          </a:solidFill>
          <a:ln w="12700">
            <a:solidFill>
              <a:srgbClr val="1D6FF2"/>
            </a:solidFill>
            <a:prstDash val="solid"/>
          </a:ln>
        </p:spPr>
      </p:sp>
      <p:sp>
        <p:nvSpPr>
          <p:cNvPr id="17" name="Text 15"/>
          <p:cNvSpPr txBox="1"/>
          <p:nvPr/>
        </p:nvSpPr>
        <p:spPr>
          <a:xfrm>
            <a:off x="4505706" y="2103120"/>
            <a:ext cx="866851"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Kullanım</a:t>
            </a:r>
            <a:endParaRPr lang="en-US" sz="1250" dirty="0"/>
          </a:p>
        </p:txBody>
      </p:sp>
      <p:sp>
        <p:nvSpPr>
          <p:cNvPr id="18" name="Text 16"/>
          <p:cNvSpPr txBox="1"/>
          <p:nvPr/>
        </p:nvSpPr>
        <p:spPr>
          <a:xfrm>
            <a:off x="5372557" y="2103120"/>
            <a:ext cx="201168" cy="420624"/>
          </a:xfrm>
          <a:prstGeom prst="rect">
            <a:avLst/>
          </a:prstGeom>
          <a:noFill/>
          <a:ln/>
        </p:spPr>
        <p:txBody>
          <a:bodyPr wrap="square" lIns="0" tIns="0" rIns="0" bIns="0" rtlCol="0" anchor="ctr"/>
          <a:lstStyle/>
          <a:p>
            <a:pPr algn="ctr" indent="0" marL="0">
              <a:buNone/>
            </a:pPr>
            <a:r>
              <a:rPr lang="en-US" sz="1600" b="1" dirty="0">
                <a:solidFill>
                  <a:srgbClr val="5B6472"/>
                </a:solidFill>
                <a:latin typeface="Arial" pitchFamily="34" charset="0"/>
                <a:ea typeface="Arial" pitchFamily="34" charset="-122"/>
                <a:cs typeface="Arial" pitchFamily="34" charset="-120"/>
              </a:rPr>
              <a:t>×</a:t>
            </a:r>
            <a:endParaRPr lang="en-US" sz="1600" dirty="0"/>
          </a:p>
        </p:txBody>
      </p:sp>
      <p:sp>
        <p:nvSpPr>
          <p:cNvPr id="19" name="Shape 17"/>
          <p:cNvSpPr/>
          <p:nvPr/>
        </p:nvSpPr>
        <p:spPr>
          <a:xfrm>
            <a:off x="5573725" y="2103120"/>
            <a:ext cx="630936" cy="420624"/>
          </a:xfrm>
          <a:prstGeom prst="roundRect">
            <a:avLst>
              <a:gd name="adj" fmla="val 50000"/>
            </a:avLst>
          </a:prstGeom>
          <a:solidFill>
            <a:srgbClr val="1D6FF2"/>
          </a:solidFill>
          <a:ln w="12700">
            <a:solidFill>
              <a:srgbClr val="1D6FF2"/>
            </a:solidFill>
            <a:prstDash val="solid"/>
          </a:ln>
        </p:spPr>
      </p:sp>
      <p:sp>
        <p:nvSpPr>
          <p:cNvPr id="20" name="Text 18"/>
          <p:cNvSpPr txBox="1"/>
          <p:nvPr/>
        </p:nvSpPr>
        <p:spPr>
          <a:xfrm>
            <a:off x="5573725" y="2103120"/>
            <a:ext cx="630936"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Hasar</a:t>
            </a:r>
            <a:endParaRPr lang="en-US" sz="1250" dirty="0"/>
          </a:p>
        </p:txBody>
      </p:sp>
      <p:sp>
        <p:nvSpPr>
          <p:cNvPr id="21" name="Text 19"/>
          <p:cNvSpPr txBox="1"/>
          <p:nvPr/>
        </p:nvSpPr>
        <p:spPr>
          <a:xfrm>
            <a:off x="6204661" y="2103120"/>
            <a:ext cx="201168" cy="420624"/>
          </a:xfrm>
          <a:prstGeom prst="rect">
            <a:avLst/>
          </a:prstGeom>
          <a:noFill/>
          <a:ln/>
        </p:spPr>
        <p:txBody>
          <a:bodyPr wrap="square" lIns="0" tIns="0" rIns="0" bIns="0" rtlCol="0" anchor="ctr"/>
          <a:lstStyle/>
          <a:p>
            <a:pPr algn="ctr" indent="0" marL="0">
              <a:buNone/>
            </a:pPr>
            <a:r>
              <a:rPr lang="en-US" sz="1600" b="1" dirty="0">
                <a:solidFill>
                  <a:srgbClr val="5B6472"/>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6405829" y="2103120"/>
            <a:ext cx="709574" cy="420624"/>
          </a:xfrm>
          <a:prstGeom prst="roundRect">
            <a:avLst>
              <a:gd name="adj" fmla="val 50000"/>
            </a:avLst>
          </a:prstGeom>
          <a:solidFill>
            <a:srgbClr val="1D6FF2"/>
          </a:solidFill>
          <a:ln w="12700">
            <a:solidFill>
              <a:srgbClr val="1D6FF2"/>
            </a:solidFill>
            <a:prstDash val="solid"/>
          </a:ln>
        </p:spPr>
      </p:sp>
      <p:sp>
        <p:nvSpPr>
          <p:cNvPr id="23" name="Text 21"/>
          <p:cNvSpPr txBox="1"/>
          <p:nvPr/>
        </p:nvSpPr>
        <p:spPr>
          <a:xfrm>
            <a:off x="6405829" y="2103120"/>
            <a:ext cx="709574"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Sürücü</a:t>
            </a:r>
            <a:endParaRPr lang="en-US" sz="1250" dirty="0"/>
          </a:p>
        </p:txBody>
      </p:sp>
      <p:sp>
        <p:nvSpPr>
          <p:cNvPr id="24" name="Text 22"/>
          <p:cNvSpPr txBox="1"/>
          <p:nvPr/>
        </p:nvSpPr>
        <p:spPr>
          <a:xfrm>
            <a:off x="7115404" y="2103120"/>
            <a:ext cx="201168" cy="420624"/>
          </a:xfrm>
          <a:prstGeom prst="rect">
            <a:avLst/>
          </a:prstGeom>
          <a:noFill/>
          <a:ln/>
        </p:spPr>
        <p:txBody>
          <a:bodyPr wrap="square" lIns="0" tIns="0" rIns="0" bIns="0" rtlCol="0" anchor="ctr"/>
          <a:lstStyle/>
          <a:p>
            <a:pPr algn="ctr" indent="0" marL="0">
              <a:buNone/>
            </a:pPr>
            <a:r>
              <a:rPr lang="en-US" sz="1600" b="1" dirty="0">
                <a:solidFill>
                  <a:srgbClr val="5B6472"/>
                </a:solidFill>
                <a:latin typeface="Arial" pitchFamily="34" charset="0"/>
                <a:ea typeface="Arial" pitchFamily="34" charset="-122"/>
                <a:cs typeface="Arial" pitchFamily="34" charset="-120"/>
              </a:rPr>
              <a:t>×</a:t>
            </a:r>
            <a:endParaRPr lang="en-US" sz="1600" dirty="0"/>
          </a:p>
        </p:txBody>
      </p:sp>
      <p:sp>
        <p:nvSpPr>
          <p:cNvPr id="25" name="Shape 23"/>
          <p:cNvSpPr/>
          <p:nvPr/>
        </p:nvSpPr>
        <p:spPr>
          <a:xfrm>
            <a:off x="7316572" y="2103120"/>
            <a:ext cx="630936" cy="420624"/>
          </a:xfrm>
          <a:prstGeom prst="roundRect">
            <a:avLst>
              <a:gd name="adj" fmla="val 50000"/>
            </a:avLst>
          </a:prstGeom>
          <a:solidFill>
            <a:srgbClr val="1D6FF2"/>
          </a:solidFill>
          <a:ln w="12700">
            <a:solidFill>
              <a:srgbClr val="1D6FF2"/>
            </a:solidFill>
            <a:prstDash val="solid"/>
          </a:ln>
        </p:spPr>
      </p:sp>
      <p:sp>
        <p:nvSpPr>
          <p:cNvPr id="26" name="Text 24"/>
          <p:cNvSpPr txBox="1"/>
          <p:nvPr/>
        </p:nvSpPr>
        <p:spPr>
          <a:xfrm>
            <a:off x="7316572" y="2103120"/>
            <a:ext cx="630936"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Bölge</a:t>
            </a:r>
            <a:endParaRPr lang="en-US" sz="1250" dirty="0"/>
          </a:p>
        </p:txBody>
      </p:sp>
      <p:sp>
        <p:nvSpPr>
          <p:cNvPr id="27" name="Text 25"/>
          <p:cNvSpPr txBox="1"/>
          <p:nvPr/>
        </p:nvSpPr>
        <p:spPr>
          <a:xfrm>
            <a:off x="7947508" y="2103120"/>
            <a:ext cx="201168" cy="420624"/>
          </a:xfrm>
          <a:prstGeom prst="rect">
            <a:avLst/>
          </a:prstGeom>
          <a:noFill/>
          <a:ln/>
        </p:spPr>
        <p:txBody>
          <a:bodyPr wrap="square" lIns="0" tIns="0" rIns="0" bIns="0" rtlCol="0" anchor="ctr"/>
          <a:lstStyle/>
          <a:p>
            <a:pPr algn="ctr" indent="0" marL="0">
              <a:buNone/>
            </a:pPr>
            <a:r>
              <a:rPr lang="en-US" sz="1600" b="1" dirty="0">
                <a:solidFill>
                  <a:srgbClr val="5B6472"/>
                </a:solidFill>
                <a:latin typeface="Arial" pitchFamily="34" charset="0"/>
                <a:ea typeface="Arial" pitchFamily="34" charset="-122"/>
                <a:cs typeface="Arial" pitchFamily="34" charset="-120"/>
              </a:rPr>
              <a:t>×</a:t>
            </a:r>
            <a:endParaRPr lang="en-US" sz="1600" dirty="0"/>
          </a:p>
        </p:txBody>
      </p:sp>
      <p:sp>
        <p:nvSpPr>
          <p:cNvPr id="28" name="Shape 26"/>
          <p:cNvSpPr/>
          <p:nvPr/>
        </p:nvSpPr>
        <p:spPr>
          <a:xfrm>
            <a:off x="8148676" y="2103120"/>
            <a:ext cx="630936" cy="420624"/>
          </a:xfrm>
          <a:prstGeom prst="roundRect">
            <a:avLst>
              <a:gd name="adj" fmla="val 50000"/>
            </a:avLst>
          </a:prstGeom>
          <a:solidFill>
            <a:srgbClr val="1D6FF2"/>
          </a:solidFill>
          <a:ln w="12700">
            <a:solidFill>
              <a:srgbClr val="1D6FF2"/>
            </a:solidFill>
            <a:prstDash val="solid"/>
          </a:ln>
        </p:spPr>
      </p:sp>
      <p:sp>
        <p:nvSpPr>
          <p:cNvPr id="29" name="Text 27"/>
          <p:cNvSpPr txBox="1"/>
          <p:nvPr/>
        </p:nvSpPr>
        <p:spPr>
          <a:xfrm>
            <a:off x="8148676" y="2103120"/>
            <a:ext cx="630936"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Paket</a:t>
            </a:r>
            <a:endParaRPr lang="en-US" sz="1250" dirty="0"/>
          </a:p>
        </p:txBody>
      </p:sp>
      <p:sp>
        <p:nvSpPr>
          <p:cNvPr id="30" name="Text 28"/>
          <p:cNvSpPr txBox="1"/>
          <p:nvPr/>
        </p:nvSpPr>
        <p:spPr>
          <a:xfrm>
            <a:off x="8779612" y="2103120"/>
            <a:ext cx="201168" cy="420624"/>
          </a:xfrm>
          <a:prstGeom prst="rect">
            <a:avLst/>
          </a:prstGeom>
          <a:noFill/>
          <a:ln/>
        </p:spPr>
        <p:txBody>
          <a:bodyPr wrap="square" lIns="0" tIns="0" rIns="0" bIns="0" rtlCol="0" anchor="ctr"/>
          <a:lstStyle/>
          <a:p>
            <a:pPr algn="ctr" indent="0" marL="0">
              <a:buNone/>
            </a:pPr>
            <a:r>
              <a:rPr lang="en-US" sz="1600" b="1" dirty="0">
                <a:solidFill>
                  <a:srgbClr val="5B6472"/>
                </a:solidFill>
                <a:latin typeface="Arial" pitchFamily="34" charset="0"/>
                <a:ea typeface="Arial" pitchFamily="34" charset="-122"/>
                <a:cs typeface="Arial" pitchFamily="34" charset="-120"/>
              </a:rPr>
              <a:t>×</a:t>
            </a:r>
            <a:endParaRPr lang="en-US" sz="1600" dirty="0"/>
          </a:p>
        </p:txBody>
      </p:sp>
      <p:sp>
        <p:nvSpPr>
          <p:cNvPr id="31" name="Shape 29"/>
          <p:cNvSpPr/>
          <p:nvPr/>
        </p:nvSpPr>
        <p:spPr>
          <a:xfrm>
            <a:off x="8980780" y="2103120"/>
            <a:ext cx="866851" cy="420624"/>
          </a:xfrm>
          <a:prstGeom prst="roundRect">
            <a:avLst>
              <a:gd name="adj" fmla="val 50000"/>
            </a:avLst>
          </a:prstGeom>
          <a:solidFill>
            <a:srgbClr val="1D6FF2"/>
          </a:solidFill>
          <a:ln w="12700">
            <a:solidFill>
              <a:srgbClr val="1D6FF2"/>
            </a:solidFill>
            <a:prstDash val="solid"/>
          </a:ln>
        </p:spPr>
      </p:sp>
      <p:sp>
        <p:nvSpPr>
          <p:cNvPr id="32" name="Text 30"/>
          <p:cNvSpPr txBox="1"/>
          <p:nvPr/>
        </p:nvSpPr>
        <p:spPr>
          <a:xfrm>
            <a:off x="8980780" y="2103120"/>
            <a:ext cx="866851"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Muafiyet</a:t>
            </a:r>
            <a:endParaRPr lang="en-US" sz="1250" dirty="0"/>
          </a:p>
        </p:txBody>
      </p:sp>
      <p:sp>
        <p:nvSpPr>
          <p:cNvPr id="33" name="Text 31"/>
          <p:cNvSpPr txBox="1"/>
          <p:nvPr/>
        </p:nvSpPr>
        <p:spPr>
          <a:xfrm>
            <a:off x="9847631" y="2103120"/>
            <a:ext cx="201168" cy="420624"/>
          </a:xfrm>
          <a:prstGeom prst="rect">
            <a:avLst/>
          </a:prstGeom>
          <a:noFill/>
          <a:ln/>
        </p:spPr>
        <p:txBody>
          <a:bodyPr wrap="square" lIns="0" tIns="0" rIns="0" bIns="0" rtlCol="0" anchor="ctr"/>
          <a:lstStyle/>
          <a:p>
            <a:pPr algn="ctr" indent="0" marL="0">
              <a:buNone/>
            </a:pPr>
            <a:r>
              <a:rPr lang="en-US" sz="1600" b="1" dirty="0">
                <a:solidFill>
                  <a:srgbClr val="5B6472"/>
                </a:solidFill>
                <a:latin typeface="Arial" pitchFamily="34" charset="0"/>
                <a:ea typeface="Arial" pitchFamily="34" charset="-122"/>
                <a:cs typeface="Arial" pitchFamily="34" charset="-120"/>
              </a:rPr>
              <a:t>+</a:t>
            </a:r>
            <a:endParaRPr lang="en-US" sz="1600" dirty="0"/>
          </a:p>
        </p:txBody>
      </p:sp>
      <p:sp>
        <p:nvSpPr>
          <p:cNvPr id="34" name="Shape 32"/>
          <p:cNvSpPr/>
          <p:nvPr/>
        </p:nvSpPr>
        <p:spPr>
          <a:xfrm>
            <a:off x="10048799" y="2103120"/>
            <a:ext cx="1234440" cy="420624"/>
          </a:xfrm>
          <a:prstGeom prst="roundRect">
            <a:avLst>
              <a:gd name="adj" fmla="val 50000"/>
            </a:avLst>
          </a:prstGeom>
          <a:solidFill>
            <a:srgbClr val="16A34A"/>
          </a:solidFill>
          <a:ln w="12700">
            <a:solidFill>
              <a:srgbClr val="16A34A"/>
            </a:solidFill>
            <a:prstDash val="solid"/>
          </a:ln>
        </p:spPr>
      </p:sp>
      <p:sp>
        <p:nvSpPr>
          <p:cNvPr id="35" name="Text 33"/>
          <p:cNvSpPr txBox="1"/>
          <p:nvPr/>
        </p:nvSpPr>
        <p:spPr>
          <a:xfrm>
            <a:off x="10048799" y="2103120"/>
            <a:ext cx="1234440"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Teminat ekleri</a:t>
            </a:r>
            <a:endParaRPr lang="en-US" sz="1250" dirty="0"/>
          </a:p>
        </p:txBody>
      </p:sp>
      <p:sp>
        <p:nvSpPr>
          <p:cNvPr id="36" name="Shape 34"/>
          <p:cNvSpPr/>
          <p:nvPr/>
        </p:nvSpPr>
        <p:spPr>
          <a:xfrm>
            <a:off x="548640" y="3108960"/>
            <a:ext cx="2596896" cy="1143000"/>
          </a:xfrm>
          <a:prstGeom prst="roundRect">
            <a:avLst>
              <a:gd name="adj" fmla="val 9600"/>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37" name="Text 35"/>
          <p:cNvSpPr txBox="1"/>
          <p:nvPr/>
        </p:nvSpPr>
        <p:spPr>
          <a:xfrm>
            <a:off x="749808" y="3236976"/>
            <a:ext cx="2231136" cy="320040"/>
          </a:xfrm>
          <a:prstGeom prst="rect">
            <a:avLst/>
          </a:prstGeom>
          <a:noFill/>
          <a:ln/>
        </p:spPr>
        <p:txBody>
          <a:bodyPr wrap="square" lIns="0" tIns="0" rIns="0" bIns="0" rtlCol="0" anchor="ctr"/>
          <a:lstStyle/>
          <a:p>
            <a:pPr indent="0" marL="0">
              <a:buNone/>
            </a:pPr>
            <a:r>
              <a:rPr lang="en-US" sz="1400" b="1" dirty="0">
                <a:solidFill>
                  <a:srgbClr val="0A2545"/>
                </a:solidFill>
                <a:latin typeface="Arial" pitchFamily="34" charset="0"/>
                <a:ea typeface="Arial" pitchFamily="34" charset="-122"/>
                <a:cs typeface="Arial" pitchFamily="34" charset="-120"/>
              </a:rPr>
              <a:t>Temel oran</a:t>
            </a:r>
            <a:endParaRPr lang="en-US" sz="1400" dirty="0"/>
          </a:p>
        </p:txBody>
      </p:sp>
      <p:sp>
        <p:nvSpPr>
          <p:cNvPr id="38" name="Text 36"/>
          <p:cNvSpPr txBox="1"/>
          <p:nvPr/>
        </p:nvSpPr>
        <p:spPr>
          <a:xfrm>
            <a:off x="749808" y="3584448"/>
            <a:ext cx="2276856" cy="566928"/>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v1 %2,00 → v2 %2,15</a:t>
            </a:r>
            <a:endParaRPr lang="en-US" sz="1250" dirty="0"/>
          </a:p>
          <a:p>
            <a:pPr indent="0" marL="0">
              <a:buNone/>
            </a:pPr>
            <a:r>
              <a:rPr lang="en-US" sz="1250" dirty="0">
                <a:solidFill>
                  <a:srgbClr val="5B6472"/>
                </a:solidFill>
                <a:latin typeface="Calibri" pitchFamily="34" charset="0"/>
                <a:ea typeface="Calibri" pitchFamily="34" charset="-122"/>
                <a:cs typeface="Calibri" pitchFamily="34" charset="-120"/>
              </a:rPr>
              <a:t>tarihe göre sürüm seçilir</a:t>
            </a:r>
            <a:endParaRPr lang="en-US" sz="1250" dirty="0"/>
          </a:p>
        </p:txBody>
      </p:sp>
      <p:sp>
        <p:nvSpPr>
          <p:cNvPr id="39" name="Shape 37"/>
          <p:cNvSpPr/>
          <p:nvPr/>
        </p:nvSpPr>
        <p:spPr>
          <a:xfrm>
            <a:off x="3328416" y="3108960"/>
            <a:ext cx="2596896" cy="1143000"/>
          </a:xfrm>
          <a:prstGeom prst="roundRect">
            <a:avLst>
              <a:gd name="adj" fmla="val 9600"/>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40" name="Text 38"/>
          <p:cNvSpPr txBox="1"/>
          <p:nvPr/>
        </p:nvSpPr>
        <p:spPr>
          <a:xfrm>
            <a:off x="3529584" y="3236976"/>
            <a:ext cx="2231136" cy="320040"/>
          </a:xfrm>
          <a:prstGeom prst="rect">
            <a:avLst/>
          </a:prstGeom>
          <a:noFill/>
          <a:ln/>
        </p:spPr>
        <p:txBody>
          <a:bodyPr wrap="square" lIns="0" tIns="0" rIns="0" bIns="0" rtlCol="0" anchor="ctr"/>
          <a:lstStyle/>
          <a:p>
            <a:pPr indent="0" marL="0">
              <a:buNone/>
            </a:pPr>
            <a:r>
              <a:rPr lang="en-US" sz="1400" b="1" dirty="0">
                <a:solidFill>
                  <a:srgbClr val="0A2545"/>
                </a:solidFill>
                <a:latin typeface="Arial" pitchFamily="34" charset="0"/>
                <a:ea typeface="Arial" pitchFamily="34" charset="-122"/>
                <a:cs typeface="Arial" pitchFamily="34" charset="-120"/>
              </a:rPr>
              <a:t>Araç yaşı</a:t>
            </a:r>
            <a:endParaRPr lang="en-US" sz="1400" dirty="0"/>
          </a:p>
        </p:txBody>
      </p:sp>
      <p:sp>
        <p:nvSpPr>
          <p:cNvPr id="41" name="Text 39"/>
          <p:cNvSpPr txBox="1"/>
          <p:nvPr/>
        </p:nvSpPr>
        <p:spPr>
          <a:xfrm>
            <a:off x="3529584" y="3584448"/>
            <a:ext cx="2276856" cy="566928"/>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0-2 yaş ×1,10</a:t>
            </a:r>
            <a:endParaRPr lang="en-US" sz="1250" dirty="0"/>
          </a:p>
          <a:p>
            <a:pPr indent="0" marL="0">
              <a:buNone/>
            </a:pPr>
            <a:r>
              <a:rPr lang="en-US" sz="1250" dirty="0">
                <a:solidFill>
                  <a:srgbClr val="5B6472"/>
                </a:solidFill>
                <a:latin typeface="Calibri" pitchFamily="34" charset="0"/>
                <a:ea typeface="Calibri" pitchFamily="34" charset="-122"/>
                <a:cs typeface="Calibri" pitchFamily="34" charset="-120"/>
              </a:rPr>
              <a:t>13-15 yaş ×1,50</a:t>
            </a:r>
            <a:endParaRPr lang="en-US" sz="1250" dirty="0"/>
          </a:p>
        </p:txBody>
      </p:sp>
      <p:sp>
        <p:nvSpPr>
          <p:cNvPr id="42" name="Shape 40"/>
          <p:cNvSpPr/>
          <p:nvPr/>
        </p:nvSpPr>
        <p:spPr>
          <a:xfrm>
            <a:off x="6108192" y="3108960"/>
            <a:ext cx="2596896" cy="1143000"/>
          </a:xfrm>
          <a:prstGeom prst="roundRect">
            <a:avLst>
              <a:gd name="adj" fmla="val 9600"/>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43" name="Text 41"/>
          <p:cNvSpPr txBox="1"/>
          <p:nvPr/>
        </p:nvSpPr>
        <p:spPr>
          <a:xfrm>
            <a:off x="6309360" y="3236976"/>
            <a:ext cx="2231136" cy="320040"/>
          </a:xfrm>
          <a:prstGeom prst="rect">
            <a:avLst/>
          </a:prstGeom>
          <a:noFill/>
          <a:ln/>
        </p:spPr>
        <p:txBody>
          <a:bodyPr wrap="square" lIns="0" tIns="0" rIns="0" bIns="0" rtlCol="0" anchor="ctr"/>
          <a:lstStyle/>
          <a:p>
            <a:pPr indent="0" marL="0">
              <a:buNone/>
            </a:pPr>
            <a:r>
              <a:rPr lang="en-US" sz="1400" b="1" dirty="0">
                <a:solidFill>
                  <a:srgbClr val="0A2545"/>
                </a:solidFill>
                <a:latin typeface="Arial" pitchFamily="34" charset="0"/>
                <a:ea typeface="Arial" pitchFamily="34" charset="-122"/>
                <a:cs typeface="Arial" pitchFamily="34" charset="-120"/>
              </a:rPr>
              <a:t>Kullanım</a:t>
            </a:r>
            <a:endParaRPr lang="en-US" sz="1400" dirty="0"/>
          </a:p>
        </p:txBody>
      </p:sp>
      <p:sp>
        <p:nvSpPr>
          <p:cNvPr id="44" name="Text 42"/>
          <p:cNvSpPr txBox="1"/>
          <p:nvPr/>
        </p:nvSpPr>
        <p:spPr>
          <a:xfrm>
            <a:off x="6309360" y="3584448"/>
            <a:ext cx="2276856" cy="566928"/>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Hususi ×1,00 · Ticari ×1,25</a:t>
            </a:r>
            <a:endParaRPr lang="en-US" sz="1250" dirty="0"/>
          </a:p>
          <a:p>
            <a:pPr indent="0" marL="0">
              <a:buNone/>
            </a:pPr>
            <a:r>
              <a:rPr lang="en-US" sz="1250" dirty="0">
                <a:solidFill>
                  <a:srgbClr val="5B6472"/>
                </a:solidFill>
                <a:latin typeface="Calibri" pitchFamily="34" charset="0"/>
                <a:ea typeface="Calibri" pitchFamily="34" charset="-122"/>
                <a:cs typeface="Calibri" pitchFamily="34" charset="-120"/>
              </a:rPr>
              <a:t>Kiralık ×1,40</a:t>
            </a:r>
            <a:endParaRPr lang="en-US" sz="1250" dirty="0"/>
          </a:p>
        </p:txBody>
      </p:sp>
      <p:sp>
        <p:nvSpPr>
          <p:cNvPr id="45" name="Shape 43"/>
          <p:cNvSpPr/>
          <p:nvPr/>
        </p:nvSpPr>
        <p:spPr>
          <a:xfrm>
            <a:off x="8887968" y="3108960"/>
            <a:ext cx="2596896" cy="1143000"/>
          </a:xfrm>
          <a:prstGeom prst="roundRect">
            <a:avLst>
              <a:gd name="adj" fmla="val 9600"/>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46" name="Text 44"/>
          <p:cNvSpPr txBox="1"/>
          <p:nvPr/>
        </p:nvSpPr>
        <p:spPr>
          <a:xfrm>
            <a:off x="9089136" y="3236976"/>
            <a:ext cx="2231136" cy="320040"/>
          </a:xfrm>
          <a:prstGeom prst="rect">
            <a:avLst/>
          </a:prstGeom>
          <a:noFill/>
          <a:ln/>
        </p:spPr>
        <p:txBody>
          <a:bodyPr wrap="square" lIns="0" tIns="0" rIns="0" bIns="0" rtlCol="0" anchor="ctr"/>
          <a:lstStyle/>
          <a:p>
            <a:pPr indent="0" marL="0">
              <a:buNone/>
            </a:pPr>
            <a:r>
              <a:rPr lang="en-US" sz="1400" b="1" dirty="0">
                <a:solidFill>
                  <a:srgbClr val="0A2545"/>
                </a:solidFill>
                <a:latin typeface="Arial" pitchFamily="34" charset="0"/>
                <a:ea typeface="Arial" pitchFamily="34" charset="-122"/>
                <a:cs typeface="Arial" pitchFamily="34" charset="-120"/>
              </a:rPr>
              <a:t>Hasar geçmişi</a:t>
            </a:r>
            <a:endParaRPr lang="en-US" sz="1400" dirty="0"/>
          </a:p>
        </p:txBody>
      </p:sp>
      <p:sp>
        <p:nvSpPr>
          <p:cNvPr id="47" name="Text 45"/>
          <p:cNvSpPr txBox="1"/>
          <p:nvPr/>
        </p:nvSpPr>
        <p:spPr>
          <a:xfrm>
            <a:off x="9089136" y="3584448"/>
            <a:ext cx="2276856" cy="566928"/>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Hasarsız ×0,90</a:t>
            </a:r>
            <a:endParaRPr lang="en-US" sz="1250" dirty="0"/>
          </a:p>
          <a:p>
            <a:pPr indent="0" marL="0">
              <a:buNone/>
            </a:pPr>
            <a:r>
              <a:rPr lang="en-US" sz="1250" dirty="0">
                <a:solidFill>
                  <a:srgbClr val="5B6472"/>
                </a:solidFill>
                <a:latin typeface="Calibri" pitchFamily="34" charset="0"/>
                <a:ea typeface="Calibri" pitchFamily="34" charset="-122"/>
                <a:cs typeface="Calibri" pitchFamily="34" charset="-120"/>
              </a:rPr>
              <a:t>3+ hasar ×1,30</a:t>
            </a:r>
            <a:endParaRPr lang="en-US" sz="1250" dirty="0"/>
          </a:p>
        </p:txBody>
      </p:sp>
      <p:sp>
        <p:nvSpPr>
          <p:cNvPr id="48" name="Shape 46"/>
          <p:cNvSpPr/>
          <p:nvPr/>
        </p:nvSpPr>
        <p:spPr>
          <a:xfrm>
            <a:off x="548640" y="4434840"/>
            <a:ext cx="2596896" cy="1143000"/>
          </a:xfrm>
          <a:prstGeom prst="roundRect">
            <a:avLst>
              <a:gd name="adj" fmla="val 9600"/>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49" name="Text 47"/>
          <p:cNvSpPr txBox="1"/>
          <p:nvPr/>
        </p:nvSpPr>
        <p:spPr>
          <a:xfrm>
            <a:off x="749808" y="4562856"/>
            <a:ext cx="2231136" cy="320040"/>
          </a:xfrm>
          <a:prstGeom prst="rect">
            <a:avLst/>
          </a:prstGeom>
          <a:noFill/>
          <a:ln/>
        </p:spPr>
        <p:txBody>
          <a:bodyPr wrap="square" lIns="0" tIns="0" rIns="0" bIns="0" rtlCol="0" anchor="ctr"/>
          <a:lstStyle/>
          <a:p>
            <a:pPr indent="0" marL="0">
              <a:buNone/>
            </a:pPr>
            <a:r>
              <a:rPr lang="en-US" sz="1400" b="1" dirty="0">
                <a:solidFill>
                  <a:srgbClr val="0A2545"/>
                </a:solidFill>
                <a:latin typeface="Arial" pitchFamily="34" charset="0"/>
                <a:ea typeface="Arial" pitchFamily="34" charset="-122"/>
                <a:cs typeface="Arial" pitchFamily="34" charset="-120"/>
              </a:rPr>
              <a:t>Sürücü yaşı</a:t>
            </a:r>
            <a:endParaRPr lang="en-US" sz="1400" dirty="0"/>
          </a:p>
        </p:txBody>
      </p:sp>
      <p:sp>
        <p:nvSpPr>
          <p:cNvPr id="50" name="Text 48"/>
          <p:cNvSpPr txBox="1"/>
          <p:nvPr/>
        </p:nvSpPr>
        <p:spPr>
          <a:xfrm>
            <a:off x="749808" y="4910328"/>
            <a:ext cx="2276856" cy="566928"/>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18-20 ×1,30 · 21-24 ×1,15</a:t>
            </a:r>
            <a:endParaRPr lang="en-US" sz="1250" dirty="0"/>
          </a:p>
          <a:p>
            <a:pPr indent="0" marL="0">
              <a:buNone/>
            </a:pPr>
            <a:r>
              <a:rPr lang="en-US" sz="1250" dirty="0">
                <a:solidFill>
                  <a:srgbClr val="5B6472"/>
                </a:solidFill>
                <a:latin typeface="Calibri" pitchFamily="34" charset="0"/>
                <a:ea typeface="Calibri" pitchFamily="34" charset="-122"/>
                <a:cs typeface="Calibri" pitchFamily="34" charset="-120"/>
              </a:rPr>
              <a:t>25 ve üzeri ×1,00</a:t>
            </a:r>
            <a:endParaRPr lang="en-US" sz="1250" dirty="0"/>
          </a:p>
        </p:txBody>
      </p:sp>
      <p:sp>
        <p:nvSpPr>
          <p:cNvPr id="51" name="Shape 49"/>
          <p:cNvSpPr/>
          <p:nvPr/>
        </p:nvSpPr>
        <p:spPr>
          <a:xfrm>
            <a:off x="3328416" y="4434840"/>
            <a:ext cx="2596896" cy="1143000"/>
          </a:xfrm>
          <a:prstGeom prst="roundRect">
            <a:avLst>
              <a:gd name="adj" fmla="val 9600"/>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52" name="Text 50"/>
          <p:cNvSpPr txBox="1"/>
          <p:nvPr/>
        </p:nvSpPr>
        <p:spPr>
          <a:xfrm>
            <a:off x="3529584" y="4562856"/>
            <a:ext cx="2231136" cy="320040"/>
          </a:xfrm>
          <a:prstGeom prst="rect">
            <a:avLst/>
          </a:prstGeom>
          <a:noFill/>
          <a:ln/>
        </p:spPr>
        <p:txBody>
          <a:bodyPr wrap="square" lIns="0" tIns="0" rIns="0" bIns="0" rtlCol="0" anchor="ctr"/>
          <a:lstStyle/>
          <a:p>
            <a:pPr indent="0" marL="0">
              <a:buNone/>
            </a:pPr>
            <a:r>
              <a:rPr lang="en-US" sz="1400" b="1" dirty="0">
                <a:solidFill>
                  <a:srgbClr val="0A2545"/>
                </a:solidFill>
                <a:latin typeface="Arial" pitchFamily="34" charset="0"/>
                <a:ea typeface="Arial" pitchFamily="34" charset="-122"/>
                <a:cs typeface="Arial" pitchFamily="34" charset="-120"/>
              </a:rPr>
              <a:t>Bölge (il)</a:t>
            </a:r>
            <a:endParaRPr lang="en-US" sz="1400" dirty="0"/>
          </a:p>
        </p:txBody>
      </p:sp>
      <p:sp>
        <p:nvSpPr>
          <p:cNvPr id="53" name="Text 51"/>
          <p:cNvSpPr txBox="1"/>
          <p:nvPr/>
        </p:nvSpPr>
        <p:spPr>
          <a:xfrm>
            <a:off x="3529584" y="4910328"/>
            <a:ext cx="2276856" cy="566928"/>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Yüksek ×1,10 · Normal ×1,00</a:t>
            </a:r>
            <a:endParaRPr lang="en-US" sz="1250" dirty="0"/>
          </a:p>
          <a:p>
            <a:pPr indent="0" marL="0">
              <a:buNone/>
            </a:pPr>
            <a:r>
              <a:rPr lang="en-US" sz="1250" dirty="0">
                <a:solidFill>
                  <a:srgbClr val="5B6472"/>
                </a:solidFill>
                <a:latin typeface="Calibri" pitchFamily="34" charset="0"/>
                <a:ea typeface="Calibri" pitchFamily="34" charset="-122"/>
                <a:cs typeface="Calibri" pitchFamily="34" charset="-120"/>
              </a:rPr>
              <a:t>Düşük ×0,95</a:t>
            </a:r>
            <a:endParaRPr lang="en-US" sz="1250" dirty="0"/>
          </a:p>
        </p:txBody>
      </p:sp>
      <p:sp>
        <p:nvSpPr>
          <p:cNvPr id="54" name="Shape 52"/>
          <p:cNvSpPr/>
          <p:nvPr/>
        </p:nvSpPr>
        <p:spPr>
          <a:xfrm>
            <a:off x="6108192" y="4434840"/>
            <a:ext cx="2596896" cy="1143000"/>
          </a:xfrm>
          <a:prstGeom prst="roundRect">
            <a:avLst>
              <a:gd name="adj" fmla="val 9600"/>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55" name="Text 53"/>
          <p:cNvSpPr txBox="1"/>
          <p:nvPr/>
        </p:nvSpPr>
        <p:spPr>
          <a:xfrm>
            <a:off x="6309360" y="4562856"/>
            <a:ext cx="2231136" cy="320040"/>
          </a:xfrm>
          <a:prstGeom prst="rect">
            <a:avLst/>
          </a:prstGeom>
          <a:noFill/>
          <a:ln/>
        </p:spPr>
        <p:txBody>
          <a:bodyPr wrap="square" lIns="0" tIns="0" rIns="0" bIns="0" rtlCol="0" anchor="ctr"/>
          <a:lstStyle/>
          <a:p>
            <a:pPr indent="0" marL="0">
              <a:buNone/>
            </a:pPr>
            <a:r>
              <a:rPr lang="en-US" sz="1400" b="1" dirty="0">
                <a:solidFill>
                  <a:srgbClr val="0A2545"/>
                </a:solidFill>
                <a:latin typeface="Arial" pitchFamily="34" charset="0"/>
                <a:ea typeface="Arial" pitchFamily="34" charset="-122"/>
                <a:cs typeface="Arial" pitchFamily="34" charset="-120"/>
              </a:rPr>
              <a:t>Paket</a:t>
            </a:r>
            <a:endParaRPr lang="en-US" sz="1400" dirty="0"/>
          </a:p>
        </p:txBody>
      </p:sp>
      <p:sp>
        <p:nvSpPr>
          <p:cNvPr id="56" name="Text 54"/>
          <p:cNvSpPr txBox="1"/>
          <p:nvPr/>
        </p:nvSpPr>
        <p:spPr>
          <a:xfrm>
            <a:off x="6309360" y="4910328"/>
            <a:ext cx="2276856" cy="566928"/>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Ekonomik ×0,85 · Standart ×1,00</a:t>
            </a:r>
            <a:endParaRPr lang="en-US" sz="1250" dirty="0"/>
          </a:p>
          <a:p>
            <a:pPr indent="0" marL="0">
              <a:buNone/>
            </a:pPr>
            <a:r>
              <a:rPr lang="en-US" sz="1250" dirty="0">
                <a:solidFill>
                  <a:srgbClr val="5B6472"/>
                </a:solidFill>
                <a:latin typeface="Calibri" pitchFamily="34" charset="0"/>
                <a:ea typeface="Calibri" pitchFamily="34" charset="-122"/>
                <a:cs typeface="Calibri" pitchFamily="34" charset="-120"/>
              </a:rPr>
              <a:t>Kapsamlı ×1,15</a:t>
            </a:r>
            <a:endParaRPr lang="en-US" sz="1250" dirty="0"/>
          </a:p>
        </p:txBody>
      </p:sp>
      <p:sp>
        <p:nvSpPr>
          <p:cNvPr id="57" name="Shape 55"/>
          <p:cNvSpPr/>
          <p:nvPr/>
        </p:nvSpPr>
        <p:spPr>
          <a:xfrm>
            <a:off x="8887968" y="4434840"/>
            <a:ext cx="2596896" cy="1143000"/>
          </a:xfrm>
          <a:prstGeom prst="roundRect">
            <a:avLst>
              <a:gd name="adj" fmla="val 9600"/>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58" name="Text 56"/>
          <p:cNvSpPr txBox="1"/>
          <p:nvPr/>
        </p:nvSpPr>
        <p:spPr>
          <a:xfrm>
            <a:off x="9089136" y="4562856"/>
            <a:ext cx="2231136" cy="320040"/>
          </a:xfrm>
          <a:prstGeom prst="rect">
            <a:avLst/>
          </a:prstGeom>
          <a:noFill/>
          <a:ln/>
        </p:spPr>
        <p:txBody>
          <a:bodyPr wrap="square" lIns="0" tIns="0" rIns="0" bIns="0" rtlCol="0" anchor="ctr"/>
          <a:lstStyle/>
          <a:p>
            <a:pPr indent="0" marL="0">
              <a:buNone/>
            </a:pPr>
            <a:r>
              <a:rPr lang="en-US" sz="1400" b="1" dirty="0">
                <a:solidFill>
                  <a:srgbClr val="0A2545"/>
                </a:solidFill>
                <a:latin typeface="Arial" pitchFamily="34" charset="0"/>
                <a:ea typeface="Arial" pitchFamily="34" charset="-122"/>
                <a:cs typeface="Arial" pitchFamily="34" charset="-120"/>
              </a:rPr>
              <a:t>Muafiyet</a:t>
            </a:r>
            <a:endParaRPr lang="en-US" sz="1400" dirty="0"/>
          </a:p>
        </p:txBody>
      </p:sp>
      <p:sp>
        <p:nvSpPr>
          <p:cNvPr id="59" name="Text 57"/>
          <p:cNvSpPr txBox="1"/>
          <p:nvPr/>
        </p:nvSpPr>
        <p:spPr>
          <a:xfrm>
            <a:off x="9089136" y="4910328"/>
            <a:ext cx="2276856" cy="566928"/>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Muafiyetsiz ×1,00</a:t>
            </a:r>
            <a:endParaRPr lang="en-US" sz="1250" dirty="0"/>
          </a:p>
          <a:p>
            <a:pPr indent="0" marL="0">
              <a:buNone/>
            </a:pPr>
            <a:r>
              <a:rPr lang="en-US" sz="1250" dirty="0">
                <a:solidFill>
                  <a:srgbClr val="5B6472"/>
                </a:solidFill>
                <a:latin typeface="Calibri" pitchFamily="34" charset="0"/>
                <a:ea typeface="Calibri" pitchFamily="34" charset="-122"/>
                <a:cs typeface="Calibri" pitchFamily="34" charset="-120"/>
              </a:rPr>
              <a:t>%2 ×0,90 · %5 ×0,80</a:t>
            </a:r>
            <a:endParaRPr lang="en-US" sz="1250" dirty="0"/>
          </a:p>
        </p:txBody>
      </p:sp>
      <p:sp>
        <p:nvSpPr>
          <p:cNvPr id="60" name="Text 58"/>
          <p:cNvSpPr txBox="1"/>
          <p:nvPr/>
        </p:nvSpPr>
        <p:spPr>
          <a:xfrm>
            <a:off x="548640" y="5806440"/>
            <a:ext cx="10789920" cy="457200"/>
          </a:xfrm>
          <a:prstGeom prst="rect">
            <a:avLst/>
          </a:prstGeom>
          <a:noFill/>
          <a:ln/>
        </p:spPr>
        <p:txBody>
          <a:bodyPr wrap="square" lIns="0" tIns="0" rIns="0" bIns="0" rtlCol="0" anchor="ctr"/>
          <a:lstStyle/>
          <a:p>
            <a:pPr indent="0" marL="0">
              <a:buNone/>
            </a:pPr>
            <a:r>
              <a:rPr lang="en-US" sz="1350" i="1" dirty="0">
                <a:solidFill>
                  <a:srgbClr val="1F2937"/>
                </a:solidFill>
                <a:latin typeface="Calibri" pitchFamily="34" charset="0"/>
                <a:ea typeface="Calibri" pitchFamily="34" charset="-122"/>
                <a:cs typeface="Calibri" pitchFamily="34" charset="-120"/>
              </a:rPr>
              <a:t>Katsayılar kodda değil, veritabanında sürümlü kurallar olarak tutulur. Hızlı teklif, portal ve Formül Motoru ekranı aynı hesaplama servisini kullanır; toplam prime %5 gider vergisi eklenir.</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2F7"/>
        </a:solidFill>
      </p:bgPr>
    </p:bg>
    <p:spTree>
      <p:nvGrpSpPr>
        <p:cNvPr id="1" name=""/>
        <p:cNvGrpSpPr/>
        <p:nvPr/>
      </p:nvGrpSpPr>
      <p:grpSpPr>
        <a:xfrm>
          <a:off x="0" y="0"/>
          <a:ext cx="0" cy="0"/>
          <a:chOff x="0" y="0"/>
          <a:chExt cx="0" cy="0"/>
        </a:xfrm>
      </p:grpSpPr>
      <p:sp>
        <p:nvSpPr>
          <p:cNvPr id="2" name="Shape 0"/>
          <p:cNvSpPr/>
          <p:nvPr/>
        </p:nvSpPr>
        <p:spPr>
          <a:xfrm>
            <a:off x="548640" y="384048"/>
            <a:ext cx="1353312" cy="329184"/>
          </a:xfrm>
          <a:prstGeom prst="roundRect">
            <a:avLst>
              <a:gd name="adj" fmla="val 50000"/>
            </a:avLst>
          </a:prstGeom>
          <a:solidFill>
            <a:srgbClr val="0A2545"/>
          </a:solidFill>
          <a:ln w="12700">
            <a:solidFill>
              <a:srgbClr val="0A2545"/>
            </a:solidFill>
            <a:prstDash val="solid"/>
          </a:ln>
        </p:spPr>
      </p:sp>
      <p:sp>
        <p:nvSpPr>
          <p:cNvPr id="3" name="Text 1"/>
          <p:cNvSpPr txBox="1"/>
          <p:nvPr/>
        </p:nvSpPr>
        <p:spPr>
          <a:xfrm>
            <a:off x="548640" y="384048"/>
            <a:ext cx="1353312"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ŞEFFAF FİYAT</a:t>
            </a:r>
            <a:endParaRPr lang="en-US" sz="1100" dirty="0"/>
          </a:p>
        </p:txBody>
      </p:sp>
      <p:sp>
        <p:nvSpPr>
          <p:cNvPr id="4" name="Text 2"/>
          <p:cNvSpPr txBox="1"/>
          <p:nvPr/>
        </p:nvSpPr>
        <p:spPr>
          <a:xfrm>
            <a:off x="548640" y="786384"/>
            <a:ext cx="11094415" cy="731520"/>
          </a:xfrm>
          <a:prstGeom prst="rect">
            <a:avLst/>
          </a:prstGeom>
          <a:noFill/>
          <a:ln/>
        </p:spPr>
        <p:txBody>
          <a:bodyPr wrap="square" lIns="0" tIns="0" rIns="0" bIns="0" rtlCol="0" anchor="ctr"/>
          <a:lstStyle/>
          <a:p>
            <a:pPr indent="0" marL="0">
              <a:buNone/>
            </a:pPr>
            <a:r>
              <a:rPr lang="en-US" sz="3000" b="1" dirty="0">
                <a:solidFill>
                  <a:srgbClr val="0A2545"/>
                </a:solidFill>
                <a:latin typeface="Arial" pitchFamily="34" charset="0"/>
                <a:ea typeface="Arial" pitchFamily="34" charset="-122"/>
                <a:cs typeface="Arial" pitchFamily="34" charset="-120"/>
              </a:rPr>
              <a:t>Formül Motoru ekranı</a:t>
            </a:r>
            <a:endParaRPr lang="en-US" sz="3000" dirty="0"/>
          </a:p>
        </p:txBody>
      </p:sp>
      <p:sp>
        <p:nvSpPr>
          <p:cNvPr id="5" name="Text 3"/>
          <p:cNvSpPr txBox="1"/>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8 / 16</a:t>
            </a:r>
            <a:endParaRPr lang="en-US" sz="1000" dirty="0"/>
          </a:p>
        </p:txBody>
      </p:sp>
      <p:sp>
        <p:nvSpPr>
          <p:cNvPr id="6" name="Shape 4"/>
          <p:cNvSpPr/>
          <p:nvPr/>
        </p:nvSpPr>
        <p:spPr>
          <a:xfrm>
            <a:off x="548640" y="1719072"/>
            <a:ext cx="7351776" cy="4052499"/>
          </a:xfrm>
          <a:prstGeom prst="roundRect">
            <a:avLst>
              <a:gd name="adj" fmla="val 1805"/>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pic>
        <p:nvPicPr>
          <p:cNvPr id="7" name="Image 0" descr="C:\Users\Asus\AppData\Local\Temp\claude\C--Proje-SigortaSatisUygulama\25ccf29a-d4f5-4ae0-a5ee-6b259b3cc9b7\scratchpad\sunum\img\simulator.png">    </p:cNvPr>
          <p:cNvPicPr>
            <a:picLocks noChangeAspect="1"/>
          </p:cNvPicPr>
          <p:nvPr/>
        </p:nvPicPr>
        <p:blipFill>
          <a:blip r:embed="rId1"/>
          <a:stretch>
            <a:fillRect/>
          </a:stretch>
        </p:blipFill>
        <p:spPr>
          <a:xfrm>
            <a:off x="612648" y="1783080"/>
            <a:ext cx="7223760" cy="3924483"/>
          </a:xfrm>
          <a:prstGeom prst="rect">
            <a:avLst/>
          </a:prstGeom>
        </p:spPr>
      </p:pic>
      <p:sp>
        <p:nvSpPr>
          <p:cNvPr id="8" name="Shape 5"/>
          <p:cNvSpPr/>
          <p:nvPr/>
        </p:nvSpPr>
        <p:spPr>
          <a:xfrm>
            <a:off x="8275320" y="1828800"/>
            <a:ext cx="548640" cy="548640"/>
          </a:xfrm>
          <a:prstGeom prst="ellipse">
            <a:avLst/>
          </a:prstGeom>
          <a:solidFill>
            <a:srgbClr val="1D6FF2"/>
          </a:solidFill>
          <a:ln w="12700">
            <a:solidFill>
              <a:srgbClr val="1D6FF2"/>
            </a:solidFill>
            <a:prstDash val="solid"/>
          </a:ln>
        </p:spPr>
      </p:sp>
      <p:pic>
        <p:nvPicPr>
          <p:cNvPr id="9" name="Image 1" descr="preencoded.png">    </p:cNvPr>
          <p:cNvPicPr>
            <a:picLocks noChangeAspect="1"/>
          </p:cNvPicPr>
          <p:nvPr/>
        </p:nvPicPr>
        <p:blipFill>
          <a:blip r:embed="rId2"/>
          <a:stretch>
            <a:fillRect/>
          </a:stretch>
        </p:blipFill>
        <p:spPr>
          <a:xfrm>
            <a:off x="8406994" y="1960474"/>
            <a:ext cx="285293" cy="285293"/>
          </a:xfrm>
          <a:prstGeom prst="rect">
            <a:avLst/>
          </a:prstGeom>
        </p:spPr>
      </p:pic>
      <p:sp>
        <p:nvSpPr>
          <p:cNvPr id="10" name="Text 6"/>
          <p:cNvSpPr txBox="1"/>
          <p:nvPr/>
        </p:nvSpPr>
        <p:spPr>
          <a:xfrm>
            <a:off x="8988552" y="1783080"/>
            <a:ext cx="2654503" cy="320040"/>
          </a:xfrm>
          <a:prstGeom prst="rect">
            <a:avLst/>
          </a:prstGeom>
          <a:noFill/>
          <a:ln/>
        </p:spPr>
        <p:txBody>
          <a:bodyPr wrap="square" lIns="0" tIns="0" rIns="0" bIns="0" rtlCol="0" anchor="ctr"/>
          <a:lstStyle/>
          <a:p>
            <a:pPr indent="0" marL="0">
              <a:buNone/>
            </a:pPr>
            <a:r>
              <a:rPr lang="en-US" sz="1500" b="1" dirty="0">
                <a:solidFill>
                  <a:srgbClr val="1F2937"/>
                </a:solidFill>
                <a:latin typeface="Arial" pitchFamily="34" charset="0"/>
                <a:ea typeface="Arial" pitchFamily="34" charset="-122"/>
                <a:cs typeface="Arial" pitchFamily="34" charset="-120"/>
              </a:rPr>
              <a:t>Yalnızca Admin görür</a:t>
            </a:r>
            <a:endParaRPr lang="en-US" sz="1500" dirty="0"/>
          </a:p>
        </p:txBody>
      </p:sp>
      <p:sp>
        <p:nvSpPr>
          <p:cNvPr id="11" name="Text 7"/>
          <p:cNvSpPr txBox="1"/>
          <p:nvPr/>
        </p:nvSpPr>
        <p:spPr>
          <a:xfrm>
            <a:off x="8988552" y="2121408"/>
            <a:ext cx="2654503" cy="5486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Formül ve katsayılar müşteriye açık değildir.</a:t>
            </a:r>
            <a:endParaRPr lang="en-US" sz="1300" dirty="0"/>
          </a:p>
        </p:txBody>
      </p:sp>
      <p:sp>
        <p:nvSpPr>
          <p:cNvPr id="12" name="Shape 8"/>
          <p:cNvSpPr/>
          <p:nvPr/>
        </p:nvSpPr>
        <p:spPr>
          <a:xfrm>
            <a:off x="8275320" y="2834640"/>
            <a:ext cx="548640" cy="548640"/>
          </a:xfrm>
          <a:prstGeom prst="ellipse">
            <a:avLst/>
          </a:prstGeom>
          <a:solidFill>
            <a:srgbClr val="1D6FF2"/>
          </a:solidFill>
          <a:ln w="12700">
            <a:solidFill>
              <a:srgbClr val="1D6FF2"/>
            </a:solidFill>
            <a:prstDash val="solid"/>
          </a:ln>
        </p:spPr>
      </p:sp>
      <p:pic>
        <p:nvPicPr>
          <p:cNvPr id="13" name="Image 2" descr="preencoded.png">    </p:cNvPr>
          <p:cNvPicPr>
            <a:picLocks noChangeAspect="1"/>
          </p:cNvPicPr>
          <p:nvPr/>
        </p:nvPicPr>
        <p:blipFill>
          <a:blip r:embed="rId3"/>
          <a:stretch>
            <a:fillRect/>
          </a:stretch>
        </p:blipFill>
        <p:spPr>
          <a:xfrm>
            <a:off x="8406994" y="2966314"/>
            <a:ext cx="285293" cy="285293"/>
          </a:xfrm>
          <a:prstGeom prst="rect">
            <a:avLst/>
          </a:prstGeom>
        </p:spPr>
      </p:pic>
      <p:sp>
        <p:nvSpPr>
          <p:cNvPr id="14" name="Text 9"/>
          <p:cNvSpPr txBox="1"/>
          <p:nvPr/>
        </p:nvSpPr>
        <p:spPr>
          <a:xfrm>
            <a:off x="8988552" y="2788920"/>
            <a:ext cx="2654503" cy="320040"/>
          </a:xfrm>
          <a:prstGeom prst="rect">
            <a:avLst/>
          </a:prstGeom>
          <a:noFill/>
          <a:ln/>
        </p:spPr>
        <p:txBody>
          <a:bodyPr wrap="square" lIns="0" tIns="0" rIns="0" bIns="0" rtlCol="0" anchor="ctr"/>
          <a:lstStyle/>
          <a:p>
            <a:pPr indent="0" marL="0">
              <a:buNone/>
            </a:pPr>
            <a:r>
              <a:rPr lang="en-US" sz="1500" b="1" dirty="0">
                <a:solidFill>
                  <a:srgbClr val="1F2937"/>
                </a:solidFill>
                <a:latin typeface="Arial" pitchFamily="34" charset="0"/>
                <a:ea typeface="Arial" pitchFamily="34" charset="-122"/>
                <a:cs typeface="Arial" pitchFamily="34" charset="-120"/>
              </a:rPr>
              <a:t>Gerçek motoru çağırır</a:t>
            </a:r>
            <a:endParaRPr lang="en-US" sz="1500" dirty="0"/>
          </a:p>
        </p:txBody>
      </p:sp>
      <p:sp>
        <p:nvSpPr>
          <p:cNvPr id="15" name="Text 10"/>
          <p:cNvSpPr txBox="1"/>
          <p:nvPr/>
        </p:nvSpPr>
        <p:spPr>
          <a:xfrm>
            <a:off x="8988552" y="3127248"/>
            <a:ext cx="2654503" cy="5486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Ekrandaki sonuç, gerçek teklifle birebir aynıdır.</a:t>
            </a:r>
            <a:endParaRPr lang="en-US" sz="1300" dirty="0"/>
          </a:p>
        </p:txBody>
      </p:sp>
      <p:sp>
        <p:nvSpPr>
          <p:cNvPr id="16" name="Shape 11"/>
          <p:cNvSpPr/>
          <p:nvPr/>
        </p:nvSpPr>
        <p:spPr>
          <a:xfrm>
            <a:off x="8275320" y="3840480"/>
            <a:ext cx="548640" cy="548640"/>
          </a:xfrm>
          <a:prstGeom prst="ellipse">
            <a:avLst/>
          </a:prstGeom>
          <a:solidFill>
            <a:srgbClr val="1D6FF2"/>
          </a:solidFill>
          <a:ln w="12700">
            <a:solidFill>
              <a:srgbClr val="1D6FF2"/>
            </a:solidFill>
            <a:prstDash val="solid"/>
          </a:ln>
        </p:spPr>
      </p:sp>
      <p:pic>
        <p:nvPicPr>
          <p:cNvPr id="17" name="Image 3" descr="preencoded.png">    </p:cNvPr>
          <p:cNvPicPr>
            <a:picLocks noChangeAspect="1"/>
          </p:cNvPicPr>
          <p:nvPr/>
        </p:nvPicPr>
        <p:blipFill>
          <a:blip r:embed="rId4"/>
          <a:stretch>
            <a:fillRect/>
          </a:stretch>
        </p:blipFill>
        <p:spPr>
          <a:xfrm>
            <a:off x="8406994" y="3972154"/>
            <a:ext cx="285293" cy="285293"/>
          </a:xfrm>
          <a:prstGeom prst="rect">
            <a:avLst/>
          </a:prstGeom>
        </p:spPr>
      </p:pic>
      <p:sp>
        <p:nvSpPr>
          <p:cNvPr id="18" name="Text 12"/>
          <p:cNvSpPr txBox="1"/>
          <p:nvPr/>
        </p:nvSpPr>
        <p:spPr>
          <a:xfrm>
            <a:off x="8988552" y="3794760"/>
            <a:ext cx="2654503" cy="320040"/>
          </a:xfrm>
          <a:prstGeom prst="rect">
            <a:avLst/>
          </a:prstGeom>
          <a:noFill/>
          <a:ln/>
        </p:spPr>
        <p:txBody>
          <a:bodyPr wrap="square" lIns="0" tIns="0" rIns="0" bIns="0" rtlCol="0" anchor="ctr"/>
          <a:lstStyle/>
          <a:p>
            <a:pPr indent="0" marL="0">
              <a:buNone/>
            </a:pPr>
            <a:r>
              <a:rPr lang="en-US" sz="1500" b="1" dirty="0">
                <a:solidFill>
                  <a:srgbClr val="1F2937"/>
                </a:solidFill>
                <a:latin typeface="Arial" pitchFamily="34" charset="0"/>
                <a:ea typeface="Arial" pitchFamily="34" charset="-122"/>
                <a:cs typeface="Arial" pitchFamily="34" charset="-120"/>
              </a:rPr>
              <a:t>Adım adım döküm</a:t>
            </a:r>
            <a:endParaRPr lang="en-US" sz="1500" dirty="0"/>
          </a:p>
        </p:txBody>
      </p:sp>
      <p:sp>
        <p:nvSpPr>
          <p:cNvPr id="19" name="Text 13"/>
          <p:cNvSpPr txBox="1"/>
          <p:nvPr/>
        </p:nvSpPr>
        <p:spPr>
          <a:xfrm>
            <a:off x="8988552" y="4133088"/>
            <a:ext cx="2654503" cy="5486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Her satırda kural kodu, katsayı, etkisi ve ara toplam.</a:t>
            </a:r>
            <a:endParaRPr lang="en-US" sz="1300" dirty="0"/>
          </a:p>
        </p:txBody>
      </p:sp>
      <p:sp>
        <p:nvSpPr>
          <p:cNvPr id="20" name="Shape 14"/>
          <p:cNvSpPr/>
          <p:nvPr/>
        </p:nvSpPr>
        <p:spPr>
          <a:xfrm>
            <a:off x="8275320" y="4846320"/>
            <a:ext cx="548640" cy="548640"/>
          </a:xfrm>
          <a:prstGeom prst="ellipse">
            <a:avLst/>
          </a:prstGeom>
          <a:solidFill>
            <a:srgbClr val="1D6FF2"/>
          </a:solidFill>
          <a:ln w="12700">
            <a:solidFill>
              <a:srgbClr val="1D6FF2"/>
            </a:solidFill>
            <a:prstDash val="solid"/>
          </a:ln>
        </p:spPr>
      </p:sp>
      <p:pic>
        <p:nvPicPr>
          <p:cNvPr id="21" name="Image 4" descr="preencoded.png">    </p:cNvPr>
          <p:cNvPicPr>
            <a:picLocks noChangeAspect="1"/>
          </p:cNvPicPr>
          <p:nvPr/>
        </p:nvPicPr>
        <p:blipFill>
          <a:blip r:embed="rId5"/>
          <a:stretch>
            <a:fillRect/>
          </a:stretch>
        </p:blipFill>
        <p:spPr>
          <a:xfrm>
            <a:off x="8406994" y="4977994"/>
            <a:ext cx="285293" cy="285293"/>
          </a:xfrm>
          <a:prstGeom prst="rect">
            <a:avLst/>
          </a:prstGeom>
        </p:spPr>
      </p:pic>
      <p:sp>
        <p:nvSpPr>
          <p:cNvPr id="22" name="Text 15"/>
          <p:cNvSpPr txBox="1"/>
          <p:nvPr/>
        </p:nvSpPr>
        <p:spPr>
          <a:xfrm>
            <a:off x="8988552" y="4800600"/>
            <a:ext cx="2654503" cy="320040"/>
          </a:xfrm>
          <a:prstGeom prst="rect">
            <a:avLst/>
          </a:prstGeom>
          <a:noFill/>
          <a:ln/>
        </p:spPr>
        <p:txBody>
          <a:bodyPr wrap="square" lIns="0" tIns="0" rIns="0" bIns="0" rtlCol="0" anchor="ctr"/>
          <a:lstStyle/>
          <a:p>
            <a:pPr indent="0" marL="0">
              <a:buNone/>
            </a:pPr>
            <a:r>
              <a:rPr lang="en-US" sz="1500" b="1" dirty="0">
                <a:solidFill>
                  <a:srgbClr val="1F2937"/>
                </a:solidFill>
                <a:latin typeface="Arial" pitchFamily="34" charset="0"/>
                <a:ea typeface="Arial" pitchFamily="34" charset="-122"/>
                <a:cs typeface="Arial" pitchFamily="34" charset="-120"/>
              </a:rPr>
              <a:t>Örnek risk</a:t>
            </a:r>
            <a:endParaRPr lang="en-US" sz="1500" dirty="0"/>
          </a:p>
        </p:txBody>
      </p:sp>
      <p:sp>
        <p:nvSpPr>
          <p:cNvPr id="23" name="Text 16"/>
          <p:cNvSpPr txBox="1"/>
          <p:nvPr/>
        </p:nvSpPr>
        <p:spPr>
          <a:xfrm>
            <a:off x="8988552" y="5138928"/>
            <a:ext cx="2654503" cy="5486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1.500.000 ₺ araç, 35 yaş sürücü → yıllık 32.377,50 ₺</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2F7"/>
        </a:solidFill>
      </p:bgPr>
    </p:bg>
    <p:spTree>
      <p:nvGrpSpPr>
        <p:cNvPr id="1" name=""/>
        <p:cNvGrpSpPr/>
        <p:nvPr/>
      </p:nvGrpSpPr>
      <p:grpSpPr>
        <a:xfrm>
          <a:off x="0" y="0"/>
          <a:ext cx="0" cy="0"/>
          <a:chOff x="0" y="0"/>
          <a:chExt cx="0" cy="0"/>
        </a:xfrm>
      </p:grpSpPr>
      <p:sp>
        <p:nvSpPr>
          <p:cNvPr id="2" name="Shape 0"/>
          <p:cNvSpPr/>
          <p:nvPr/>
        </p:nvSpPr>
        <p:spPr>
          <a:xfrm>
            <a:off x="548640" y="384048"/>
            <a:ext cx="1641348" cy="329184"/>
          </a:xfrm>
          <a:prstGeom prst="roundRect">
            <a:avLst>
              <a:gd name="adj" fmla="val 50000"/>
            </a:avLst>
          </a:prstGeom>
          <a:solidFill>
            <a:srgbClr val="0A2545"/>
          </a:solidFill>
          <a:ln w="12700">
            <a:solidFill>
              <a:srgbClr val="0A2545"/>
            </a:solidFill>
            <a:prstDash val="solid"/>
          </a:ln>
        </p:spPr>
      </p:sp>
      <p:sp>
        <p:nvSpPr>
          <p:cNvPr id="3" name="Text 1"/>
          <p:cNvSpPr txBox="1"/>
          <p:nvPr/>
        </p:nvSpPr>
        <p:spPr>
          <a:xfrm>
            <a:off x="548640" y="384048"/>
            <a:ext cx="1641348"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TARİFE YÖNETİMİ</a:t>
            </a:r>
            <a:endParaRPr lang="en-US" sz="1100" dirty="0"/>
          </a:p>
        </p:txBody>
      </p:sp>
      <p:sp>
        <p:nvSpPr>
          <p:cNvPr id="4" name="Text 2"/>
          <p:cNvSpPr txBox="1"/>
          <p:nvPr/>
        </p:nvSpPr>
        <p:spPr>
          <a:xfrm>
            <a:off x="548640" y="786384"/>
            <a:ext cx="11094415" cy="731520"/>
          </a:xfrm>
          <a:prstGeom prst="rect">
            <a:avLst/>
          </a:prstGeom>
          <a:noFill/>
          <a:ln/>
        </p:spPr>
        <p:txBody>
          <a:bodyPr wrap="square" lIns="0" tIns="0" rIns="0" bIns="0" rtlCol="0" anchor="ctr"/>
          <a:lstStyle/>
          <a:p>
            <a:pPr indent="0" marL="0">
              <a:buNone/>
            </a:pPr>
            <a:r>
              <a:rPr lang="en-US" sz="3000" b="1" dirty="0">
                <a:solidFill>
                  <a:srgbClr val="0A2545"/>
                </a:solidFill>
                <a:latin typeface="Arial" pitchFamily="34" charset="0"/>
                <a:ea typeface="Arial" pitchFamily="34" charset="-122"/>
                <a:cs typeface="Arial" pitchFamily="34" charset="-120"/>
              </a:rPr>
              <a:t>Fiyat değişikliği kontrollü ve izlenebilir</a:t>
            </a:r>
            <a:endParaRPr lang="en-US" sz="3000" dirty="0"/>
          </a:p>
        </p:txBody>
      </p:sp>
      <p:sp>
        <p:nvSpPr>
          <p:cNvPr id="5" name="Text 3"/>
          <p:cNvSpPr txBox="1"/>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9 / 16</a:t>
            </a:r>
            <a:endParaRPr lang="en-US" sz="1000" dirty="0"/>
          </a:p>
        </p:txBody>
      </p:sp>
      <p:sp>
        <p:nvSpPr>
          <p:cNvPr id="6" name="Shape 4"/>
          <p:cNvSpPr/>
          <p:nvPr/>
        </p:nvSpPr>
        <p:spPr>
          <a:xfrm>
            <a:off x="548640" y="1783080"/>
            <a:ext cx="3429000" cy="1920240"/>
          </a:xfrm>
          <a:prstGeom prst="roundRect">
            <a:avLst>
              <a:gd name="adj" fmla="val 5714"/>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7" name="Shape 5"/>
          <p:cNvSpPr/>
          <p:nvPr/>
        </p:nvSpPr>
        <p:spPr>
          <a:xfrm>
            <a:off x="822960" y="2057400"/>
            <a:ext cx="621792" cy="621792"/>
          </a:xfrm>
          <a:prstGeom prst="ellipse">
            <a:avLst/>
          </a:prstGeom>
          <a:solidFill>
            <a:srgbClr val="13325C"/>
          </a:solidFill>
          <a:ln w="12700">
            <a:solidFill>
              <a:srgbClr val="13325C"/>
            </a:solidFill>
            <a:prstDash val="solid"/>
          </a:ln>
        </p:spPr>
      </p:sp>
      <p:pic>
        <p:nvPicPr>
          <p:cNvPr id="8" name="Image 0" descr="preencoded.png">    </p:cNvPr>
          <p:cNvPicPr>
            <a:picLocks noChangeAspect="1"/>
          </p:cNvPicPr>
          <p:nvPr/>
        </p:nvPicPr>
        <p:blipFill>
          <a:blip r:embed="rId1"/>
          <a:stretch>
            <a:fillRect/>
          </a:stretch>
        </p:blipFill>
        <p:spPr>
          <a:xfrm>
            <a:off x="972190" y="2206630"/>
            <a:ext cx="323332" cy="323332"/>
          </a:xfrm>
          <a:prstGeom prst="rect">
            <a:avLst/>
          </a:prstGeom>
        </p:spPr>
      </p:pic>
      <p:sp>
        <p:nvSpPr>
          <p:cNvPr id="9" name="Text 6"/>
          <p:cNvSpPr txBox="1"/>
          <p:nvPr/>
        </p:nvSpPr>
        <p:spPr>
          <a:xfrm>
            <a:off x="1572768" y="2112264"/>
            <a:ext cx="2240280" cy="502920"/>
          </a:xfrm>
          <a:prstGeom prst="rect">
            <a:avLst/>
          </a:prstGeom>
          <a:noFill/>
          <a:ln/>
        </p:spPr>
        <p:txBody>
          <a:bodyPr wrap="square" lIns="0" tIns="0" rIns="0" bIns="0" rtlCol="0" anchor="ctr"/>
          <a:lstStyle/>
          <a:p>
            <a:pPr indent="0" marL="0">
              <a:buNone/>
            </a:pPr>
            <a:r>
              <a:rPr lang="en-US" sz="1500" b="1" dirty="0">
                <a:solidFill>
                  <a:srgbClr val="1F2937"/>
                </a:solidFill>
                <a:latin typeface="Arial" pitchFamily="34" charset="0"/>
                <a:ea typeface="Arial" pitchFamily="34" charset="-122"/>
                <a:cs typeface="Arial" pitchFamily="34" charset="-120"/>
              </a:rPr>
              <a:t>1. Manager talep açar</a:t>
            </a:r>
            <a:endParaRPr lang="en-US" sz="1500" dirty="0"/>
          </a:p>
        </p:txBody>
      </p:sp>
      <p:sp>
        <p:nvSpPr>
          <p:cNvPr id="10" name="Text 7"/>
          <p:cNvSpPr txBox="1"/>
          <p:nvPr/>
        </p:nvSpPr>
        <p:spPr>
          <a:xfrm>
            <a:off x="822960" y="2788920"/>
            <a:ext cx="2926080" cy="82296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Paket katsayısı, teminat ücreti veya fiyat kuralı için gerekçeli değişiklik talebi.</a:t>
            </a:r>
            <a:endParaRPr lang="en-US" sz="1300" dirty="0"/>
          </a:p>
        </p:txBody>
      </p:sp>
      <p:pic>
        <p:nvPicPr>
          <p:cNvPr id="11" name="Image 1" descr="preencoded.png">    </p:cNvPr>
          <p:cNvPicPr>
            <a:picLocks noChangeAspect="1"/>
          </p:cNvPicPr>
          <p:nvPr/>
        </p:nvPicPr>
        <p:blipFill>
          <a:blip r:embed="rId2"/>
          <a:stretch>
            <a:fillRect/>
          </a:stretch>
        </p:blipFill>
        <p:spPr>
          <a:xfrm>
            <a:off x="4033190" y="2596896"/>
            <a:ext cx="292608" cy="292608"/>
          </a:xfrm>
          <a:prstGeom prst="rect">
            <a:avLst/>
          </a:prstGeom>
        </p:spPr>
      </p:pic>
      <p:sp>
        <p:nvSpPr>
          <p:cNvPr id="12" name="Shape 8"/>
          <p:cNvSpPr/>
          <p:nvPr/>
        </p:nvSpPr>
        <p:spPr>
          <a:xfrm>
            <a:off x="4381348" y="1783080"/>
            <a:ext cx="3429000" cy="1920240"/>
          </a:xfrm>
          <a:prstGeom prst="roundRect">
            <a:avLst>
              <a:gd name="adj" fmla="val 5714"/>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13" name="Shape 9"/>
          <p:cNvSpPr/>
          <p:nvPr/>
        </p:nvSpPr>
        <p:spPr>
          <a:xfrm>
            <a:off x="4655668" y="2057400"/>
            <a:ext cx="621792" cy="621792"/>
          </a:xfrm>
          <a:prstGeom prst="ellipse">
            <a:avLst/>
          </a:prstGeom>
          <a:solidFill>
            <a:srgbClr val="1D6FF2"/>
          </a:solidFill>
          <a:ln w="12700">
            <a:solidFill>
              <a:srgbClr val="1D6FF2"/>
            </a:solidFill>
            <a:prstDash val="solid"/>
          </a:ln>
        </p:spPr>
      </p:sp>
      <p:pic>
        <p:nvPicPr>
          <p:cNvPr id="14" name="Image 2" descr="preencoded.png">    </p:cNvPr>
          <p:cNvPicPr>
            <a:picLocks noChangeAspect="1"/>
          </p:cNvPicPr>
          <p:nvPr/>
        </p:nvPicPr>
        <p:blipFill>
          <a:blip r:embed="rId3"/>
          <a:stretch>
            <a:fillRect/>
          </a:stretch>
        </p:blipFill>
        <p:spPr>
          <a:xfrm>
            <a:off x="4804898" y="2206630"/>
            <a:ext cx="323332" cy="323332"/>
          </a:xfrm>
          <a:prstGeom prst="rect">
            <a:avLst/>
          </a:prstGeom>
        </p:spPr>
      </p:pic>
      <p:sp>
        <p:nvSpPr>
          <p:cNvPr id="15" name="Text 10"/>
          <p:cNvSpPr txBox="1"/>
          <p:nvPr/>
        </p:nvSpPr>
        <p:spPr>
          <a:xfrm>
            <a:off x="5405476" y="2112264"/>
            <a:ext cx="2240280" cy="502920"/>
          </a:xfrm>
          <a:prstGeom prst="rect">
            <a:avLst/>
          </a:prstGeom>
          <a:noFill/>
          <a:ln/>
        </p:spPr>
        <p:txBody>
          <a:bodyPr wrap="square" lIns="0" tIns="0" rIns="0" bIns="0" rtlCol="0" anchor="ctr"/>
          <a:lstStyle/>
          <a:p>
            <a:pPr indent="0" marL="0">
              <a:buNone/>
            </a:pPr>
            <a:r>
              <a:rPr lang="en-US" sz="1500" b="1" dirty="0">
                <a:solidFill>
                  <a:srgbClr val="1F2937"/>
                </a:solidFill>
                <a:latin typeface="Arial" pitchFamily="34" charset="0"/>
                <a:ea typeface="Arial" pitchFamily="34" charset="-122"/>
                <a:cs typeface="Arial" pitchFamily="34" charset="-120"/>
              </a:rPr>
              <a:t>2. Admin etkiyi görür</a:t>
            </a:r>
            <a:endParaRPr lang="en-US" sz="1500" dirty="0"/>
          </a:p>
        </p:txBody>
      </p:sp>
      <p:sp>
        <p:nvSpPr>
          <p:cNvPr id="16" name="Text 11"/>
          <p:cNvSpPr txBox="1"/>
          <p:nvPr/>
        </p:nvSpPr>
        <p:spPr>
          <a:xfrm>
            <a:off x="4655668" y="2788920"/>
            <a:ext cx="2926080" cy="82296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Son 30 günün teklifleri yeni değerle yeniden hesaplanır; prim farkı gösterilir.</a:t>
            </a:r>
            <a:endParaRPr lang="en-US" sz="1300" dirty="0"/>
          </a:p>
        </p:txBody>
      </p:sp>
      <p:pic>
        <p:nvPicPr>
          <p:cNvPr id="17" name="Image 3" descr="preencoded.png">    </p:cNvPr>
          <p:cNvPicPr>
            <a:picLocks noChangeAspect="1"/>
          </p:cNvPicPr>
          <p:nvPr/>
        </p:nvPicPr>
        <p:blipFill>
          <a:blip r:embed="rId4"/>
          <a:stretch>
            <a:fillRect/>
          </a:stretch>
        </p:blipFill>
        <p:spPr>
          <a:xfrm>
            <a:off x="7865897" y="2596896"/>
            <a:ext cx="292608" cy="292608"/>
          </a:xfrm>
          <a:prstGeom prst="rect">
            <a:avLst/>
          </a:prstGeom>
        </p:spPr>
      </p:pic>
      <p:sp>
        <p:nvSpPr>
          <p:cNvPr id="18" name="Shape 12"/>
          <p:cNvSpPr/>
          <p:nvPr/>
        </p:nvSpPr>
        <p:spPr>
          <a:xfrm>
            <a:off x="8214055" y="1783080"/>
            <a:ext cx="3429000" cy="1920240"/>
          </a:xfrm>
          <a:prstGeom prst="roundRect">
            <a:avLst>
              <a:gd name="adj" fmla="val 5714"/>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19" name="Shape 13"/>
          <p:cNvSpPr/>
          <p:nvPr/>
        </p:nvSpPr>
        <p:spPr>
          <a:xfrm>
            <a:off x="8488375" y="2057400"/>
            <a:ext cx="621792" cy="621792"/>
          </a:xfrm>
          <a:prstGeom prst="ellipse">
            <a:avLst/>
          </a:prstGeom>
          <a:solidFill>
            <a:srgbClr val="16A34A"/>
          </a:solidFill>
          <a:ln w="12700">
            <a:solidFill>
              <a:srgbClr val="16A34A"/>
            </a:solidFill>
            <a:prstDash val="solid"/>
          </a:ln>
        </p:spPr>
      </p:sp>
      <p:pic>
        <p:nvPicPr>
          <p:cNvPr id="20" name="Image 4" descr="preencoded.png">    </p:cNvPr>
          <p:cNvPicPr>
            <a:picLocks noChangeAspect="1"/>
          </p:cNvPicPr>
          <p:nvPr/>
        </p:nvPicPr>
        <p:blipFill>
          <a:blip r:embed="rId5"/>
          <a:stretch>
            <a:fillRect/>
          </a:stretch>
        </p:blipFill>
        <p:spPr>
          <a:xfrm>
            <a:off x="8637605" y="2206630"/>
            <a:ext cx="323332" cy="323332"/>
          </a:xfrm>
          <a:prstGeom prst="rect">
            <a:avLst/>
          </a:prstGeom>
        </p:spPr>
      </p:pic>
      <p:sp>
        <p:nvSpPr>
          <p:cNvPr id="21" name="Text 14"/>
          <p:cNvSpPr txBox="1"/>
          <p:nvPr/>
        </p:nvSpPr>
        <p:spPr>
          <a:xfrm>
            <a:off x="9238183" y="2112264"/>
            <a:ext cx="2240280" cy="502920"/>
          </a:xfrm>
          <a:prstGeom prst="rect">
            <a:avLst/>
          </a:prstGeom>
          <a:noFill/>
          <a:ln/>
        </p:spPr>
        <p:txBody>
          <a:bodyPr wrap="square" lIns="0" tIns="0" rIns="0" bIns="0" rtlCol="0" anchor="ctr"/>
          <a:lstStyle/>
          <a:p>
            <a:pPr indent="0" marL="0">
              <a:buNone/>
            </a:pPr>
            <a:r>
              <a:rPr lang="en-US" sz="1500" b="1" dirty="0">
                <a:solidFill>
                  <a:srgbClr val="1F2937"/>
                </a:solidFill>
                <a:latin typeface="Arial" pitchFamily="34" charset="0"/>
                <a:ea typeface="Arial" pitchFamily="34" charset="-122"/>
                <a:cs typeface="Arial" pitchFamily="34" charset="-120"/>
              </a:rPr>
              <a:t>3. Yeni sürüm oluşur</a:t>
            </a:r>
            <a:endParaRPr lang="en-US" sz="1500" dirty="0"/>
          </a:p>
        </p:txBody>
      </p:sp>
      <p:sp>
        <p:nvSpPr>
          <p:cNvPr id="22" name="Text 15"/>
          <p:cNvSpPr txBox="1"/>
          <p:nvPr/>
        </p:nvSpPr>
        <p:spPr>
          <a:xfrm>
            <a:off x="8488375" y="2788920"/>
            <a:ext cx="2926080" cy="82296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Onayda kuralın yeni sürümü (v2) açılır; red gerekçesiyle kaydedilir.</a:t>
            </a:r>
            <a:endParaRPr lang="en-US" sz="1300" dirty="0"/>
          </a:p>
        </p:txBody>
      </p:sp>
      <p:sp>
        <p:nvSpPr>
          <p:cNvPr id="23" name="Shape 16"/>
          <p:cNvSpPr/>
          <p:nvPr/>
        </p:nvSpPr>
        <p:spPr>
          <a:xfrm>
            <a:off x="548640" y="3931920"/>
            <a:ext cx="5410048" cy="2148840"/>
          </a:xfrm>
          <a:prstGeom prst="roundRect">
            <a:avLst>
              <a:gd name="adj" fmla="val 5106"/>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24" name="Shape 17"/>
          <p:cNvSpPr/>
          <p:nvPr/>
        </p:nvSpPr>
        <p:spPr>
          <a:xfrm>
            <a:off x="822960" y="4206240"/>
            <a:ext cx="566928" cy="566928"/>
          </a:xfrm>
          <a:prstGeom prst="ellipse">
            <a:avLst/>
          </a:prstGeom>
          <a:solidFill>
            <a:srgbClr val="0A2545"/>
          </a:solidFill>
          <a:ln w="12700">
            <a:solidFill>
              <a:srgbClr val="0A2545"/>
            </a:solidFill>
            <a:prstDash val="solid"/>
          </a:ln>
        </p:spPr>
      </p:sp>
      <p:pic>
        <p:nvPicPr>
          <p:cNvPr id="25" name="Image 5" descr="preencoded.png">    </p:cNvPr>
          <p:cNvPicPr>
            <a:picLocks noChangeAspect="1"/>
          </p:cNvPicPr>
          <p:nvPr/>
        </p:nvPicPr>
        <p:blipFill>
          <a:blip r:embed="rId6"/>
          <a:stretch>
            <a:fillRect/>
          </a:stretch>
        </p:blipFill>
        <p:spPr>
          <a:xfrm>
            <a:off x="959023" y="4342303"/>
            <a:ext cx="294803" cy="294803"/>
          </a:xfrm>
          <a:prstGeom prst="rect">
            <a:avLst/>
          </a:prstGeom>
        </p:spPr>
      </p:pic>
      <p:sp>
        <p:nvSpPr>
          <p:cNvPr id="26" name="Text 18"/>
          <p:cNvSpPr txBox="1"/>
          <p:nvPr/>
        </p:nvSpPr>
        <p:spPr>
          <a:xfrm>
            <a:off x="1554480" y="4242816"/>
            <a:ext cx="4221328" cy="45720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Fiyat fotoğrafı</a:t>
            </a:r>
            <a:endParaRPr lang="en-US" sz="1600" dirty="0"/>
          </a:p>
        </p:txBody>
      </p:sp>
      <p:sp>
        <p:nvSpPr>
          <p:cNvPr id="27" name="Text 19"/>
          <p:cNvSpPr txBox="1"/>
          <p:nvPr/>
        </p:nvSpPr>
        <p:spPr>
          <a:xfrm>
            <a:off x="822960" y="4892040"/>
            <a:ext cx="4907128" cy="109728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Teklif anındaki araç değeri, oran ve bütün katsayılar QuotePricingSnapshot tablosuna yazılır. Tarife sonradan değişse de teklifin fiyatı geçerlilik süresince aynı kalır ve fiyatın nasıl oluştuğu geriye dönük izlenebilir.</a:t>
            </a:r>
            <a:endParaRPr lang="en-US" sz="1300" dirty="0"/>
          </a:p>
        </p:txBody>
      </p:sp>
      <p:sp>
        <p:nvSpPr>
          <p:cNvPr id="28" name="Shape 20"/>
          <p:cNvSpPr/>
          <p:nvPr/>
        </p:nvSpPr>
        <p:spPr>
          <a:xfrm>
            <a:off x="6233008" y="3931920"/>
            <a:ext cx="5410048" cy="2148840"/>
          </a:xfrm>
          <a:prstGeom prst="roundRect">
            <a:avLst>
              <a:gd name="adj" fmla="val 5106"/>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29" name="Shape 21"/>
          <p:cNvSpPr/>
          <p:nvPr/>
        </p:nvSpPr>
        <p:spPr>
          <a:xfrm>
            <a:off x="6507328" y="4206240"/>
            <a:ext cx="566928" cy="566928"/>
          </a:xfrm>
          <a:prstGeom prst="ellipse">
            <a:avLst/>
          </a:prstGeom>
          <a:solidFill>
            <a:srgbClr val="D97706"/>
          </a:solidFill>
          <a:ln w="12700">
            <a:solidFill>
              <a:srgbClr val="D97706"/>
            </a:solidFill>
            <a:prstDash val="solid"/>
          </a:ln>
        </p:spPr>
      </p:sp>
      <p:pic>
        <p:nvPicPr>
          <p:cNvPr id="30" name="Image 6" descr="preencoded.png">    </p:cNvPr>
          <p:cNvPicPr>
            <a:picLocks noChangeAspect="1"/>
          </p:cNvPicPr>
          <p:nvPr/>
        </p:nvPicPr>
        <p:blipFill>
          <a:blip r:embed="rId7"/>
          <a:stretch>
            <a:fillRect/>
          </a:stretch>
        </p:blipFill>
        <p:spPr>
          <a:xfrm>
            <a:off x="6643390" y="4342303"/>
            <a:ext cx="294803" cy="294803"/>
          </a:xfrm>
          <a:prstGeom prst="rect">
            <a:avLst/>
          </a:prstGeom>
        </p:spPr>
      </p:pic>
      <p:sp>
        <p:nvSpPr>
          <p:cNvPr id="31" name="Text 22"/>
          <p:cNvSpPr txBox="1"/>
          <p:nvPr/>
        </p:nvSpPr>
        <p:spPr>
          <a:xfrm>
            <a:off x="7238848" y="4242816"/>
            <a:ext cx="4221328" cy="45720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Otomatik onay sınırları</a:t>
            </a:r>
            <a:endParaRPr lang="en-US" sz="1600" dirty="0"/>
          </a:p>
        </p:txBody>
      </p:sp>
      <p:sp>
        <p:nvSpPr>
          <p:cNvPr id="32" name="Text 23"/>
          <p:cNvSpPr txBox="1"/>
          <p:nvPr/>
        </p:nvSpPr>
        <p:spPr>
          <a:xfrm>
            <a:off x="6507328" y="4892040"/>
            <a:ext cx="2430704" cy="36576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Prim: </a:t>
            </a:r>
            <a:pPr indent="0" marL="0">
              <a:buNone/>
            </a:pPr>
            <a:r>
              <a:rPr lang="en-US" sz="1400" b="1" dirty="0">
                <a:solidFill>
                  <a:srgbClr val="1F2937"/>
                </a:solidFill>
                <a:latin typeface="Calibri" pitchFamily="34" charset="0"/>
                <a:ea typeface="Calibri" pitchFamily="34" charset="-122"/>
                <a:cs typeface="Calibri" pitchFamily="34" charset="-120"/>
              </a:rPr>
              <a:t>≤ 150.000 ₺</a:t>
            </a:r>
            <a:endParaRPr lang="en-US" sz="1400" dirty="0"/>
          </a:p>
        </p:txBody>
      </p:sp>
      <p:sp>
        <p:nvSpPr>
          <p:cNvPr id="33" name="Text 24"/>
          <p:cNvSpPr txBox="1"/>
          <p:nvPr/>
        </p:nvSpPr>
        <p:spPr>
          <a:xfrm>
            <a:off x="8938031" y="4892040"/>
            <a:ext cx="2430704" cy="36576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Araç değeri: </a:t>
            </a:r>
            <a:pPr indent="0" marL="0">
              <a:buNone/>
            </a:pPr>
            <a:r>
              <a:rPr lang="en-US" sz="1400" b="1" dirty="0">
                <a:solidFill>
                  <a:srgbClr val="1F2937"/>
                </a:solidFill>
                <a:latin typeface="Calibri" pitchFamily="34" charset="0"/>
                <a:ea typeface="Calibri" pitchFamily="34" charset="-122"/>
                <a:cs typeface="Calibri" pitchFamily="34" charset="-120"/>
              </a:rPr>
              <a:t>≤ 5.000.000 ₺</a:t>
            </a:r>
            <a:endParaRPr lang="en-US" sz="1400" dirty="0"/>
          </a:p>
        </p:txBody>
      </p:sp>
      <p:sp>
        <p:nvSpPr>
          <p:cNvPr id="34" name="Text 25"/>
          <p:cNvSpPr txBox="1"/>
          <p:nvPr/>
        </p:nvSpPr>
        <p:spPr>
          <a:xfrm>
            <a:off x="6507328" y="5349240"/>
            <a:ext cx="2430704" cy="36576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Hasar sayısı: </a:t>
            </a:r>
            <a:pPr indent="0" marL="0">
              <a:buNone/>
            </a:pPr>
            <a:r>
              <a:rPr lang="en-US" sz="1400" b="1" dirty="0">
                <a:solidFill>
                  <a:srgbClr val="1F2937"/>
                </a:solidFill>
                <a:latin typeface="Calibri" pitchFamily="34" charset="0"/>
                <a:ea typeface="Calibri" pitchFamily="34" charset="-122"/>
                <a:cs typeface="Calibri" pitchFamily="34" charset="-120"/>
              </a:rPr>
              <a:t>≤ 2</a:t>
            </a:r>
            <a:endParaRPr lang="en-US" sz="1400" dirty="0"/>
          </a:p>
        </p:txBody>
      </p:sp>
      <p:sp>
        <p:nvSpPr>
          <p:cNvPr id="35" name="Text 26"/>
          <p:cNvSpPr txBox="1"/>
          <p:nvPr/>
        </p:nvSpPr>
        <p:spPr>
          <a:xfrm>
            <a:off x="8938031" y="5349240"/>
            <a:ext cx="2430704" cy="36576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Araç yaşı: </a:t>
            </a:r>
            <a:pPr indent="0" marL="0">
              <a:buNone/>
            </a:pPr>
            <a:r>
              <a:rPr lang="en-US" sz="1400" b="1" dirty="0">
                <a:solidFill>
                  <a:srgbClr val="1F2937"/>
                </a:solidFill>
                <a:latin typeface="Calibri" pitchFamily="34" charset="0"/>
                <a:ea typeface="Calibri" pitchFamily="34" charset="-122"/>
                <a:cs typeface="Calibri" pitchFamily="34" charset="-120"/>
              </a:rPr>
              <a:t>≤ 12</a:t>
            </a:r>
            <a:endParaRPr lang="en-US" sz="1400" dirty="0"/>
          </a:p>
        </p:txBody>
      </p:sp>
      <p:sp>
        <p:nvSpPr>
          <p:cNvPr id="36" name="Text 27"/>
          <p:cNvSpPr txBox="1"/>
          <p:nvPr/>
        </p:nvSpPr>
        <p:spPr>
          <a:xfrm>
            <a:off x="6507328" y="5715000"/>
            <a:ext cx="4952848" cy="274320"/>
          </a:xfrm>
          <a:prstGeom prst="rect">
            <a:avLst/>
          </a:prstGeom>
          <a:noFill/>
          <a:ln/>
        </p:spPr>
        <p:txBody>
          <a:bodyPr wrap="square" lIns="0" tIns="0" rIns="0" bIns="0" rtlCol="0" anchor="ctr"/>
          <a:lstStyle/>
          <a:p>
            <a:pPr indent="0" marL="0">
              <a:buNone/>
            </a:pPr>
            <a:r>
              <a:rPr lang="en-US" sz="1250" i="1" dirty="0">
                <a:solidFill>
                  <a:srgbClr val="5B6472"/>
                </a:solidFill>
                <a:latin typeface="Calibri" pitchFamily="34" charset="0"/>
                <a:ea typeface="Calibri" pitchFamily="34" charset="-122"/>
                <a:cs typeface="Calibri" pitchFamily="34" charset="-120"/>
              </a:rPr>
              <a:t>Sınır dışındaki teklif gerekçesiyle yönetici onayına düşer.</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2F7"/>
        </a:solidFill>
      </p:bgPr>
    </p:bg>
    <p:spTree>
      <p:nvGrpSpPr>
        <p:cNvPr id="1" name=""/>
        <p:cNvGrpSpPr/>
        <p:nvPr/>
      </p:nvGrpSpPr>
      <p:grpSpPr>
        <a:xfrm>
          <a:off x="0" y="0"/>
          <a:ext cx="0" cy="0"/>
          <a:chOff x="0" y="0"/>
          <a:chExt cx="0" cy="0"/>
        </a:xfrm>
      </p:grpSpPr>
      <p:sp>
        <p:nvSpPr>
          <p:cNvPr id="2" name="Shape 0"/>
          <p:cNvSpPr/>
          <p:nvPr/>
        </p:nvSpPr>
        <p:spPr>
          <a:xfrm>
            <a:off x="548640" y="384048"/>
            <a:ext cx="1353312" cy="329184"/>
          </a:xfrm>
          <a:prstGeom prst="roundRect">
            <a:avLst>
              <a:gd name="adj" fmla="val 50000"/>
            </a:avLst>
          </a:prstGeom>
          <a:solidFill>
            <a:srgbClr val="0A2545"/>
          </a:solidFill>
          <a:ln w="12700">
            <a:solidFill>
              <a:srgbClr val="0A2545"/>
            </a:solidFill>
            <a:prstDash val="solid"/>
          </a:ln>
        </p:spPr>
      </p:sp>
      <p:sp>
        <p:nvSpPr>
          <p:cNvPr id="3" name="Text 1"/>
          <p:cNvSpPr txBox="1"/>
          <p:nvPr/>
        </p:nvSpPr>
        <p:spPr>
          <a:xfrm>
            <a:off x="548640" y="384048"/>
            <a:ext cx="1353312"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HIZLI TEKLİF</a:t>
            </a:r>
            <a:endParaRPr lang="en-US" sz="1100" dirty="0"/>
          </a:p>
        </p:txBody>
      </p:sp>
      <p:sp>
        <p:nvSpPr>
          <p:cNvPr id="4" name="Text 2"/>
          <p:cNvSpPr txBox="1"/>
          <p:nvPr/>
        </p:nvSpPr>
        <p:spPr>
          <a:xfrm>
            <a:off x="548640" y="786384"/>
            <a:ext cx="11094415" cy="731520"/>
          </a:xfrm>
          <a:prstGeom prst="rect">
            <a:avLst/>
          </a:prstGeom>
          <a:noFill/>
          <a:ln/>
        </p:spPr>
        <p:txBody>
          <a:bodyPr wrap="square" lIns="0" tIns="0" rIns="0" bIns="0" rtlCol="0" anchor="ctr"/>
          <a:lstStyle/>
          <a:p>
            <a:pPr indent="0" marL="0">
              <a:buNone/>
            </a:pPr>
            <a:r>
              <a:rPr lang="en-US" sz="3000" b="1" dirty="0">
                <a:solidFill>
                  <a:srgbClr val="0A2545"/>
                </a:solidFill>
                <a:latin typeface="Arial" pitchFamily="34" charset="0"/>
                <a:ea typeface="Arial" pitchFamily="34" charset="-122"/>
                <a:cs typeface="Arial" pitchFamily="34" charset="-120"/>
              </a:rPr>
              <a:t>Üye olmadan birkaç adımda kasko teklifi</a:t>
            </a:r>
            <a:endParaRPr lang="en-US" sz="3000" dirty="0"/>
          </a:p>
        </p:txBody>
      </p:sp>
      <p:sp>
        <p:nvSpPr>
          <p:cNvPr id="5" name="Text 3"/>
          <p:cNvSpPr txBox="1"/>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10 / 16</a:t>
            </a:r>
            <a:endParaRPr lang="en-US" sz="1000" dirty="0"/>
          </a:p>
        </p:txBody>
      </p:sp>
      <p:sp>
        <p:nvSpPr>
          <p:cNvPr id="6" name="Shape 4"/>
          <p:cNvSpPr/>
          <p:nvPr/>
        </p:nvSpPr>
        <p:spPr>
          <a:xfrm>
            <a:off x="548640" y="1719072"/>
            <a:ext cx="5202936" cy="2879797"/>
          </a:xfrm>
          <a:prstGeom prst="roundRect">
            <a:avLst>
              <a:gd name="adj" fmla="val 2540"/>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pic>
        <p:nvPicPr>
          <p:cNvPr id="7" name="Image 0" descr="C:\Users\Asus\AppData\Local\Temp\claude\C--Proje-SigortaSatisUygulama\25ccf29a-d4f5-4ae0-a5ee-6b259b3cc9b7\scratchpad\sunum\img\hizli_otp.png">    </p:cNvPr>
          <p:cNvPicPr>
            <a:picLocks noChangeAspect="1"/>
          </p:cNvPicPr>
          <p:nvPr/>
        </p:nvPicPr>
        <p:blipFill>
          <a:blip r:embed="rId1"/>
          <a:stretch>
            <a:fillRect/>
          </a:stretch>
        </p:blipFill>
        <p:spPr>
          <a:xfrm>
            <a:off x="612648" y="1783080"/>
            <a:ext cx="5074920" cy="2751781"/>
          </a:xfrm>
          <a:prstGeom prst="rect">
            <a:avLst/>
          </a:prstGeom>
        </p:spPr>
      </p:pic>
      <p:sp>
        <p:nvSpPr>
          <p:cNvPr id="8" name="Shape 5"/>
          <p:cNvSpPr/>
          <p:nvPr/>
        </p:nvSpPr>
        <p:spPr>
          <a:xfrm>
            <a:off x="6440119" y="1719072"/>
            <a:ext cx="5202936" cy="2866568"/>
          </a:xfrm>
          <a:prstGeom prst="roundRect">
            <a:avLst>
              <a:gd name="adj" fmla="val 2552"/>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pic>
        <p:nvPicPr>
          <p:cNvPr id="9" name="Image 1" descr="C:\Users\Asus\AppData\Local\Temp\claude\C--Proje-SigortaSatisUygulama\25ccf29a-d4f5-4ae0-a5ee-6b259b3cc9b7\scratchpad\sunum\img\hizli_teklif.png">    </p:cNvPr>
          <p:cNvPicPr>
            <a:picLocks noChangeAspect="1"/>
          </p:cNvPicPr>
          <p:nvPr/>
        </p:nvPicPr>
        <p:blipFill>
          <a:blip r:embed="rId2"/>
          <a:stretch>
            <a:fillRect/>
          </a:stretch>
        </p:blipFill>
        <p:spPr>
          <a:xfrm>
            <a:off x="6504127" y="1783080"/>
            <a:ext cx="5074920" cy="2738552"/>
          </a:xfrm>
          <a:prstGeom prst="rect">
            <a:avLst/>
          </a:prstGeom>
        </p:spPr>
      </p:pic>
      <p:sp>
        <p:nvSpPr>
          <p:cNvPr id="10" name="Text 6"/>
          <p:cNvSpPr txBox="1"/>
          <p:nvPr/>
        </p:nvSpPr>
        <p:spPr>
          <a:xfrm>
            <a:off x="548640" y="4672021"/>
            <a:ext cx="5202936" cy="274320"/>
          </a:xfrm>
          <a:prstGeom prst="rect">
            <a:avLst/>
          </a:prstGeom>
          <a:noFill/>
          <a:ln/>
        </p:spPr>
        <p:txBody>
          <a:bodyPr wrap="square" lIns="0" tIns="0" rIns="0" bIns="0" rtlCol="0" anchor="ctr"/>
          <a:lstStyle/>
          <a:p>
            <a:pPr algn="ctr" indent="0" marL="0">
              <a:buNone/>
            </a:pPr>
            <a:r>
              <a:rPr lang="en-US" sz="1200" i="1" dirty="0">
                <a:solidFill>
                  <a:srgbClr val="5B6472"/>
                </a:solidFill>
                <a:latin typeface="Calibri" pitchFamily="34" charset="0"/>
                <a:ea typeface="Calibri" pitchFamily="34" charset="-122"/>
                <a:cs typeface="Calibri" pitchFamily="34" charset="-120"/>
              </a:rPr>
              <a:t>Kayıtlı müşteri: T.C. + telefon + tek kullanımlık kod</a:t>
            </a:r>
            <a:endParaRPr lang="en-US" sz="1200" dirty="0"/>
          </a:p>
        </p:txBody>
      </p:sp>
      <p:sp>
        <p:nvSpPr>
          <p:cNvPr id="11" name="Text 7"/>
          <p:cNvSpPr txBox="1"/>
          <p:nvPr/>
        </p:nvSpPr>
        <p:spPr>
          <a:xfrm>
            <a:off x="6440119" y="4672021"/>
            <a:ext cx="5202936" cy="274320"/>
          </a:xfrm>
          <a:prstGeom prst="rect">
            <a:avLst/>
          </a:prstGeom>
          <a:noFill/>
          <a:ln/>
        </p:spPr>
        <p:txBody>
          <a:bodyPr wrap="square" lIns="0" tIns="0" rIns="0" bIns="0" rtlCol="0" anchor="ctr"/>
          <a:lstStyle/>
          <a:p>
            <a:pPr algn="ctr" indent="0" marL="0">
              <a:buNone/>
            </a:pPr>
            <a:r>
              <a:rPr lang="en-US" sz="1200" i="1" dirty="0">
                <a:solidFill>
                  <a:srgbClr val="5B6472"/>
                </a:solidFill>
                <a:latin typeface="Calibri" pitchFamily="34" charset="0"/>
                <a:ea typeface="Calibri" pitchFamily="34" charset="-122"/>
                <a:cs typeface="Calibri" pitchFamily="34" charset="-120"/>
              </a:rPr>
              <a:t>Üç paket yan yana; limit ve muafiyetle anlık yeniden fiyat</a:t>
            </a:r>
            <a:endParaRPr lang="en-US" sz="1200" dirty="0"/>
          </a:p>
        </p:txBody>
      </p:sp>
      <p:sp>
        <p:nvSpPr>
          <p:cNvPr id="12" name="Shape 8"/>
          <p:cNvSpPr/>
          <p:nvPr/>
        </p:nvSpPr>
        <p:spPr>
          <a:xfrm>
            <a:off x="548640" y="5129221"/>
            <a:ext cx="420624" cy="420624"/>
          </a:xfrm>
          <a:prstGeom prst="ellipse">
            <a:avLst/>
          </a:prstGeom>
          <a:solidFill>
            <a:srgbClr val="1D6FF2"/>
          </a:solidFill>
          <a:ln w="12700">
            <a:solidFill>
              <a:srgbClr val="1D6FF2"/>
            </a:solidFill>
            <a:prstDash val="solid"/>
          </a:ln>
        </p:spPr>
      </p:sp>
      <p:pic>
        <p:nvPicPr>
          <p:cNvPr id="13" name="Image 2" descr="preencoded.png">    </p:cNvPr>
          <p:cNvPicPr>
            <a:picLocks noChangeAspect="1"/>
          </p:cNvPicPr>
          <p:nvPr/>
        </p:nvPicPr>
        <p:blipFill>
          <a:blip r:embed="rId3"/>
          <a:stretch>
            <a:fillRect/>
          </a:stretch>
        </p:blipFill>
        <p:spPr>
          <a:xfrm>
            <a:off x="649590" y="5230171"/>
            <a:ext cx="218724" cy="218724"/>
          </a:xfrm>
          <a:prstGeom prst="rect">
            <a:avLst/>
          </a:prstGeom>
        </p:spPr>
      </p:pic>
      <p:sp>
        <p:nvSpPr>
          <p:cNvPr id="14" name="Text 9"/>
          <p:cNvSpPr txBox="1"/>
          <p:nvPr/>
        </p:nvSpPr>
        <p:spPr>
          <a:xfrm>
            <a:off x="1078992" y="5083501"/>
            <a:ext cx="3108960" cy="54864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Plaka Türk plaka kuralına göre doğrulanır, araç değeri TSB'den gelir</a:t>
            </a:r>
            <a:endParaRPr lang="en-US" sz="1300" dirty="0"/>
          </a:p>
        </p:txBody>
      </p:sp>
      <p:sp>
        <p:nvSpPr>
          <p:cNvPr id="15" name="Shape 10"/>
          <p:cNvSpPr/>
          <p:nvPr/>
        </p:nvSpPr>
        <p:spPr>
          <a:xfrm>
            <a:off x="4297680" y="5129221"/>
            <a:ext cx="420624" cy="420624"/>
          </a:xfrm>
          <a:prstGeom prst="ellipse">
            <a:avLst/>
          </a:prstGeom>
          <a:solidFill>
            <a:srgbClr val="1D6FF2"/>
          </a:solidFill>
          <a:ln w="12700">
            <a:solidFill>
              <a:srgbClr val="1D6FF2"/>
            </a:solidFill>
            <a:prstDash val="solid"/>
          </a:ln>
        </p:spPr>
      </p:sp>
      <p:pic>
        <p:nvPicPr>
          <p:cNvPr id="16" name="Image 3" descr="preencoded.png">    </p:cNvPr>
          <p:cNvPicPr>
            <a:picLocks noChangeAspect="1"/>
          </p:cNvPicPr>
          <p:nvPr/>
        </p:nvPicPr>
        <p:blipFill>
          <a:blip r:embed="rId4"/>
          <a:stretch>
            <a:fillRect/>
          </a:stretch>
        </p:blipFill>
        <p:spPr>
          <a:xfrm>
            <a:off x="4398630" y="5230171"/>
            <a:ext cx="218724" cy="218724"/>
          </a:xfrm>
          <a:prstGeom prst="rect">
            <a:avLst/>
          </a:prstGeom>
        </p:spPr>
      </p:pic>
      <p:sp>
        <p:nvSpPr>
          <p:cNvPr id="17" name="Text 11"/>
          <p:cNvSpPr txBox="1"/>
          <p:nvPr/>
        </p:nvSpPr>
        <p:spPr>
          <a:xfrm>
            <a:off x="4828032" y="5083501"/>
            <a:ext cx="3108960" cy="54864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Aktif poliçeli araca yeni teklif, hesaplamadan önce engellenir</a:t>
            </a:r>
            <a:endParaRPr lang="en-US" sz="1300" dirty="0"/>
          </a:p>
        </p:txBody>
      </p:sp>
      <p:sp>
        <p:nvSpPr>
          <p:cNvPr id="18" name="Shape 12"/>
          <p:cNvSpPr/>
          <p:nvPr/>
        </p:nvSpPr>
        <p:spPr>
          <a:xfrm>
            <a:off x="8046720" y="5129221"/>
            <a:ext cx="420624" cy="420624"/>
          </a:xfrm>
          <a:prstGeom prst="ellipse">
            <a:avLst/>
          </a:prstGeom>
          <a:solidFill>
            <a:srgbClr val="1D6FF2"/>
          </a:solidFill>
          <a:ln w="12700">
            <a:solidFill>
              <a:srgbClr val="1D6FF2"/>
            </a:solidFill>
            <a:prstDash val="solid"/>
          </a:ln>
        </p:spPr>
      </p:sp>
      <p:pic>
        <p:nvPicPr>
          <p:cNvPr id="19" name="Image 4" descr="preencoded.png">    </p:cNvPr>
          <p:cNvPicPr>
            <a:picLocks noChangeAspect="1"/>
          </p:cNvPicPr>
          <p:nvPr/>
        </p:nvPicPr>
        <p:blipFill>
          <a:blip r:embed="rId5"/>
          <a:stretch>
            <a:fillRect/>
          </a:stretch>
        </p:blipFill>
        <p:spPr>
          <a:xfrm>
            <a:off x="8147670" y="5230171"/>
            <a:ext cx="218724" cy="218724"/>
          </a:xfrm>
          <a:prstGeom prst="rect">
            <a:avLst/>
          </a:prstGeom>
        </p:spPr>
      </p:pic>
      <p:sp>
        <p:nvSpPr>
          <p:cNvPr id="20" name="Text 13"/>
          <p:cNvSpPr txBox="1"/>
          <p:nvPr/>
        </p:nvSpPr>
        <p:spPr>
          <a:xfrm>
            <a:off x="8577072" y="5083501"/>
            <a:ext cx="3108960" cy="54864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Satın almak isteyen kayda yönlenir; T.C. ve telefon otomatik dolar</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2F7"/>
        </a:solidFill>
      </p:bgPr>
    </p:bg>
    <p:spTree>
      <p:nvGrpSpPr>
        <p:cNvPr id="1" name=""/>
        <p:cNvGrpSpPr/>
        <p:nvPr/>
      </p:nvGrpSpPr>
      <p:grpSpPr>
        <a:xfrm>
          <a:off x="0" y="0"/>
          <a:ext cx="0" cy="0"/>
          <a:chOff x="0" y="0"/>
          <a:chExt cx="0" cy="0"/>
        </a:xfrm>
      </p:grpSpPr>
      <p:sp>
        <p:nvSpPr>
          <p:cNvPr id="2" name="Shape 0"/>
          <p:cNvSpPr/>
          <p:nvPr/>
        </p:nvSpPr>
        <p:spPr>
          <a:xfrm>
            <a:off x="548640" y="384048"/>
            <a:ext cx="1065276" cy="329184"/>
          </a:xfrm>
          <a:prstGeom prst="roundRect">
            <a:avLst>
              <a:gd name="adj" fmla="val 50000"/>
            </a:avLst>
          </a:prstGeom>
          <a:solidFill>
            <a:srgbClr val="0A2545"/>
          </a:solidFill>
          <a:ln w="12700">
            <a:solidFill>
              <a:srgbClr val="0A2545"/>
            </a:solidFill>
            <a:prstDash val="solid"/>
          </a:ln>
        </p:spPr>
      </p:sp>
      <p:sp>
        <p:nvSpPr>
          <p:cNvPr id="3" name="Text 1"/>
          <p:cNvSpPr txBox="1"/>
          <p:nvPr/>
        </p:nvSpPr>
        <p:spPr>
          <a:xfrm>
            <a:off x="548640" y="384048"/>
            <a:ext cx="1065276"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OPERASYON</a:t>
            </a:r>
            <a:endParaRPr lang="en-US" sz="1100" dirty="0"/>
          </a:p>
        </p:txBody>
      </p:sp>
      <p:sp>
        <p:nvSpPr>
          <p:cNvPr id="4" name="Text 2"/>
          <p:cNvSpPr txBox="1"/>
          <p:nvPr/>
        </p:nvSpPr>
        <p:spPr>
          <a:xfrm>
            <a:off x="548640" y="786384"/>
            <a:ext cx="11094415" cy="731520"/>
          </a:xfrm>
          <a:prstGeom prst="rect">
            <a:avLst/>
          </a:prstGeom>
          <a:noFill/>
          <a:ln/>
        </p:spPr>
        <p:txBody>
          <a:bodyPr wrap="square" lIns="0" tIns="0" rIns="0" bIns="0" rtlCol="0" anchor="ctr"/>
          <a:lstStyle/>
          <a:p>
            <a:pPr indent="0" marL="0">
              <a:buNone/>
            </a:pPr>
            <a:r>
              <a:rPr lang="en-US" sz="3000" b="1" dirty="0">
                <a:solidFill>
                  <a:srgbClr val="0A2545"/>
                </a:solidFill>
                <a:latin typeface="Arial" pitchFamily="34" charset="0"/>
                <a:ea typeface="Arial" pitchFamily="34" charset="-122"/>
                <a:cs typeface="Arial" pitchFamily="34" charset="-120"/>
              </a:rPr>
              <a:t>Yönetim paneli ve satış sonrası işlemler</a:t>
            </a:r>
            <a:endParaRPr lang="en-US" sz="3000" dirty="0"/>
          </a:p>
        </p:txBody>
      </p:sp>
      <p:sp>
        <p:nvSpPr>
          <p:cNvPr id="5" name="Text 3"/>
          <p:cNvSpPr txBox="1"/>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11 / 16</a:t>
            </a:r>
            <a:endParaRPr lang="en-US" sz="1000" dirty="0"/>
          </a:p>
        </p:txBody>
      </p:sp>
      <p:sp>
        <p:nvSpPr>
          <p:cNvPr id="6" name="Shape 4"/>
          <p:cNvSpPr/>
          <p:nvPr/>
        </p:nvSpPr>
        <p:spPr>
          <a:xfrm>
            <a:off x="548640" y="1719072"/>
            <a:ext cx="7077456" cy="3874482"/>
          </a:xfrm>
          <a:prstGeom prst="roundRect">
            <a:avLst>
              <a:gd name="adj" fmla="val 1888"/>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pic>
        <p:nvPicPr>
          <p:cNvPr id="7" name="Image 0" descr="C:\Users\Asus\AppData\Local\Temp\claude\C--Proje-SigortaSatisUygulama\25ccf29a-d4f5-4ae0-a5ee-6b259b3cc9b7\scratchpad\sunum\img\dashboard.png">    </p:cNvPr>
          <p:cNvPicPr>
            <a:picLocks noChangeAspect="1"/>
          </p:cNvPicPr>
          <p:nvPr/>
        </p:nvPicPr>
        <p:blipFill>
          <a:blip r:embed="rId1"/>
          <a:stretch>
            <a:fillRect/>
          </a:stretch>
        </p:blipFill>
        <p:spPr>
          <a:xfrm>
            <a:off x="612648" y="1783080"/>
            <a:ext cx="6949440" cy="3746466"/>
          </a:xfrm>
          <a:prstGeom prst="rect">
            <a:avLst/>
          </a:prstGeom>
        </p:spPr>
      </p:pic>
      <p:sp>
        <p:nvSpPr>
          <p:cNvPr id="8" name="Shape 5"/>
          <p:cNvSpPr/>
          <p:nvPr/>
        </p:nvSpPr>
        <p:spPr>
          <a:xfrm>
            <a:off x="8001000" y="1810512"/>
            <a:ext cx="502920" cy="502920"/>
          </a:xfrm>
          <a:prstGeom prst="ellipse">
            <a:avLst/>
          </a:prstGeom>
          <a:solidFill>
            <a:srgbClr val="13325C"/>
          </a:solidFill>
          <a:ln w="12700">
            <a:solidFill>
              <a:srgbClr val="13325C"/>
            </a:solidFill>
            <a:prstDash val="solid"/>
          </a:ln>
        </p:spPr>
      </p:sp>
      <p:pic>
        <p:nvPicPr>
          <p:cNvPr id="9" name="Image 1" descr="preencoded.png">    </p:cNvPr>
          <p:cNvPicPr>
            <a:picLocks noChangeAspect="1"/>
          </p:cNvPicPr>
          <p:nvPr/>
        </p:nvPicPr>
        <p:blipFill>
          <a:blip r:embed="rId2"/>
          <a:stretch>
            <a:fillRect/>
          </a:stretch>
        </p:blipFill>
        <p:spPr>
          <a:xfrm>
            <a:off x="8121701" y="1931213"/>
            <a:ext cx="261518" cy="261518"/>
          </a:xfrm>
          <a:prstGeom prst="rect">
            <a:avLst/>
          </a:prstGeom>
        </p:spPr>
      </p:pic>
      <p:sp>
        <p:nvSpPr>
          <p:cNvPr id="10" name="Text 6"/>
          <p:cNvSpPr txBox="1"/>
          <p:nvPr/>
        </p:nvSpPr>
        <p:spPr>
          <a:xfrm>
            <a:off x="8659368" y="1783080"/>
            <a:ext cx="2983687" cy="292608"/>
          </a:xfrm>
          <a:prstGeom prst="rect">
            <a:avLst/>
          </a:prstGeom>
          <a:noFill/>
          <a:ln/>
        </p:spPr>
        <p:txBody>
          <a:bodyPr wrap="square" lIns="0" tIns="0" rIns="0" bIns="0" rtlCol="0" anchor="ctr"/>
          <a:lstStyle/>
          <a:p>
            <a:pPr indent="0" marL="0">
              <a:buNone/>
            </a:pPr>
            <a:r>
              <a:rPr lang="en-US" sz="1450" b="1" dirty="0">
                <a:solidFill>
                  <a:srgbClr val="1F2937"/>
                </a:solidFill>
                <a:latin typeface="Arial" pitchFamily="34" charset="0"/>
                <a:ea typeface="Arial" pitchFamily="34" charset="-122"/>
                <a:cs typeface="Arial" pitchFamily="34" charset="-120"/>
              </a:rPr>
              <a:t>Dashboard</a:t>
            </a:r>
            <a:endParaRPr lang="en-US" sz="1450" dirty="0"/>
          </a:p>
        </p:txBody>
      </p:sp>
      <p:sp>
        <p:nvSpPr>
          <p:cNvPr id="11" name="Text 7"/>
          <p:cNvSpPr txBox="1"/>
          <p:nvPr/>
        </p:nvSpPr>
        <p:spPr>
          <a:xfrm>
            <a:off x="8659368" y="2084832"/>
            <a:ext cx="2983687" cy="45720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Aylık tahsilat, satılan paketler, 7 günlük grafik, takip listesi</a:t>
            </a:r>
            <a:endParaRPr lang="en-US" sz="1250" dirty="0"/>
          </a:p>
        </p:txBody>
      </p:sp>
      <p:sp>
        <p:nvSpPr>
          <p:cNvPr id="12" name="Shape 8"/>
          <p:cNvSpPr/>
          <p:nvPr/>
        </p:nvSpPr>
        <p:spPr>
          <a:xfrm>
            <a:off x="8001000" y="2633472"/>
            <a:ext cx="502920" cy="502920"/>
          </a:xfrm>
          <a:prstGeom prst="ellipse">
            <a:avLst/>
          </a:prstGeom>
          <a:solidFill>
            <a:srgbClr val="13325C"/>
          </a:solidFill>
          <a:ln w="12700">
            <a:solidFill>
              <a:srgbClr val="13325C"/>
            </a:solidFill>
            <a:prstDash val="solid"/>
          </a:ln>
        </p:spPr>
      </p:sp>
      <p:pic>
        <p:nvPicPr>
          <p:cNvPr id="13" name="Image 2" descr="preencoded.png">    </p:cNvPr>
          <p:cNvPicPr>
            <a:picLocks noChangeAspect="1"/>
          </p:cNvPicPr>
          <p:nvPr/>
        </p:nvPicPr>
        <p:blipFill>
          <a:blip r:embed="rId3"/>
          <a:stretch>
            <a:fillRect/>
          </a:stretch>
        </p:blipFill>
        <p:spPr>
          <a:xfrm>
            <a:off x="8121701" y="2754173"/>
            <a:ext cx="261518" cy="261518"/>
          </a:xfrm>
          <a:prstGeom prst="rect">
            <a:avLst/>
          </a:prstGeom>
        </p:spPr>
      </p:pic>
      <p:sp>
        <p:nvSpPr>
          <p:cNvPr id="14" name="Text 9"/>
          <p:cNvSpPr txBox="1"/>
          <p:nvPr/>
        </p:nvSpPr>
        <p:spPr>
          <a:xfrm>
            <a:off x="8659368" y="2606040"/>
            <a:ext cx="2983687" cy="292608"/>
          </a:xfrm>
          <a:prstGeom prst="rect">
            <a:avLst/>
          </a:prstGeom>
          <a:noFill/>
          <a:ln/>
        </p:spPr>
        <p:txBody>
          <a:bodyPr wrap="square" lIns="0" tIns="0" rIns="0" bIns="0" rtlCol="0" anchor="ctr"/>
          <a:lstStyle/>
          <a:p>
            <a:pPr indent="0" marL="0">
              <a:buNone/>
            </a:pPr>
            <a:r>
              <a:rPr lang="en-US" sz="1450" b="1" dirty="0">
                <a:solidFill>
                  <a:srgbClr val="1F2937"/>
                </a:solidFill>
                <a:latin typeface="Arial" pitchFamily="34" charset="0"/>
                <a:ea typeface="Arial" pitchFamily="34" charset="-122"/>
                <a:cs typeface="Arial" pitchFamily="34" charset="-120"/>
              </a:rPr>
              <a:t>Onay bekleyenler</a:t>
            </a:r>
            <a:endParaRPr lang="en-US" sz="1450" dirty="0"/>
          </a:p>
        </p:txBody>
      </p:sp>
      <p:sp>
        <p:nvSpPr>
          <p:cNvPr id="15" name="Text 10"/>
          <p:cNvSpPr txBox="1"/>
          <p:nvPr/>
        </p:nvSpPr>
        <p:spPr>
          <a:xfrm>
            <a:off x="8659368" y="2907792"/>
            <a:ext cx="2983687" cy="45720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İncelemedeki teklif, fiyat ve iptal talepleri tek yerde</a:t>
            </a:r>
            <a:endParaRPr lang="en-US" sz="1250" dirty="0"/>
          </a:p>
        </p:txBody>
      </p:sp>
      <p:sp>
        <p:nvSpPr>
          <p:cNvPr id="16" name="Shape 11"/>
          <p:cNvSpPr/>
          <p:nvPr/>
        </p:nvSpPr>
        <p:spPr>
          <a:xfrm>
            <a:off x="8001000" y="3456432"/>
            <a:ext cx="502920" cy="502920"/>
          </a:xfrm>
          <a:prstGeom prst="ellipse">
            <a:avLst/>
          </a:prstGeom>
          <a:solidFill>
            <a:srgbClr val="13325C"/>
          </a:solidFill>
          <a:ln w="12700">
            <a:solidFill>
              <a:srgbClr val="13325C"/>
            </a:solidFill>
            <a:prstDash val="solid"/>
          </a:ln>
        </p:spPr>
      </p:sp>
      <p:pic>
        <p:nvPicPr>
          <p:cNvPr id="17" name="Image 3" descr="preencoded.png">    </p:cNvPr>
          <p:cNvPicPr>
            <a:picLocks noChangeAspect="1"/>
          </p:cNvPicPr>
          <p:nvPr/>
        </p:nvPicPr>
        <p:blipFill>
          <a:blip r:embed="rId4"/>
          <a:stretch>
            <a:fillRect/>
          </a:stretch>
        </p:blipFill>
        <p:spPr>
          <a:xfrm>
            <a:off x="8121701" y="3577133"/>
            <a:ext cx="261518" cy="261518"/>
          </a:xfrm>
          <a:prstGeom prst="rect">
            <a:avLst/>
          </a:prstGeom>
        </p:spPr>
      </p:pic>
      <p:sp>
        <p:nvSpPr>
          <p:cNvPr id="18" name="Text 12"/>
          <p:cNvSpPr txBox="1"/>
          <p:nvPr/>
        </p:nvSpPr>
        <p:spPr>
          <a:xfrm>
            <a:off x="8659368" y="3429000"/>
            <a:ext cx="2983687" cy="292608"/>
          </a:xfrm>
          <a:prstGeom prst="rect">
            <a:avLst/>
          </a:prstGeom>
          <a:noFill/>
          <a:ln/>
        </p:spPr>
        <p:txBody>
          <a:bodyPr wrap="square" lIns="0" tIns="0" rIns="0" bIns="0" rtlCol="0" anchor="ctr"/>
          <a:lstStyle/>
          <a:p>
            <a:pPr indent="0" marL="0">
              <a:buNone/>
            </a:pPr>
            <a:r>
              <a:rPr lang="en-US" sz="1450" b="1" dirty="0">
                <a:solidFill>
                  <a:srgbClr val="1F2937"/>
                </a:solidFill>
                <a:latin typeface="Arial" pitchFamily="34" charset="0"/>
                <a:ea typeface="Arial" pitchFamily="34" charset="-122"/>
                <a:cs typeface="Arial" pitchFamily="34" charset="-120"/>
              </a:rPr>
              <a:t>İptal ve iade</a:t>
            </a:r>
            <a:endParaRPr lang="en-US" sz="1450" dirty="0"/>
          </a:p>
        </p:txBody>
      </p:sp>
      <p:sp>
        <p:nvSpPr>
          <p:cNvPr id="19" name="Text 13"/>
          <p:cNvSpPr txBox="1"/>
          <p:nvPr/>
        </p:nvSpPr>
        <p:spPr>
          <a:xfrm>
            <a:off x="8659368" y="3730752"/>
            <a:ext cx="2983687" cy="45720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İade, kullanılmayan gün sayısına göre otomatik hesaplanır</a:t>
            </a:r>
            <a:endParaRPr lang="en-US" sz="1250" dirty="0"/>
          </a:p>
        </p:txBody>
      </p:sp>
      <p:sp>
        <p:nvSpPr>
          <p:cNvPr id="20" name="Shape 14"/>
          <p:cNvSpPr/>
          <p:nvPr/>
        </p:nvSpPr>
        <p:spPr>
          <a:xfrm>
            <a:off x="8001000" y="4279392"/>
            <a:ext cx="502920" cy="502920"/>
          </a:xfrm>
          <a:prstGeom prst="ellipse">
            <a:avLst/>
          </a:prstGeom>
          <a:solidFill>
            <a:srgbClr val="13325C"/>
          </a:solidFill>
          <a:ln w="12700">
            <a:solidFill>
              <a:srgbClr val="13325C"/>
            </a:solidFill>
            <a:prstDash val="solid"/>
          </a:ln>
        </p:spPr>
      </p:sp>
      <p:pic>
        <p:nvPicPr>
          <p:cNvPr id="21" name="Image 4" descr="preencoded.png">    </p:cNvPr>
          <p:cNvPicPr>
            <a:picLocks noChangeAspect="1"/>
          </p:cNvPicPr>
          <p:nvPr/>
        </p:nvPicPr>
        <p:blipFill>
          <a:blip r:embed="rId5"/>
          <a:stretch>
            <a:fillRect/>
          </a:stretch>
        </p:blipFill>
        <p:spPr>
          <a:xfrm>
            <a:off x="8121701" y="4400093"/>
            <a:ext cx="261518" cy="261518"/>
          </a:xfrm>
          <a:prstGeom prst="rect">
            <a:avLst/>
          </a:prstGeom>
        </p:spPr>
      </p:pic>
      <p:sp>
        <p:nvSpPr>
          <p:cNvPr id="22" name="Text 15"/>
          <p:cNvSpPr txBox="1"/>
          <p:nvPr/>
        </p:nvSpPr>
        <p:spPr>
          <a:xfrm>
            <a:off x="8659368" y="4251960"/>
            <a:ext cx="2983687" cy="292608"/>
          </a:xfrm>
          <a:prstGeom prst="rect">
            <a:avLst/>
          </a:prstGeom>
          <a:noFill/>
          <a:ln/>
        </p:spPr>
        <p:txBody>
          <a:bodyPr wrap="square" lIns="0" tIns="0" rIns="0" bIns="0" rtlCol="0" anchor="ctr"/>
          <a:lstStyle/>
          <a:p>
            <a:pPr indent="0" marL="0">
              <a:buNone/>
            </a:pPr>
            <a:r>
              <a:rPr lang="en-US" sz="1450" b="1" dirty="0">
                <a:solidFill>
                  <a:srgbClr val="1F2937"/>
                </a:solidFill>
                <a:latin typeface="Arial" pitchFamily="34" charset="0"/>
                <a:ea typeface="Arial" pitchFamily="34" charset="-122"/>
                <a:cs typeface="Arial" pitchFamily="34" charset="-120"/>
              </a:rPr>
              <a:t>Yenileme</a:t>
            </a:r>
            <a:endParaRPr lang="en-US" sz="1450" dirty="0"/>
          </a:p>
        </p:txBody>
      </p:sp>
      <p:sp>
        <p:nvSpPr>
          <p:cNvPr id="23" name="Text 16"/>
          <p:cNvSpPr txBox="1"/>
          <p:nvPr/>
        </p:nvSpPr>
        <p:spPr>
          <a:xfrm>
            <a:off x="8659368" y="4553712"/>
            <a:ext cx="2983687" cy="45720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Süresi yaklaşan poliçeden yeni teklif üretilir</a:t>
            </a:r>
            <a:endParaRPr lang="en-US" sz="1250" dirty="0"/>
          </a:p>
        </p:txBody>
      </p:sp>
      <p:sp>
        <p:nvSpPr>
          <p:cNvPr id="24" name="Shape 17"/>
          <p:cNvSpPr/>
          <p:nvPr/>
        </p:nvSpPr>
        <p:spPr>
          <a:xfrm>
            <a:off x="8001000" y="5102352"/>
            <a:ext cx="502920" cy="502920"/>
          </a:xfrm>
          <a:prstGeom prst="ellipse">
            <a:avLst/>
          </a:prstGeom>
          <a:solidFill>
            <a:srgbClr val="13325C"/>
          </a:solidFill>
          <a:ln w="12700">
            <a:solidFill>
              <a:srgbClr val="13325C"/>
            </a:solidFill>
            <a:prstDash val="solid"/>
          </a:ln>
        </p:spPr>
      </p:sp>
      <p:pic>
        <p:nvPicPr>
          <p:cNvPr id="25" name="Image 5" descr="preencoded.png">    </p:cNvPr>
          <p:cNvPicPr>
            <a:picLocks noChangeAspect="1"/>
          </p:cNvPicPr>
          <p:nvPr/>
        </p:nvPicPr>
        <p:blipFill>
          <a:blip r:embed="rId6"/>
          <a:stretch>
            <a:fillRect/>
          </a:stretch>
        </p:blipFill>
        <p:spPr>
          <a:xfrm>
            <a:off x="8121701" y="5223053"/>
            <a:ext cx="261518" cy="261518"/>
          </a:xfrm>
          <a:prstGeom prst="rect">
            <a:avLst/>
          </a:prstGeom>
        </p:spPr>
      </p:pic>
      <p:sp>
        <p:nvSpPr>
          <p:cNvPr id="26" name="Text 18"/>
          <p:cNvSpPr txBox="1"/>
          <p:nvPr/>
        </p:nvSpPr>
        <p:spPr>
          <a:xfrm>
            <a:off x="8659368" y="5074920"/>
            <a:ext cx="2983687" cy="292608"/>
          </a:xfrm>
          <a:prstGeom prst="rect">
            <a:avLst/>
          </a:prstGeom>
          <a:noFill/>
          <a:ln/>
        </p:spPr>
        <p:txBody>
          <a:bodyPr wrap="square" lIns="0" tIns="0" rIns="0" bIns="0" rtlCol="0" anchor="ctr"/>
          <a:lstStyle/>
          <a:p>
            <a:pPr indent="0" marL="0">
              <a:buNone/>
            </a:pPr>
            <a:r>
              <a:rPr lang="en-US" sz="1450" b="1" dirty="0">
                <a:solidFill>
                  <a:srgbClr val="1F2937"/>
                </a:solidFill>
                <a:latin typeface="Arial" pitchFamily="34" charset="0"/>
                <a:ea typeface="Arial" pitchFamily="34" charset="-122"/>
                <a:cs typeface="Arial" pitchFamily="34" charset="-120"/>
              </a:rPr>
              <a:t>TSB kataloğu</a:t>
            </a:r>
            <a:endParaRPr lang="en-US" sz="1450" dirty="0"/>
          </a:p>
        </p:txBody>
      </p:sp>
      <p:sp>
        <p:nvSpPr>
          <p:cNvPr id="27" name="Text 19"/>
          <p:cNvSpPr txBox="1"/>
          <p:nvPr/>
        </p:nvSpPr>
        <p:spPr>
          <a:xfrm>
            <a:off x="8659368" y="5376672"/>
            <a:ext cx="2983687" cy="45720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Aylık kasko değer listesi Excel'den yüklenir</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2F7"/>
        </a:solidFill>
      </p:bgPr>
    </p:bg>
    <p:spTree>
      <p:nvGrpSpPr>
        <p:cNvPr id="1" name=""/>
        <p:cNvGrpSpPr/>
        <p:nvPr/>
      </p:nvGrpSpPr>
      <p:grpSpPr>
        <a:xfrm>
          <a:off x="0" y="0"/>
          <a:ext cx="0" cy="0"/>
          <a:chOff x="0" y="0"/>
          <a:chExt cx="0" cy="0"/>
        </a:xfrm>
      </p:grpSpPr>
      <p:sp>
        <p:nvSpPr>
          <p:cNvPr id="2" name="Shape 0"/>
          <p:cNvSpPr/>
          <p:nvPr/>
        </p:nvSpPr>
        <p:spPr>
          <a:xfrm>
            <a:off x="548640" y="384048"/>
            <a:ext cx="969264" cy="329184"/>
          </a:xfrm>
          <a:prstGeom prst="roundRect">
            <a:avLst>
              <a:gd name="adj" fmla="val 50000"/>
            </a:avLst>
          </a:prstGeom>
          <a:solidFill>
            <a:srgbClr val="0A2545"/>
          </a:solidFill>
          <a:ln w="12700">
            <a:solidFill>
              <a:srgbClr val="0A2545"/>
            </a:solidFill>
            <a:prstDash val="solid"/>
          </a:ln>
        </p:spPr>
      </p:sp>
      <p:sp>
        <p:nvSpPr>
          <p:cNvPr id="3" name="Text 1"/>
          <p:cNvSpPr txBox="1"/>
          <p:nvPr/>
        </p:nvSpPr>
        <p:spPr>
          <a:xfrm>
            <a:off x="548640" y="384048"/>
            <a:ext cx="969264"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GÜVENLİK</a:t>
            </a:r>
            <a:endParaRPr lang="en-US" sz="1100" dirty="0"/>
          </a:p>
        </p:txBody>
      </p:sp>
      <p:sp>
        <p:nvSpPr>
          <p:cNvPr id="4" name="Text 2"/>
          <p:cNvSpPr txBox="1"/>
          <p:nvPr/>
        </p:nvSpPr>
        <p:spPr>
          <a:xfrm>
            <a:off x="548640" y="786384"/>
            <a:ext cx="11094415" cy="731520"/>
          </a:xfrm>
          <a:prstGeom prst="rect">
            <a:avLst/>
          </a:prstGeom>
          <a:noFill/>
          <a:ln/>
        </p:spPr>
        <p:txBody>
          <a:bodyPr wrap="square" lIns="0" tIns="0" rIns="0" bIns="0" rtlCol="0" anchor="ctr"/>
          <a:lstStyle/>
          <a:p>
            <a:pPr indent="0" marL="0">
              <a:buNone/>
            </a:pPr>
            <a:r>
              <a:rPr lang="en-US" sz="3000" b="1" dirty="0">
                <a:solidFill>
                  <a:srgbClr val="0A2545"/>
                </a:solidFill>
                <a:latin typeface="Arial" pitchFamily="34" charset="0"/>
                <a:ea typeface="Arial" pitchFamily="34" charset="-122"/>
                <a:cs typeface="Arial" pitchFamily="34" charset="-120"/>
              </a:rPr>
              <a:t>Güvenlik ve veri bütünlüğü</a:t>
            </a:r>
            <a:endParaRPr lang="en-US" sz="3000" dirty="0"/>
          </a:p>
        </p:txBody>
      </p:sp>
      <p:sp>
        <p:nvSpPr>
          <p:cNvPr id="5" name="Text 3"/>
          <p:cNvSpPr txBox="1"/>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12 / 16</a:t>
            </a:r>
            <a:endParaRPr lang="en-US" sz="1000" dirty="0"/>
          </a:p>
        </p:txBody>
      </p:sp>
      <p:sp>
        <p:nvSpPr>
          <p:cNvPr id="6" name="Shape 4"/>
          <p:cNvSpPr/>
          <p:nvPr/>
        </p:nvSpPr>
        <p:spPr>
          <a:xfrm>
            <a:off x="548640" y="1783080"/>
            <a:ext cx="3511296" cy="2011680"/>
          </a:xfrm>
          <a:prstGeom prst="roundRect">
            <a:avLst>
              <a:gd name="adj" fmla="val 5455"/>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7" name="Shape 5"/>
          <p:cNvSpPr/>
          <p:nvPr/>
        </p:nvSpPr>
        <p:spPr>
          <a:xfrm>
            <a:off x="822960" y="2057400"/>
            <a:ext cx="566928" cy="566928"/>
          </a:xfrm>
          <a:prstGeom prst="ellipse">
            <a:avLst/>
          </a:prstGeom>
          <a:solidFill>
            <a:srgbClr val="1D6FF2"/>
          </a:solidFill>
          <a:ln w="12700">
            <a:solidFill>
              <a:srgbClr val="1D6FF2"/>
            </a:solidFill>
            <a:prstDash val="solid"/>
          </a:ln>
        </p:spPr>
      </p:sp>
      <p:pic>
        <p:nvPicPr>
          <p:cNvPr id="8" name="Image 0" descr="preencoded.png">    </p:cNvPr>
          <p:cNvPicPr>
            <a:picLocks noChangeAspect="1"/>
          </p:cNvPicPr>
          <p:nvPr/>
        </p:nvPicPr>
        <p:blipFill>
          <a:blip r:embed="rId1"/>
          <a:stretch>
            <a:fillRect/>
          </a:stretch>
        </p:blipFill>
        <p:spPr>
          <a:xfrm>
            <a:off x="959023" y="2193463"/>
            <a:ext cx="294803" cy="294803"/>
          </a:xfrm>
          <a:prstGeom prst="rect">
            <a:avLst/>
          </a:prstGeom>
        </p:spPr>
      </p:pic>
      <p:sp>
        <p:nvSpPr>
          <p:cNvPr id="9" name="Text 6"/>
          <p:cNvSpPr txBox="1"/>
          <p:nvPr/>
        </p:nvSpPr>
        <p:spPr>
          <a:xfrm>
            <a:off x="1536192" y="2093976"/>
            <a:ext cx="2368296" cy="502920"/>
          </a:xfrm>
          <a:prstGeom prst="rect">
            <a:avLst/>
          </a:prstGeom>
          <a:noFill/>
          <a:ln/>
        </p:spPr>
        <p:txBody>
          <a:bodyPr wrap="square" lIns="0" tIns="0" rIns="0" bIns="0" rtlCol="0" anchor="ctr"/>
          <a:lstStyle/>
          <a:p>
            <a:pPr indent="0" marL="0">
              <a:buNone/>
            </a:pPr>
            <a:r>
              <a:rPr lang="en-US" sz="1500" b="1" dirty="0">
                <a:solidFill>
                  <a:srgbClr val="1F2937"/>
                </a:solidFill>
                <a:latin typeface="Arial" pitchFamily="34" charset="0"/>
                <a:ea typeface="Arial" pitchFamily="34" charset="-122"/>
                <a:cs typeface="Arial" pitchFamily="34" charset="-120"/>
              </a:rPr>
              <a:t>JWT ve rol bazlı yetki</a:t>
            </a:r>
            <a:endParaRPr lang="en-US" sz="1500" dirty="0"/>
          </a:p>
        </p:txBody>
      </p:sp>
      <p:sp>
        <p:nvSpPr>
          <p:cNvPr id="10" name="Text 7"/>
          <p:cNvSpPr txBox="1"/>
          <p:nvPr/>
        </p:nvSpPr>
        <p:spPr>
          <a:xfrm>
            <a:off x="822960" y="2788920"/>
            <a:ext cx="3008376" cy="86868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Her uç nokta rolüne göre korunur; süresi dolan oturum otomatik kapanır.</a:t>
            </a:r>
            <a:endParaRPr lang="en-US" sz="1400" dirty="0"/>
          </a:p>
        </p:txBody>
      </p:sp>
      <p:sp>
        <p:nvSpPr>
          <p:cNvPr id="11" name="Shape 8"/>
          <p:cNvSpPr/>
          <p:nvPr/>
        </p:nvSpPr>
        <p:spPr>
          <a:xfrm>
            <a:off x="4279392" y="1783080"/>
            <a:ext cx="3511296" cy="2011680"/>
          </a:xfrm>
          <a:prstGeom prst="roundRect">
            <a:avLst>
              <a:gd name="adj" fmla="val 5455"/>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4553712" y="2057400"/>
            <a:ext cx="566928" cy="566928"/>
          </a:xfrm>
          <a:prstGeom prst="ellipse">
            <a:avLst/>
          </a:prstGeom>
          <a:solidFill>
            <a:srgbClr val="1D6FF2"/>
          </a:solidFill>
          <a:ln w="12700">
            <a:solidFill>
              <a:srgbClr val="1D6FF2"/>
            </a:solidFill>
            <a:prstDash val="solid"/>
          </a:ln>
        </p:spPr>
      </p:sp>
      <p:pic>
        <p:nvPicPr>
          <p:cNvPr id="13" name="Image 1" descr="preencoded.png">    </p:cNvPr>
          <p:cNvPicPr>
            <a:picLocks noChangeAspect="1"/>
          </p:cNvPicPr>
          <p:nvPr/>
        </p:nvPicPr>
        <p:blipFill>
          <a:blip r:embed="rId2"/>
          <a:stretch>
            <a:fillRect/>
          </a:stretch>
        </p:blipFill>
        <p:spPr>
          <a:xfrm>
            <a:off x="4689775" y="2193463"/>
            <a:ext cx="294803" cy="294803"/>
          </a:xfrm>
          <a:prstGeom prst="rect">
            <a:avLst/>
          </a:prstGeom>
        </p:spPr>
      </p:pic>
      <p:sp>
        <p:nvSpPr>
          <p:cNvPr id="14" name="Text 10"/>
          <p:cNvSpPr txBox="1"/>
          <p:nvPr/>
        </p:nvSpPr>
        <p:spPr>
          <a:xfrm>
            <a:off x="5266944" y="2093976"/>
            <a:ext cx="2368296" cy="502920"/>
          </a:xfrm>
          <a:prstGeom prst="rect">
            <a:avLst/>
          </a:prstGeom>
          <a:noFill/>
          <a:ln/>
        </p:spPr>
        <p:txBody>
          <a:bodyPr wrap="square" lIns="0" tIns="0" rIns="0" bIns="0" rtlCol="0" anchor="ctr"/>
          <a:lstStyle/>
          <a:p>
            <a:pPr indent="0" marL="0">
              <a:buNone/>
            </a:pPr>
            <a:r>
              <a:rPr lang="en-US" sz="1500" b="1" dirty="0">
                <a:solidFill>
                  <a:srgbClr val="1F2937"/>
                </a:solidFill>
                <a:latin typeface="Arial" pitchFamily="34" charset="0"/>
                <a:ea typeface="Arial" pitchFamily="34" charset="-122"/>
                <a:cs typeface="Arial" pitchFamily="34" charset="-120"/>
              </a:rPr>
              <a:t>Kaynak düzeyinde yetki</a:t>
            </a:r>
            <a:endParaRPr lang="en-US" sz="1500" dirty="0"/>
          </a:p>
        </p:txBody>
      </p:sp>
      <p:sp>
        <p:nvSpPr>
          <p:cNvPr id="15" name="Text 11"/>
          <p:cNvSpPr txBox="1"/>
          <p:nvPr/>
        </p:nvSpPr>
        <p:spPr>
          <a:xfrm>
            <a:off x="4553712" y="2788920"/>
            <a:ext cx="3008376" cy="86868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Müşteri başka müşterinin kaydını istese bile 404 alır; kontrol sunucuda yapılır.</a:t>
            </a:r>
            <a:endParaRPr lang="en-US" sz="1400" dirty="0"/>
          </a:p>
        </p:txBody>
      </p:sp>
      <p:sp>
        <p:nvSpPr>
          <p:cNvPr id="16" name="Shape 12"/>
          <p:cNvSpPr/>
          <p:nvPr/>
        </p:nvSpPr>
        <p:spPr>
          <a:xfrm>
            <a:off x="8010144" y="1783080"/>
            <a:ext cx="3511296" cy="2011680"/>
          </a:xfrm>
          <a:prstGeom prst="roundRect">
            <a:avLst>
              <a:gd name="adj" fmla="val 5455"/>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17" name="Shape 13"/>
          <p:cNvSpPr/>
          <p:nvPr/>
        </p:nvSpPr>
        <p:spPr>
          <a:xfrm>
            <a:off x="8284464" y="2057400"/>
            <a:ext cx="566928" cy="566928"/>
          </a:xfrm>
          <a:prstGeom prst="ellipse">
            <a:avLst/>
          </a:prstGeom>
          <a:solidFill>
            <a:srgbClr val="1D6FF2"/>
          </a:solidFill>
          <a:ln w="12700">
            <a:solidFill>
              <a:srgbClr val="1D6FF2"/>
            </a:solidFill>
            <a:prstDash val="solid"/>
          </a:ln>
        </p:spPr>
      </p:sp>
      <p:pic>
        <p:nvPicPr>
          <p:cNvPr id="18" name="Image 2" descr="preencoded.png">    </p:cNvPr>
          <p:cNvPicPr>
            <a:picLocks noChangeAspect="1"/>
          </p:cNvPicPr>
          <p:nvPr/>
        </p:nvPicPr>
        <p:blipFill>
          <a:blip r:embed="rId3"/>
          <a:stretch>
            <a:fillRect/>
          </a:stretch>
        </p:blipFill>
        <p:spPr>
          <a:xfrm>
            <a:off x="8420527" y="2193463"/>
            <a:ext cx="294803" cy="294803"/>
          </a:xfrm>
          <a:prstGeom prst="rect">
            <a:avLst/>
          </a:prstGeom>
        </p:spPr>
      </p:pic>
      <p:sp>
        <p:nvSpPr>
          <p:cNvPr id="19" name="Text 14"/>
          <p:cNvSpPr txBox="1"/>
          <p:nvPr/>
        </p:nvSpPr>
        <p:spPr>
          <a:xfrm>
            <a:off x="8997696" y="2093976"/>
            <a:ext cx="2368296" cy="502920"/>
          </a:xfrm>
          <a:prstGeom prst="rect">
            <a:avLst/>
          </a:prstGeom>
          <a:noFill/>
          <a:ln/>
        </p:spPr>
        <p:txBody>
          <a:bodyPr wrap="square" lIns="0" tIns="0" rIns="0" bIns="0" rtlCol="0" anchor="ctr"/>
          <a:lstStyle/>
          <a:p>
            <a:pPr indent="0" marL="0">
              <a:buNone/>
            </a:pPr>
            <a:r>
              <a:rPr lang="en-US" sz="1500" b="1" dirty="0">
                <a:solidFill>
                  <a:srgbClr val="1F2937"/>
                </a:solidFill>
                <a:latin typeface="Arial" pitchFamily="34" charset="0"/>
                <a:ea typeface="Arial" pitchFamily="34" charset="-122"/>
                <a:cs typeface="Arial" pitchFamily="34" charset="-120"/>
              </a:rPr>
              <a:t>Tek kullanımlık kod</a:t>
            </a:r>
            <a:endParaRPr lang="en-US" sz="1500" dirty="0"/>
          </a:p>
        </p:txBody>
      </p:sp>
      <p:sp>
        <p:nvSpPr>
          <p:cNvPr id="20" name="Text 15"/>
          <p:cNvSpPr txBox="1"/>
          <p:nvPr/>
        </p:nvSpPr>
        <p:spPr>
          <a:xfrm>
            <a:off x="8284464" y="2788920"/>
            <a:ext cx="3008376" cy="86868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Hızlı teklifte doğrulama kodu ve kısa ömürlü jeton olmadan sorgu yapılamaz.</a:t>
            </a:r>
            <a:endParaRPr lang="en-US" sz="1400" dirty="0"/>
          </a:p>
        </p:txBody>
      </p:sp>
      <p:sp>
        <p:nvSpPr>
          <p:cNvPr id="21" name="Shape 16"/>
          <p:cNvSpPr/>
          <p:nvPr/>
        </p:nvSpPr>
        <p:spPr>
          <a:xfrm>
            <a:off x="548640" y="4069080"/>
            <a:ext cx="3511296" cy="2011680"/>
          </a:xfrm>
          <a:prstGeom prst="roundRect">
            <a:avLst>
              <a:gd name="adj" fmla="val 5455"/>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22" name="Shape 17"/>
          <p:cNvSpPr/>
          <p:nvPr/>
        </p:nvSpPr>
        <p:spPr>
          <a:xfrm>
            <a:off x="822960" y="4343400"/>
            <a:ext cx="566928" cy="566928"/>
          </a:xfrm>
          <a:prstGeom prst="ellipse">
            <a:avLst/>
          </a:prstGeom>
          <a:solidFill>
            <a:srgbClr val="13325C"/>
          </a:solidFill>
          <a:ln w="12700">
            <a:solidFill>
              <a:srgbClr val="13325C"/>
            </a:solidFill>
            <a:prstDash val="solid"/>
          </a:ln>
        </p:spPr>
      </p:sp>
      <p:pic>
        <p:nvPicPr>
          <p:cNvPr id="23" name="Image 3" descr="preencoded.png">    </p:cNvPr>
          <p:cNvPicPr>
            <a:picLocks noChangeAspect="1"/>
          </p:cNvPicPr>
          <p:nvPr/>
        </p:nvPicPr>
        <p:blipFill>
          <a:blip r:embed="rId4"/>
          <a:stretch>
            <a:fillRect/>
          </a:stretch>
        </p:blipFill>
        <p:spPr>
          <a:xfrm>
            <a:off x="959023" y="4479463"/>
            <a:ext cx="294803" cy="294803"/>
          </a:xfrm>
          <a:prstGeom prst="rect">
            <a:avLst/>
          </a:prstGeom>
        </p:spPr>
      </p:pic>
      <p:sp>
        <p:nvSpPr>
          <p:cNvPr id="24" name="Text 18"/>
          <p:cNvSpPr txBox="1"/>
          <p:nvPr/>
        </p:nvSpPr>
        <p:spPr>
          <a:xfrm>
            <a:off x="1536192" y="4379976"/>
            <a:ext cx="2368296" cy="502920"/>
          </a:xfrm>
          <a:prstGeom prst="rect">
            <a:avLst/>
          </a:prstGeom>
          <a:noFill/>
          <a:ln/>
        </p:spPr>
        <p:txBody>
          <a:bodyPr wrap="square" lIns="0" tIns="0" rIns="0" bIns="0" rtlCol="0" anchor="ctr"/>
          <a:lstStyle/>
          <a:p>
            <a:pPr indent="0" marL="0">
              <a:buNone/>
            </a:pPr>
            <a:r>
              <a:rPr lang="en-US" sz="1500" b="1" dirty="0">
                <a:solidFill>
                  <a:srgbClr val="1F2937"/>
                </a:solidFill>
                <a:latin typeface="Arial" pitchFamily="34" charset="0"/>
                <a:ea typeface="Arial" pitchFamily="34" charset="-122"/>
                <a:cs typeface="Arial" pitchFamily="34" charset="-120"/>
              </a:rPr>
              <a:t>Kişisel veri koruma</a:t>
            </a:r>
            <a:endParaRPr lang="en-US" sz="1500" dirty="0"/>
          </a:p>
        </p:txBody>
      </p:sp>
      <p:sp>
        <p:nvSpPr>
          <p:cNvPr id="25" name="Text 19"/>
          <p:cNvSpPr txBox="1"/>
          <p:nvPr/>
        </p:nvSpPr>
        <p:spPr>
          <a:xfrm>
            <a:off x="822960" y="5074920"/>
            <a:ext cx="3008376" cy="86868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Şifreler hash'lenir; T.C. ve telefon listelerde ve PDF'lerde maskelenir.</a:t>
            </a:r>
            <a:endParaRPr lang="en-US" sz="1400" dirty="0"/>
          </a:p>
        </p:txBody>
      </p:sp>
      <p:sp>
        <p:nvSpPr>
          <p:cNvPr id="26" name="Shape 20"/>
          <p:cNvSpPr/>
          <p:nvPr/>
        </p:nvSpPr>
        <p:spPr>
          <a:xfrm>
            <a:off x="4279392" y="4069080"/>
            <a:ext cx="3511296" cy="2011680"/>
          </a:xfrm>
          <a:prstGeom prst="roundRect">
            <a:avLst>
              <a:gd name="adj" fmla="val 5455"/>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27" name="Shape 21"/>
          <p:cNvSpPr/>
          <p:nvPr/>
        </p:nvSpPr>
        <p:spPr>
          <a:xfrm>
            <a:off x="4553712" y="4343400"/>
            <a:ext cx="566928" cy="566928"/>
          </a:xfrm>
          <a:prstGeom prst="ellipse">
            <a:avLst/>
          </a:prstGeom>
          <a:solidFill>
            <a:srgbClr val="13325C"/>
          </a:solidFill>
          <a:ln w="12700">
            <a:solidFill>
              <a:srgbClr val="13325C"/>
            </a:solidFill>
            <a:prstDash val="solid"/>
          </a:ln>
        </p:spPr>
      </p:sp>
      <p:pic>
        <p:nvPicPr>
          <p:cNvPr id="28" name="Image 4" descr="preencoded.png">    </p:cNvPr>
          <p:cNvPicPr>
            <a:picLocks noChangeAspect="1"/>
          </p:cNvPicPr>
          <p:nvPr/>
        </p:nvPicPr>
        <p:blipFill>
          <a:blip r:embed="rId5"/>
          <a:stretch>
            <a:fillRect/>
          </a:stretch>
        </p:blipFill>
        <p:spPr>
          <a:xfrm>
            <a:off x="4689775" y="4479463"/>
            <a:ext cx="294803" cy="294803"/>
          </a:xfrm>
          <a:prstGeom prst="rect">
            <a:avLst/>
          </a:prstGeom>
        </p:spPr>
      </p:pic>
      <p:sp>
        <p:nvSpPr>
          <p:cNvPr id="29" name="Text 22"/>
          <p:cNvSpPr txBox="1"/>
          <p:nvPr/>
        </p:nvSpPr>
        <p:spPr>
          <a:xfrm>
            <a:off x="5266944" y="4379976"/>
            <a:ext cx="2368296" cy="502920"/>
          </a:xfrm>
          <a:prstGeom prst="rect">
            <a:avLst/>
          </a:prstGeom>
          <a:noFill/>
          <a:ln/>
        </p:spPr>
        <p:txBody>
          <a:bodyPr wrap="square" lIns="0" tIns="0" rIns="0" bIns="0" rtlCol="0" anchor="ctr"/>
          <a:lstStyle/>
          <a:p>
            <a:pPr indent="0" marL="0">
              <a:buNone/>
            </a:pPr>
            <a:r>
              <a:rPr lang="en-US" sz="1500" b="1" dirty="0">
                <a:solidFill>
                  <a:srgbClr val="1F2937"/>
                </a:solidFill>
                <a:latin typeface="Arial" pitchFamily="34" charset="0"/>
                <a:ea typeface="Arial" pitchFamily="34" charset="-122"/>
                <a:cs typeface="Arial" pitchFamily="34" charset="-120"/>
              </a:rPr>
              <a:t>İş kuralı korumaları</a:t>
            </a:r>
            <a:endParaRPr lang="en-US" sz="1500" dirty="0"/>
          </a:p>
        </p:txBody>
      </p:sp>
      <p:sp>
        <p:nvSpPr>
          <p:cNvPr id="30" name="Text 23"/>
          <p:cNvSpPr txBox="1"/>
          <p:nvPr/>
        </p:nvSpPr>
        <p:spPr>
          <a:xfrm>
            <a:off x="4553712" y="5074920"/>
            <a:ext cx="3008376" cy="86868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Son aktif Admin silinemez; sistem rolleri korunur; kişi kendi rolünü değiştiremez.</a:t>
            </a:r>
            <a:endParaRPr lang="en-US" sz="1400" dirty="0"/>
          </a:p>
        </p:txBody>
      </p:sp>
      <p:sp>
        <p:nvSpPr>
          <p:cNvPr id="31" name="Shape 24"/>
          <p:cNvSpPr/>
          <p:nvPr/>
        </p:nvSpPr>
        <p:spPr>
          <a:xfrm>
            <a:off x="8010144" y="4069080"/>
            <a:ext cx="3511296" cy="2011680"/>
          </a:xfrm>
          <a:prstGeom prst="roundRect">
            <a:avLst>
              <a:gd name="adj" fmla="val 5455"/>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32" name="Shape 25"/>
          <p:cNvSpPr/>
          <p:nvPr/>
        </p:nvSpPr>
        <p:spPr>
          <a:xfrm>
            <a:off x="8284464" y="4343400"/>
            <a:ext cx="566928" cy="566928"/>
          </a:xfrm>
          <a:prstGeom prst="ellipse">
            <a:avLst/>
          </a:prstGeom>
          <a:solidFill>
            <a:srgbClr val="13325C"/>
          </a:solidFill>
          <a:ln w="12700">
            <a:solidFill>
              <a:srgbClr val="13325C"/>
            </a:solidFill>
            <a:prstDash val="solid"/>
          </a:ln>
        </p:spPr>
      </p:sp>
      <p:pic>
        <p:nvPicPr>
          <p:cNvPr id="33" name="Image 5" descr="preencoded.png">    </p:cNvPr>
          <p:cNvPicPr>
            <a:picLocks noChangeAspect="1"/>
          </p:cNvPicPr>
          <p:nvPr/>
        </p:nvPicPr>
        <p:blipFill>
          <a:blip r:embed="rId6"/>
          <a:stretch>
            <a:fillRect/>
          </a:stretch>
        </p:blipFill>
        <p:spPr>
          <a:xfrm>
            <a:off x="8420527" y="4479463"/>
            <a:ext cx="294803" cy="294803"/>
          </a:xfrm>
          <a:prstGeom prst="rect">
            <a:avLst/>
          </a:prstGeom>
        </p:spPr>
      </p:pic>
      <p:sp>
        <p:nvSpPr>
          <p:cNvPr id="34" name="Text 26"/>
          <p:cNvSpPr txBox="1"/>
          <p:nvPr/>
        </p:nvSpPr>
        <p:spPr>
          <a:xfrm>
            <a:off x="8997696" y="4379976"/>
            <a:ext cx="2368296" cy="502920"/>
          </a:xfrm>
          <a:prstGeom prst="rect">
            <a:avLst/>
          </a:prstGeom>
          <a:noFill/>
          <a:ln/>
        </p:spPr>
        <p:txBody>
          <a:bodyPr wrap="square" lIns="0" tIns="0" rIns="0" bIns="0" rtlCol="0" anchor="ctr"/>
          <a:lstStyle/>
          <a:p>
            <a:pPr indent="0" marL="0">
              <a:buNone/>
            </a:pPr>
            <a:r>
              <a:rPr lang="en-US" sz="1500" b="1" dirty="0">
                <a:solidFill>
                  <a:srgbClr val="1F2937"/>
                </a:solidFill>
                <a:latin typeface="Arial" pitchFamily="34" charset="0"/>
                <a:ea typeface="Arial" pitchFamily="34" charset="-122"/>
                <a:cs typeface="Arial" pitchFamily="34" charset="-120"/>
              </a:rPr>
              <a:t>Veri bütünlüğü</a:t>
            </a:r>
            <a:endParaRPr lang="en-US" sz="1500" dirty="0"/>
          </a:p>
        </p:txBody>
      </p:sp>
      <p:sp>
        <p:nvSpPr>
          <p:cNvPr id="35" name="Text 27"/>
          <p:cNvSpPr txBox="1"/>
          <p:nvPr/>
        </p:nvSpPr>
        <p:spPr>
          <a:xfrm>
            <a:off x="8284464" y="5074920"/>
            <a:ext cx="3008376" cy="86868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Ödeme ve poliçe tek transaction; benzersiz indeksler; kayıtlar silinmez, işaretlenir.</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F2F7"/>
        </a:solidFill>
      </p:bgPr>
    </p:bg>
    <p:spTree>
      <p:nvGrpSpPr>
        <p:cNvPr id="1" name=""/>
        <p:cNvGrpSpPr/>
        <p:nvPr/>
      </p:nvGrpSpPr>
      <p:grpSpPr>
        <a:xfrm>
          <a:off x="0" y="0"/>
          <a:ext cx="0" cy="0"/>
          <a:chOff x="0" y="0"/>
          <a:chExt cx="0" cy="0"/>
        </a:xfrm>
      </p:grpSpPr>
      <p:sp>
        <p:nvSpPr>
          <p:cNvPr id="2" name="Shape 0"/>
          <p:cNvSpPr/>
          <p:nvPr/>
        </p:nvSpPr>
        <p:spPr>
          <a:xfrm>
            <a:off x="548640" y="384048"/>
            <a:ext cx="1641348" cy="329184"/>
          </a:xfrm>
          <a:prstGeom prst="roundRect">
            <a:avLst>
              <a:gd name="adj" fmla="val 50000"/>
            </a:avLst>
          </a:prstGeom>
          <a:solidFill>
            <a:srgbClr val="0A2545"/>
          </a:solidFill>
          <a:ln w="12700">
            <a:solidFill>
              <a:srgbClr val="0A2545"/>
            </a:solidFill>
            <a:prstDash val="solid"/>
          </a:ln>
        </p:spPr>
      </p:sp>
      <p:sp>
        <p:nvSpPr>
          <p:cNvPr id="3" name="Text 1"/>
          <p:cNvSpPr txBox="1"/>
          <p:nvPr/>
        </p:nvSpPr>
        <p:spPr>
          <a:xfrm>
            <a:off x="548640" y="384048"/>
            <a:ext cx="1641348"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KALİTE VE YAYIN</a:t>
            </a:r>
            <a:endParaRPr lang="en-US" sz="1100" dirty="0"/>
          </a:p>
        </p:txBody>
      </p:sp>
      <p:sp>
        <p:nvSpPr>
          <p:cNvPr id="4" name="Text 2"/>
          <p:cNvSpPr txBox="1"/>
          <p:nvPr/>
        </p:nvSpPr>
        <p:spPr>
          <a:xfrm>
            <a:off x="548640" y="786384"/>
            <a:ext cx="11094415" cy="731520"/>
          </a:xfrm>
          <a:prstGeom prst="rect">
            <a:avLst/>
          </a:prstGeom>
          <a:noFill/>
          <a:ln/>
        </p:spPr>
        <p:txBody>
          <a:bodyPr wrap="square" lIns="0" tIns="0" rIns="0" bIns="0" rtlCol="0" anchor="ctr"/>
          <a:lstStyle/>
          <a:p>
            <a:pPr indent="0" marL="0">
              <a:buNone/>
            </a:pPr>
            <a:r>
              <a:rPr lang="en-US" sz="3000" b="1" dirty="0">
                <a:solidFill>
                  <a:srgbClr val="0A2545"/>
                </a:solidFill>
                <a:latin typeface="Arial" pitchFamily="34" charset="0"/>
                <a:ea typeface="Arial" pitchFamily="34" charset="-122"/>
                <a:cs typeface="Arial" pitchFamily="34" charset="-120"/>
              </a:rPr>
              <a:t>Test edilmiş ve bulutta yayında</a:t>
            </a:r>
            <a:endParaRPr lang="en-US" sz="3000" dirty="0"/>
          </a:p>
        </p:txBody>
      </p:sp>
      <p:sp>
        <p:nvSpPr>
          <p:cNvPr id="5" name="Text 3"/>
          <p:cNvSpPr txBox="1"/>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13 / 16</a:t>
            </a:r>
            <a:endParaRPr lang="en-US" sz="1000" dirty="0"/>
          </a:p>
        </p:txBody>
      </p:sp>
      <p:sp>
        <p:nvSpPr>
          <p:cNvPr id="6" name="Shape 4"/>
          <p:cNvSpPr/>
          <p:nvPr/>
        </p:nvSpPr>
        <p:spPr>
          <a:xfrm>
            <a:off x="548640" y="1783080"/>
            <a:ext cx="4937760" cy="1298448"/>
          </a:xfrm>
          <a:prstGeom prst="roundRect">
            <a:avLst>
              <a:gd name="adj" fmla="val 8451"/>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777240" y="1965960"/>
            <a:ext cx="1325880" cy="914400"/>
          </a:xfrm>
          <a:prstGeom prst="rect">
            <a:avLst/>
          </a:prstGeom>
          <a:noFill/>
          <a:ln/>
        </p:spPr>
        <p:txBody>
          <a:bodyPr wrap="square" lIns="0" tIns="0" rIns="0" bIns="0" rtlCol="0" anchor="ctr"/>
          <a:lstStyle/>
          <a:p>
            <a:pPr algn="ctr" indent="0" marL="0">
              <a:buNone/>
            </a:pPr>
            <a:r>
              <a:rPr lang="en-US" sz="3600" b="1" dirty="0">
                <a:solidFill>
                  <a:srgbClr val="16A34A"/>
                </a:solidFill>
                <a:latin typeface="Arial" pitchFamily="34" charset="0"/>
                <a:ea typeface="Arial" pitchFamily="34" charset="-122"/>
                <a:cs typeface="Arial" pitchFamily="34" charset="-120"/>
              </a:rPr>
              <a:t>210</a:t>
            </a:r>
            <a:endParaRPr lang="en-US" sz="3600" dirty="0"/>
          </a:p>
        </p:txBody>
      </p:sp>
      <p:sp>
        <p:nvSpPr>
          <p:cNvPr id="8" name="Text 6"/>
          <p:cNvSpPr txBox="1"/>
          <p:nvPr/>
        </p:nvSpPr>
        <p:spPr>
          <a:xfrm>
            <a:off x="2240280" y="2002536"/>
            <a:ext cx="3063240" cy="347472"/>
          </a:xfrm>
          <a:prstGeom prst="rect">
            <a:avLst/>
          </a:prstGeom>
          <a:noFill/>
          <a:ln/>
        </p:spPr>
        <p:txBody>
          <a:bodyPr wrap="square" lIns="0" tIns="0" rIns="0" bIns="0" rtlCol="0" anchor="ctr"/>
          <a:lstStyle/>
          <a:p>
            <a:pPr indent="0" marL="0">
              <a:buNone/>
            </a:pPr>
            <a:r>
              <a:rPr lang="en-US" sz="1500" b="1" dirty="0">
                <a:solidFill>
                  <a:srgbClr val="1F2937"/>
                </a:solidFill>
                <a:latin typeface="Arial" pitchFamily="34" charset="0"/>
                <a:ea typeface="Arial" pitchFamily="34" charset="-122"/>
                <a:cs typeface="Arial" pitchFamily="34" charset="-120"/>
              </a:rPr>
              <a:t>birim testi</a:t>
            </a:r>
            <a:endParaRPr lang="en-US" sz="1500" dirty="0"/>
          </a:p>
        </p:txBody>
      </p:sp>
      <p:sp>
        <p:nvSpPr>
          <p:cNvPr id="9" name="Text 7"/>
          <p:cNvSpPr txBox="1"/>
          <p:nvPr/>
        </p:nvSpPr>
        <p:spPr>
          <a:xfrm>
            <a:off x="2240280" y="2368296"/>
            <a:ext cx="3063240" cy="59436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Fiyat motoru, durum geçişleri, poliçe, iptal ve rol kuralları</a:t>
            </a:r>
            <a:endParaRPr lang="en-US" sz="1250" dirty="0"/>
          </a:p>
        </p:txBody>
      </p:sp>
      <p:sp>
        <p:nvSpPr>
          <p:cNvPr id="10" name="Shape 8"/>
          <p:cNvSpPr/>
          <p:nvPr/>
        </p:nvSpPr>
        <p:spPr>
          <a:xfrm>
            <a:off x="548640" y="3264408"/>
            <a:ext cx="4937760" cy="1298448"/>
          </a:xfrm>
          <a:prstGeom prst="roundRect">
            <a:avLst>
              <a:gd name="adj" fmla="val 8451"/>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11" name="Text 9"/>
          <p:cNvSpPr txBox="1"/>
          <p:nvPr/>
        </p:nvSpPr>
        <p:spPr>
          <a:xfrm>
            <a:off x="777240" y="3447288"/>
            <a:ext cx="1325880" cy="914400"/>
          </a:xfrm>
          <a:prstGeom prst="rect">
            <a:avLst/>
          </a:prstGeom>
          <a:noFill/>
          <a:ln/>
        </p:spPr>
        <p:txBody>
          <a:bodyPr wrap="square" lIns="0" tIns="0" rIns="0" bIns="0" rtlCol="0" anchor="ctr"/>
          <a:lstStyle/>
          <a:p>
            <a:pPr algn="ctr" indent="0" marL="0">
              <a:buNone/>
            </a:pPr>
            <a:r>
              <a:rPr lang="en-US" sz="3600" b="1" dirty="0">
                <a:solidFill>
                  <a:srgbClr val="1D6FF2"/>
                </a:solidFill>
                <a:latin typeface="Arial" pitchFamily="34" charset="0"/>
                <a:ea typeface="Arial" pitchFamily="34" charset="-122"/>
                <a:cs typeface="Arial" pitchFamily="34" charset="-120"/>
              </a:rPr>
              <a:t>E2E</a:t>
            </a:r>
            <a:endParaRPr lang="en-US" sz="3600" dirty="0"/>
          </a:p>
        </p:txBody>
      </p:sp>
      <p:sp>
        <p:nvSpPr>
          <p:cNvPr id="12" name="Text 10"/>
          <p:cNvSpPr txBox="1"/>
          <p:nvPr/>
        </p:nvSpPr>
        <p:spPr>
          <a:xfrm>
            <a:off x="2240280" y="3483864"/>
            <a:ext cx="3063240" cy="347472"/>
          </a:xfrm>
          <a:prstGeom prst="rect">
            <a:avLst/>
          </a:prstGeom>
          <a:noFill/>
          <a:ln/>
        </p:spPr>
        <p:txBody>
          <a:bodyPr wrap="square" lIns="0" tIns="0" rIns="0" bIns="0" rtlCol="0" anchor="ctr"/>
          <a:lstStyle/>
          <a:p>
            <a:pPr indent="0" marL="0">
              <a:buNone/>
            </a:pPr>
            <a:r>
              <a:rPr lang="en-US" sz="1500" b="1" dirty="0">
                <a:solidFill>
                  <a:srgbClr val="1F2937"/>
                </a:solidFill>
                <a:latin typeface="Arial" pitchFamily="34" charset="0"/>
                <a:ea typeface="Arial" pitchFamily="34" charset="-122"/>
                <a:cs typeface="Arial" pitchFamily="34" charset="-120"/>
              </a:rPr>
              <a:t>entegrasyon testleri</a:t>
            </a:r>
            <a:endParaRPr lang="en-US" sz="1500" dirty="0"/>
          </a:p>
        </p:txBody>
      </p:sp>
      <p:sp>
        <p:nvSpPr>
          <p:cNvPr id="13" name="Text 11"/>
          <p:cNvSpPr txBox="1"/>
          <p:nvPr/>
        </p:nvSpPr>
        <p:spPr>
          <a:xfrm>
            <a:off x="2240280" y="3849624"/>
            <a:ext cx="3063240" cy="59436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WebApplicationFactory ile gerçek HTTP hattı ve yetki</a:t>
            </a:r>
            <a:endParaRPr lang="en-US" sz="1250" dirty="0"/>
          </a:p>
        </p:txBody>
      </p:sp>
      <p:sp>
        <p:nvSpPr>
          <p:cNvPr id="14" name="Shape 12"/>
          <p:cNvSpPr/>
          <p:nvPr/>
        </p:nvSpPr>
        <p:spPr>
          <a:xfrm>
            <a:off x="548640" y="4745736"/>
            <a:ext cx="4937760" cy="1298448"/>
          </a:xfrm>
          <a:prstGeom prst="roundRect">
            <a:avLst>
              <a:gd name="adj" fmla="val 8451"/>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15" name="Text 13"/>
          <p:cNvSpPr txBox="1"/>
          <p:nvPr/>
        </p:nvSpPr>
        <p:spPr>
          <a:xfrm>
            <a:off x="777240" y="4928616"/>
            <a:ext cx="1325880" cy="914400"/>
          </a:xfrm>
          <a:prstGeom prst="rect">
            <a:avLst/>
          </a:prstGeom>
          <a:noFill/>
          <a:ln/>
        </p:spPr>
        <p:txBody>
          <a:bodyPr wrap="square" lIns="0" tIns="0" rIns="0" bIns="0" rtlCol="0" anchor="ctr"/>
          <a:lstStyle/>
          <a:p>
            <a:pPr algn="ctr" indent="0" marL="0">
              <a:buNone/>
            </a:pPr>
            <a:r>
              <a:rPr lang="en-US" sz="3600" b="1" dirty="0">
                <a:solidFill>
                  <a:srgbClr val="13325C"/>
                </a:solidFill>
                <a:latin typeface="Arial" pitchFamily="34" charset="0"/>
                <a:ea typeface="Arial" pitchFamily="34" charset="-122"/>
                <a:cs typeface="Arial" pitchFamily="34" charset="-120"/>
              </a:rPr>
              <a:t>✓</a:t>
            </a:r>
            <a:endParaRPr lang="en-US" sz="3600" dirty="0"/>
          </a:p>
        </p:txBody>
      </p:sp>
      <p:sp>
        <p:nvSpPr>
          <p:cNvPr id="16" name="Text 14"/>
          <p:cNvSpPr txBox="1"/>
          <p:nvPr/>
        </p:nvSpPr>
        <p:spPr>
          <a:xfrm>
            <a:off x="2240280" y="4965192"/>
            <a:ext cx="3063240" cy="347472"/>
          </a:xfrm>
          <a:prstGeom prst="rect">
            <a:avLst/>
          </a:prstGeom>
          <a:noFill/>
          <a:ln/>
        </p:spPr>
        <p:txBody>
          <a:bodyPr wrap="square" lIns="0" tIns="0" rIns="0" bIns="0" rtlCol="0" anchor="ctr"/>
          <a:lstStyle/>
          <a:p>
            <a:pPr indent="0" marL="0">
              <a:buNone/>
            </a:pPr>
            <a:r>
              <a:rPr lang="en-US" sz="1500" b="1" dirty="0">
                <a:solidFill>
                  <a:srgbClr val="1F2937"/>
                </a:solidFill>
                <a:latin typeface="Arial" pitchFamily="34" charset="0"/>
                <a:ea typeface="Arial" pitchFamily="34" charset="-122"/>
                <a:cs typeface="Arial" pitchFamily="34" charset="-120"/>
              </a:rPr>
              <a:t>merkezî doğrulama</a:t>
            </a:r>
            <a:endParaRPr lang="en-US" sz="1500" dirty="0"/>
          </a:p>
        </p:txBody>
      </p:sp>
      <p:sp>
        <p:nvSpPr>
          <p:cNvPr id="17" name="Text 15"/>
          <p:cNvSpPr txBox="1"/>
          <p:nvPr/>
        </p:nvSpPr>
        <p:spPr>
          <a:xfrm>
            <a:off x="2240280" y="5330952"/>
            <a:ext cx="3063240" cy="59436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FluentValidation: T.C., plaka, telefon, şifre kuralları</a:t>
            </a:r>
            <a:endParaRPr lang="en-US" sz="1250" dirty="0"/>
          </a:p>
        </p:txBody>
      </p:sp>
      <p:sp>
        <p:nvSpPr>
          <p:cNvPr id="18" name="Shape 16"/>
          <p:cNvSpPr/>
          <p:nvPr/>
        </p:nvSpPr>
        <p:spPr>
          <a:xfrm>
            <a:off x="5943600" y="1783080"/>
            <a:ext cx="5699455" cy="4261104"/>
          </a:xfrm>
          <a:prstGeom prst="roundRect">
            <a:avLst>
              <a:gd name="adj" fmla="val 2575"/>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19" name="Text 17"/>
          <p:cNvSpPr txBox="1"/>
          <p:nvPr/>
        </p:nvSpPr>
        <p:spPr>
          <a:xfrm>
            <a:off x="6217920" y="1938528"/>
            <a:ext cx="5150815" cy="365760"/>
          </a:xfrm>
          <a:prstGeom prst="rect">
            <a:avLst/>
          </a:prstGeom>
          <a:noFill/>
          <a:ln/>
        </p:spPr>
        <p:txBody>
          <a:bodyPr wrap="square" lIns="0" tIns="0" rIns="0" bIns="0" rtlCol="0" anchor="ctr"/>
          <a:lstStyle/>
          <a:p>
            <a:pPr indent="0" marL="0">
              <a:buNone/>
            </a:pPr>
            <a:r>
              <a:rPr lang="en-US" sz="1600" b="1" dirty="0">
                <a:solidFill>
                  <a:srgbClr val="0A2545"/>
                </a:solidFill>
                <a:latin typeface="Arial" pitchFamily="34" charset="0"/>
                <a:ea typeface="Arial" pitchFamily="34" charset="-122"/>
                <a:cs typeface="Arial" pitchFamily="34" charset="-120"/>
              </a:rPr>
              <a:t>Microsoft Azure canlı ortamı</a:t>
            </a:r>
            <a:endParaRPr lang="en-US" sz="1600" dirty="0"/>
          </a:p>
        </p:txBody>
      </p:sp>
      <p:sp>
        <p:nvSpPr>
          <p:cNvPr id="20" name="Shape 18"/>
          <p:cNvSpPr/>
          <p:nvPr/>
        </p:nvSpPr>
        <p:spPr>
          <a:xfrm>
            <a:off x="6375997" y="2560320"/>
            <a:ext cx="731520" cy="731520"/>
          </a:xfrm>
          <a:prstGeom prst="ellipse">
            <a:avLst/>
          </a:prstGeom>
          <a:solidFill>
            <a:srgbClr val="8A94A6"/>
          </a:solidFill>
          <a:ln w="12700">
            <a:solidFill>
              <a:srgbClr val="8A94A6"/>
            </a:solidFill>
            <a:prstDash val="solid"/>
          </a:ln>
        </p:spPr>
      </p:sp>
      <p:pic>
        <p:nvPicPr>
          <p:cNvPr id="21" name="Image 0" descr="preencoded.png">    </p:cNvPr>
          <p:cNvPicPr>
            <a:picLocks noChangeAspect="1"/>
          </p:cNvPicPr>
          <p:nvPr/>
        </p:nvPicPr>
        <p:blipFill>
          <a:blip r:embed="rId1"/>
          <a:stretch>
            <a:fillRect/>
          </a:stretch>
        </p:blipFill>
        <p:spPr>
          <a:xfrm>
            <a:off x="6551562" y="2735885"/>
            <a:ext cx="380390" cy="380390"/>
          </a:xfrm>
          <a:prstGeom prst="rect">
            <a:avLst/>
          </a:prstGeom>
        </p:spPr>
      </p:pic>
      <p:sp>
        <p:nvSpPr>
          <p:cNvPr id="22" name="Text 19"/>
          <p:cNvSpPr txBox="1"/>
          <p:nvPr/>
        </p:nvSpPr>
        <p:spPr>
          <a:xfrm>
            <a:off x="6172200" y="3401568"/>
            <a:ext cx="1139114" cy="457200"/>
          </a:xfrm>
          <a:prstGeom prst="rect">
            <a:avLst/>
          </a:prstGeom>
          <a:noFill/>
          <a:ln/>
        </p:spPr>
        <p:txBody>
          <a:bodyPr wrap="square" lIns="0" tIns="0" rIns="0" bIns="0" rtlCol="0" anchor="t"/>
          <a:lstStyle/>
          <a:p>
            <a:pPr algn="ctr" indent="0" marL="0">
              <a:buNone/>
            </a:pPr>
            <a:r>
              <a:rPr lang="en-US" sz="1250" b="1" dirty="0">
                <a:solidFill>
                  <a:srgbClr val="1F2937"/>
                </a:solidFill>
                <a:latin typeface="Arial" pitchFamily="34" charset="0"/>
                <a:ea typeface="Arial" pitchFamily="34" charset="-122"/>
                <a:cs typeface="Arial" pitchFamily="34" charset="-120"/>
              </a:rPr>
              <a:t>Kullanıcı tarayıcısı</a:t>
            </a:r>
            <a:endParaRPr lang="en-US" sz="1250" dirty="0"/>
          </a:p>
        </p:txBody>
      </p:sp>
      <p:sp>
        <p:nvSpPr>
          <p:cNvPr id="23" name="Text 20"/>
          <p:cNvSpPr txBox="1"/>
          <p:nvPr/>
        </p:nvSpPr>
        <p:spPr>
          <a:xfrm>
            <a:off x="6172200" y="3858768"/>
            <a:ext cx="1139114" cy="566928"/>
          </a:xfrm>
          <a:prstGeom prst="rect">
            <a:avLst/>
          </a:prstGeom>
          <a:noFill/>
          <a:ln/>
        </p:spPr>
        <p:txBody>
          <a:bodyPr wrap="square" lIns="0" tIns="0" rIns="0" bIns="0" rtlCol="0" anchor="t"/>
          <a:lstStyle/>
          <a:p>
            <a:pPr algn="ctr" indent="0" marL="0">
              <a:buNone/>
            </a:pPr>
            <a:r>
              <a:rPr lang="en-US" sz="1100" dirty="0">
                <a:solidFill>
                  <a:srgbClr val="5B6472"/>
                </a:solidFill>
                <a:latin typeface="Calibri" pitchFamily="34" charset="0"/>
                <a:ea typeface="Calibri" pitchFamily="34" charset="-122"/>
                <a:cs typeface="Calibri" pitchFamily="34" charset="-120"/>
              </a:rPr>
              <a:t>netsigorta.online</a:t>
            </a:r>
            <a:endParaRPr lang="en-US" sz="1100" dirty="0"/>
          </a:p>
        </p:txBody>
      </p:sp>
      <p:pic>
        <p:nvPicPr>
          <p:cNvPr id="24" name="Image 1" descr="preencoded.png">    </p:cNvPr>
          <p:cNvPicPr>
            <a:picLocks noChangeAspect="1"/>
          </p:cNvPicPr>
          <p:nvPr/>
        </p:nvPicPr>
        <p:blipFill>
          <a:blip r:embed="rId2"/>
          <a:stretch>
            <a:fillRect/>
          </a:stretch>
        </p:blipFill>
        <p:spPr>
          <a:xfrm>
            <a:off x="7320458" y="2807208"/>
            <a:ext cx="219456" cy="219456"/>
          </a:xfrm>
          <a:prstGeom prst="rect">
            <a:avLst/>
          </a:prstGeom>
        </p:spPr>
      </p:pic>
      <p:sp>
        <p:nvSpPr>
          <p:cNvPr id="25" name="Shape 21"/>
          <p:cNvSpPr/>
          <p:nvPr/>
        </p:nvSpPr>
        <p:spPr>
          <a:xfrm>
            <a:off x="7743711" y="2560320"/>
            <a:ext cx="731520" cy="731520"/>
          </a:xfrm>
          <a:prstGeom prst="ellipse">
            <a:avLst/>
          </a:prstGeom>
          <a:solidFill>
            <a:srgbClr val="1D6FF2"/>
          </a:solidFill>
          <a:ln w="12700">
            <a:solidFill>
              <a:srgbClr val="1D6FF2"/>
            </a:solidFill>
            <a:prstDash val="solid"/>
          </a:ln>
        </p:spPr>
      </p:sp>
      <p:pic>
        <p:nvPicPr>
          <p:cNvPr id="26" name="Image 2" descr="preencoded.png">    </p:cNvPr>
          <p:cNvPicPr>
            <a:picLocks noChangeAspect="1"/>
          </p:cNvPicPr>
          <p:nvPr/>
        </p:nvPicPr>
        <p:blipFill>
          <a:blip r:embed="rId3"/>
          <a:stretch>
            <a:fillRect/>
          </a:stretch>
        </p:blipFill>
        <p:spPr>
          <a:xfrm>
            <a:off x="7919276" y="2735885"/>
            <a:ext cx="380390" cy="380390"/>
          </a:xfrm>
          <a:prstGeom prst="rect">
            <a:avLst/>
          </a:prstGeom>
        </p:spPr>
      </p:pic>
      <p:sp>
        <p:nvSpPr>
          <p:cNvPr id="27" name="Text 22"/>
          <p:cNvSpPr txBox="1"/>
          <p:nvPr/>
        </p:nvSpPr>
        <p:spPr>
          <a:xfrm>
            <a:off x="7539914" y="3401568"/>
            <a:ext cx="1139114" cy="457200"/>
          </a:xfrm>
          <a:prstGeom prst="rect">
            <a:avLst/>
          </a:prstGeom>
          <a:noFill/>
          <a:ln/>
        </p:spPr>
        <p:txBody>
          <a:bodyPr wrap="square" lIns="0" tIns="0" rIns="0" bIns="0" rtlCol="0" anchor="t"/>
          <a:lstStyle/>
          <a:p>
            <a:pPr algn="ctr" indent="0" marL="0">
              <a:buNone/>
            </a:pPr>
            <a:r>
              <a:rPr lang="en-US" sz="1250" b="1" dirty="0">
                <a:solidFill>
                  <a:srgbClr val="1F2937"/>
                </a:solidFill>
                <a:latin typeface="Arial" pitchFamily="34" charset="0"/>
                <a:ea typeface="Arial" pitchFamily="34" charset="-122"/>
                <a:cs typeface="Arial" pitchFamily="34" charset="-120"/>
              </a:rPr>
              <a:t>Static Web Apps</a:t>
            </a:r>
            <a:endParaRPr lang="en-US" sz="1250" dirty="0"/>
          </a:p>
        </p:txBody>
      </p:sp>
      <p:sp>
        <p:nvSpPr>
          <p:cNvPr id="28" name="Text 23"/>
          <p:cNvSpPr txBox="1"/>
          <p:nvPr/>
        </p:nvSpPr>
        <p:spPr>
          <a:xfrm>
            <a:off x="7539914" y="3858768"/>
            <a:ext cx="1139114" cy="566928"/>
          </a:xfrm>
          <a:prstGeom prst="rect">
            <a:avLst/>
          </a:prstGeom>
          <a:noFill/>
          <a:ln/>
        </p:spPr>
        <p:txBody>
          <a:bodyPr wrap="square" lIns="0" tIns="0" rIns="0" bIns="0" rtlCol="0" anchor="t"/>
          <a:lstStyle/>
          <a:p>
            <a:pPr algn="ctr" indent="0" marL="0">
              <a:buNone/>
            </a:pPr>
            <a:r>
              <a:rPr lang="en-US" sz="1100" dirty="0">
                <a:solidFill>
                  <a:srgbClr val="5B6472"/>
                </a:solidFill>
                <a:latin typeface="Calibri" pitchFamily="34" charset="0"/>
                <a:ea typeface="Calibri" pitchFamily="34" charset="-122"/>
                <a:cs typeface="Calibri" pitchFamily="34" charset="-120"/>
              </a:rPr>
              <a:t>Angular arayüz · ücretsiz SSL</a:t>
            </a:r>
            <a:endParaRPr lang="en-US" sz="1100" dirty="0"/>
          </a:p>
        </p:txBody>
      </p:sp>
      <p:pic>
        <p:nvPicPr>
          <p:cNvPr id="29" name="Image 3" descr="preencoded.png">    </p:cNvPr>
          <p:cNvPicPr>
            <a:picLocks noChangeAspect="1"/>
          </p:cNvPicPr>
          <p:nvPr/>
        </p:nvPicPr>
        <p:blipFill>
          <a:blip r:embed="rId4"/>
          <a:stretch>
            <a:fillRect/>
          </a:stretch>
        </p:blipFill>
        <p:spPr>
          <a:xfrm>
            <a:off x="8688172" y="2807208"/>
            <a:ext cx="219456" cy="219456"/>
          </a:xfrm>
          <a:prstGeom prst="rect">
            <a:avLst/>
          </a:prstGeom>
        </p:spPr>
      </p:pic>
      <p:sp>
        <p:nvSpPr>
          <p:cNvPr id="30" name="Shape 24"/>
          <p:cNvSpPr/>
          <p:nvPr/>
        </p:nvSpPr>
        <p:spPr>
          <a:xfrm>
            <a:off x="9111424" y="2560320"/>
            <a:ext cx="731520" cy="731520"/>
          </a:xfrm>
          <a:prstGeom prst="ellipse">
            <a:avLst/>
          </a:prstGeom>
          <a:solidFill>
            <a:srgbClr val="13325C"/>
          </a:solidFill>
          <a:ln w="12700">
            <a:solidFill>
              <a:srgbClr val="13325C"/>
            </a:solidFill>
            <a:prstDash val="solid"/>
          </a:ln>
        </p:spPr>
      </p:sp>
      <p:pic>
        <p:nvPicPr>
          <p:cNvPr id="31" name="Image 4" descr="preencoded.png">    </p:cNvPr>
          <p:cNvPicPr>
            <a:picLocks noChangeAspect="1"/>
          </p:cNvPicPr>
          <p:nvPr/>
        </p:nvPicPr>
        <p:blipFill>
          <a:blip r:embed="rId5"/>
          <a:stretch>
            <a:fillRect/>
          </a:stretch>
        </p:blipFill>
        <p:spPr>
          <a:xfrm>
            <a:off x="9286989" y="2735885"/>
            <a:ext cx="380390" cy="380390"/>
          </a:xfrm>
          <a:prstGeom prst="rect">
            <a:avLst/>
          </a:prstGeom>
        </p:spPr>
      </p:pic>
      <p:sp>
        <p:nvSpPr>
          <p:cNvPr id="32" name="Text 25"/>
          <p:cNvSpPr txBox="1"/>
          <p:nvPr/>
        </p:nvSpPr>
        <p:spPr>
          <a:xfrm>
            <a:off x="8907628" y="3401568"/>
            <a:ext cx="1139114" cy="457200"/>
          </a:xfrm>
          <a:prstGeom prst="rect">
            <a:avLst/>
          </a:prstGeom>
          <a:noFill/>
          <a:ln/>
        </p:spPr>
        <p:txBody>
          <a:bodyPr wrap="square" lIns="0" tIns="0" rIns="0" bIns="0" rtlCol="0" anchor="t"/>
          <a:lstStyle/>
          <a:p>
            <a:pPr algn="ctr" indent="0" marL="0">
              <a:buNone/>
            </a:pPr>
            <a:r>
              <a:rPr lang="en-US" sz="1250" b="1" dirty="0">
                <a:solidFill>
                  <a:srgbClr val="1F2937"/>
                </a:solidFill>
                <a:latin typeface="Arial" pitchFamily="34" charset="0"/>
                <a:ea typeface="Arial" pitchFamily="34" charset="-122"/>
                <a:cs typeface="Arial" pitchFamily="34" charset="-120"/>
              </a:rPr>
              <a:t>App Service (B1)</a:t>
            </a:r>
            <a:endParaRPr lang="en-US" sz="1250" dirty="0"/>
          </a:p>
        </p:txBody>
      </p:sp>
      <p:sp>
        <p:nvSpPr>
          <p:cNvPr id="33" name="Text 26"/>
          <p:cNvSpPr txBox="1"/>
          <p:nvPr/>
        </p:nvSpPr>
        <p:spPr>
          <a:xfrm>
            <a:off x="8907628" y="3858768"/>
            <a:ext cx="1139114" cy="566928"/>
          </a:xfrm>
          <a:prstGeom prst="rect">
            <a:avLst/>
          </a:prstGeom>
          <a:noFill/>
          <a:ln/>
        </p:spPr>
        <p:txBody>
          <a:bodyPr wrap="square" lIns="0" tIns="0" rIns="0" bIns="0" rtlCol="0" anchor="t"/>
          <a:lstStyle/>
          <a:p>
            <a:pPr algn="ctr" indent="0" marL="0">
              <a:buNone/>
            </a:pPr>
            <a:r>
              <a:rPr lang="en-US" sz="1100" dirty="0">
                <a:solidFill>
                  <a:srgbClr val="5B6472"/>
                </a:solidFill>
                <a:latin typeface="Calibri" pitchFamily="34" charset="0"/>
                <a:ea typeface="Calibri" pitchFamily="34" charset="-122"/>
                <a:cs typeface="Calibri" pitchFamily="34" charset="-120"/>
              </a:rPr>
              <a:t>.NET 8 API · ortam değişkenleri</a:t>
            </a:r>
            <a:endParaRPr lang="en-US" sz="1100" dirty="0"/>
          </a:p>
        </p:txBody>
      </p:sp>
      <p:pic>
        <p:nvPicPr>
          <p:cNvPr id="34" name="Image 5" descr="preencoded.png">    </p:cNvPr>
          <p:cNvPicPr>
            <a:picLocks noChangeAspect="1"/>
          </p:cNvPicPr>
          <p:nvPr/>
        </p:nvPicPr>
        <p:blipFill>
          <a:blip r:embed="rId6"/>
          <a:stretch>
            <a:fillRect/>
          </a:stretch>
        </p:blipFill>
        <p:spPr>
          <a:xfrm>
            <a:off x="10055885" y="2807208"/>
            <a:ext cx="219456" cy="219456"/>
          </a:xfrm>
          <a:prstGeom prst="rect">
            <a:avLst/>
          </a:prstGeom>
        </p:spPr>
      </p:pic>
      <p:sp>
        <p:nvSpPr>
          <p:cNvPr id="35" name="Shape 27"/>
          <p:cNvSpPr/>
          <p:nvPr/>
        </p:nvSpPr>
        <p:spPr>
          <a:xfrm>
            <a:off x="10479138" y="2560320"/>
            <a:ext cx="731520" cy="731520"/>
          </a:xfrm>
          <a:prstGeom prst="ellipse">
            <a:avLst/>
          </a:prstGeom>
          <a:solidFill>
            <a:srgbClr val="16A34A"/>
          </a:solidFill>
          <a:ln w="12700">
            <a:solidFill>
              <a:srgbClr val="16A34A"/>
            </a:solidFill>
            <a:prstDash val="solid"/>
          </a:ln>
        </p:spPr>
      </p:sp>
      <p:pic>
        <p:nvPicPr>
          <p:cNvPr id="36" name="Image 6" descr="preencoded.png">    </p:cNvPr>
          <p:cNvPicPr>
            <a:picLocks noChangeAspect="1"/>
          </p:cNvPicPr>
          <p:nvPr/>
        </p:nvPicPr>
        <p:blipFill>
          <a:blip r:embed="rId7"/>
          <a:stretch>
            <a:fillRect/>
          </a:stretch>
        </p:blipFill>
        <p:spPr>
          <a:xfrm>
            <a:off x="10654703" y="2735885"/>
            <a:ext cx="380390" cy="380390"/>
          </a:xfrm>
          <a:prstGeom prst="rect">
            <a:avLst/>
          </a:prstGeom>
        </p:spPr>
      </p:pic>
      <p:sp>
        <p:nvSpPr>
          <p:cNvPr id="37" name="Text 28"/>
          <p:cNvSpPr txBox="1"/>
          <p:nvPr/>
        </p:nvSpPr>
        <p:spPr>
          <a:xfrm>
            <a:off x="10275341" y="3401568"/>
            <a:ext cx="1139114" cy="457200"/>
          </a:xfrm>
          <a:prstGeom prst="rect">
            <a:avLst/>
          </a:prstGeom>
          <a:noFill/>
          <a:ln/>
        </p:spPr>
        <p:txBody>
          <a:bodyPr wrap="square" lIns="0" tIns="0" rIns="0" bIns="0" rtlCol="0" anchor="t"/>
          <a:lstStyle/>
          <a:p>
            <a:pPr algn="ctr" indent="0" marL="0">
              <a:buNone/>
            </a:pPr>
            <a:r>
              <a:rPr lang="en-US" sz="1250" b="1" dirty="0">
                <a:solidFill>
                  <a:srgbClr val="1F2937"/>
                </a:solidFill>
                <a:latin typeface="Arial" pitchFamily="34" charset="0"/>
                <a:ea typeface="Arial" pitchFamily="34" charset="-122"/>
                <a:cs typeface="Arial" pitchFamily="34" charset="-120"/>
              </a:rPr>
              <a:t>Azure SQL (Basic)</a:t>
            </a:r>
            <a:endParaRPr lang="en-US" sz="1250" dirty="0"/>
          </a:p>
        </p:txBody>
      </p:sp>
      <p:sp>
        <p:nvSpPr>
          <p:cNvPr id="38" name="Text 29"/>
          <p:cNvSpPr txBox="1"/>
          <p:nvPr/>
        </p:nvSpPr>
        <p:spPr>
          <a:xfrm>
            <a:off x="10275341" y="3858768"/>
            <a:ext cx="1139114" cy="566928"/>
          </a:xfrm>
          <a:prstGeom prst="rect">
            <a:avLst/>
          </a:prstGeom>
          <a:noFill/>
          <a:ln/>
        </p:spPr>
        <p:txBody>
          <a:bodyPr wrap="square" lIns="0" tIns="0" rIns="0" bIns="0" rtlCol="0" anchor="t"/>
          <a:lstStyle/>
          <a:p>
            <a:pPr algn="ctr" indent="0" marL="0">
              <a:buNone/>
            </a:pPr>
            <a:r>
              <a:rPr lang="en-US" sz="1100" dirty="0">
                <a:solidFill>
                  <a:srgbClr val="5B6472"/>
                </a:solidFill>
                <a:latin typeface="Calibri" pitchFamily="34" charset="0"/>
                <a:ea typeface="Calibri" pitchFamily="34" charset="-122"/>
                <a:cs typeface="Calibri" pitchFamily="34" charset="-120"/>
              </a:rPr>
              <a:t>KaskoDb · güvenlik duvarı</a:t>
            </a:r>
            <a:endParaRPr lang="en-US" sz="1100" dirty="0"/>
          </a:p>
        </p:txBody>
      </p:sp>
      <p:sp>
        <p:nvSpPr>
          <p:cNvPr id="39" name="Text 30"/>
          <p:cNvSpPr txBox="1"/>
          <p:nvPr/>
        </p:nvSpPr>
        <p:spPr>
          <a:xfrm>
            <a:off x="6217920" y="4617720"/>
            <a:ext cx="5196535" cy="11887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JWT anahtarı ve bağlantı dizesi koda değil ortam değişkenlerine yazıldı</a:t>
            </a:r>
            <a:endParaRPr lang="en-US" sz="1350" dirty="0"/>
          </a:p>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CORS yalnızca arayüz adresine açık; HTTPS zorunlu</a:t>
            </a:r>
            <a:endParaRPr lang="en-US" sz="1350" dirty="0"/>
          </a:p>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API Kudu ZipDeploy, arayüz SWA CLI ile yayınlandı · aylık ≈ 18 $</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F2F7"/>
        </a:solidFill>
      </p:bgPr>
    </p:bg>
    <p:spTree>
      <p:nvGrpSpPr>
        <p:cNvPr id="1" name=""/>
        <p:cNvGrpSpPr/>
        <p:nvPr/>
      </p:nvGrpSpPr>
      <p:grpSpPr>
        <a:xfrm>
          <a:off x="0" y="0"/>
          <a:ext cx="0" cy="0"/>
          <a:chOff x="0" y="0"/>
          <a:chExt cx="0" cy="0"/>
        </a:xfrm>
      </p:grpSpPr>
      <p:sp>
        <p:nvSpPr>
          <p:cNvPr id="2" name="Shape 0"/>
          <p:cNvSpPr/>
          <p:nvPr/>
        </p:nvSpPr>
        <p:spPr>
          <a:xfrm>
            <a:off x="548640" y="384048"/>
            <a:ext cx="1161288" cy="329184"/>
          </a:xfrm>
          <a:prstGeom prst="roundRect">
            <a:avLst>
              <a:gd name="adj" fmla="val 50000"/>
            </a:avLst>
          </a:prstGeom>
          <a:solidFill>
            <a:srgbClr val="0A2545"/>
          </a:solidFill>
          <a:ln w="12700">
            <a:solidFill>
              <a:srgbClr val="0A2545"/>
            </a:solidFill>
            <a:prstDash val="solid"/>
          </a:ln>
        </p:spPr>
      </p:sp>
      <p:sp>
        <p:nvSpPr>
          <p:cNvPr id="3" name="Text 1"/>
          <p:cNvSpPr txBox="1"/>
          <p:nvPr/>
        </p:nvSpPr>
        <p:spPr>
          <a:xfrm>
            <a:off x="548640" y="384048"/>
            <a:ext cx="1161288"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CANLI DEMO</a:t>
            </a:r>
            <a:endParaRPr lang="en-US" sz="1100" dirty="0"/>
          </a:p>
        </p:txBody>
      </p:sp>
      <p:sp>
        <p:nvSpPr>
          <p:cNvPr id="4" name="Text 2"/>
          <p:cNvSpPr txBox="1"/>
          <p:nvPr/>
        </p:nvSpPr>
        <p:spPr>
          <a:xfrm>
            <a:off x="548640" y="786384"/>
            <a:ext cx="11094415" cy="731520"/>
          </a:xfrm>
          <a:prstGeom prst="rect">
            <a:avLst/>
          </a:prstGeom>
          <a:noFill/>
          <a:ln/>
        </p:spPr>
        <p:txBody>
          <a:bodyPr wrap="square" lIns="0" tIns="0" rIns="0" bIns="0" rtlCol="0" anchor="ctr"/>
          <a:lstStyle/>
          <a:p>
            <a:pPr indent="0" marL="0">
              <a:buNone/>
            </a:pPr>
            <a:r>
              <a:rPr lang="en-US" sz="3000" b="1" dirty="0">
                <a:solidFill>
                  <a:srgbClr val="0A2545"/>
                </a:solidFill>
                <a:latin typeface="Arial" pitchFamily="34" charset="0"/>
                <a:ea typeface="Arial" pitchFamily="34" charset="-122"/>
                <a:cs typeface="Arial" pitchFamily="34" charset="-120"/>
              </a:rPr>
              <a:t>Demoda göstereceklerim</a:t>
            </a:r>
            <a:endParaRPr lang="en-US" sz="3000" dirty="0"/>
          </a:p>
        </p:txBody>
      </p:sp>
      <p:sp>
        <p:nvSpPr>
          <p:cNvPr id="5" name="Text 3"/>
          <p:cNvSpPr txBox="1"/>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14 / 16</a:t>
            </a:r>
            <a:endParaRPr lang="en-US" sz="1000" dirty="0"/>
          </a:p>
        </p:txBody>
      </p:sp>
      <p:sp>
        <p:nvSpPr>
          <p:cNvPr id="6" name="Shape 4"/>
          <p:cNvSpPr/>
          <p:nvPr/>
        </p:nvSpPr>
        <p:spPr>
          <a:xfrm>
            <a:off x="548640" y="1783080"/>
            <a:ext cx="11094415" cy="868680"/>
          </a:xfrm>
          <a:prstGeom prst="roundRect">
            <a:avLst>
              <a:gd name="adj" fmla="val 12632"/>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7" name="Shape 5"/>
          <p:cNvSpPr/>
          <p:nvPr/>
        </p:nvSpPr>
        <p:spPr>
          <a:xfrm>
            <a:off x="777240" y="1956816"/>
            <a:ext cx="530352" cy="530352"/>
          </a:xfrm>
          <a:prstGeom prst="ellipse">
            <a:avLst/>
          </a:prstGeom>
          <a:solidFill>
            <a:srgbClr val="1D6FF2"/>
          </a:solidFill>
          <a:ln w="12700">
            <a:solidFill>
              <a:srgbClr val="1D6FF2"/>
            </a:solidFill>
            <a:prstDash val="solid"/>
          </a:ln>
        </p:spPr>
      </p:sp>
      <p:sp>
        <p:nvSpPr>
          <p:cNvPr id="8" name="Text 6"/>
          <p:cNvSpPr txBox="1"/>
          <p:nvPr/>
        </p:nvSpPr>
        <p:spPr>
          <a:xfrm>
            <a:off x="777240" y="1956816"/>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9" name="Text 7"/>
          <p:cNvSpPr txBox="1"/>
          <p:nvPr/>
        </p:nvSpPr>
        <p:spPr>
          <a:xfrm>
            <a:off x="1508760" y="1892808"/>
            <a:ext cx="2651760" cy="347472"/>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Hızlı teklif</a:t>
            </a:r>
            <a:endParaRPr lang="en-US" sz="1600" dirty="0"/>
          </a:p>
        </p:txBody>
      </p:sp>
      <p:sp>
        <p:nvSpPr>
          <p:cNvPr id="10" name="Text 8"/>
          <p:cNvSpPr txBox="1"/>
          <p:nvPr/>
        </p:nvSpPr>
        <p:spPr>
          <a:xfrm>
            <a:off x="1508760" y="2240280"/>
            <a:ext cx="2651760" cy="292608"/>
          </a:xfrm>
          <a:prstGeom prst="rect">
            <a:avLst/>
          </a:prstGeom>
          <a:noFill/>
          <a:ln/>
        </p:spPr>
        <p:txBody>
          <a:bodyPr wrap="square" lIns="0" tIns="0" rIns="0" bIns="0" rtlCol="0" anchor="ctr"/>
          <a:lstStyle/>
          <a:p>
            <a:pPr indent="0" marL="0">
              <a:buNone/>
            </a:pPr>
            <a:r>
              <a:rPr lang="en-US" sz="1250" b="1" dirty="0">
                <a:solidFill>
                  <a:srgbClr val="1D6FF2"/>
                </a:solidFill>
                <a:latin typeface="Calibri" pitchFamily="34" charset="0"/>
                <a:ea typeface="Calibri" pitchFamily="34" charset="-122"/>
                <a:cs typeface="Calibri" pitchFamily="34" charset="-120"/>
              </a:rPr>
              <a:t>Misafir</a:t>
            </a:r>
            <a:endParaRPr lang="en-US" sz="1250" dirty="0"/>
          </a:p>
        </p:txBody>
      </p:sp>
      <p:sp>
        <p:nvSpPr>
          <p:cNvPr id="11" name="Text 9"/>
          <p:cNvSpPr txBox="1"/>
          <p:nvPr/>
        </p:nvSpPr>
        <p:spPr>
          <a:xfrm>
            <a:off x="4206240" y="1874520"/>
            <a:ext cx="6309360" cy="68580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Plaka → araç ve sürücü → üç paket → muafiyetle yeniden fiyat → teklif PDF'i</a:t>
            </a:r>
            <a:endParaRPr lang="en-US" sz="1400" dirty="0"/>
          </a:p>
        </p:txBody>
      </p:sp>
      <p:sp>
        <p:nvSpPr>
          <p:cNvPr id="12" name="Text 10"/>
          <p:cNvSpPr txBox="1"/>
          <p:nvPr/>
        </p:nvSpPr>
        <p:spPr>
          <a:xfrm>
            <a:off x="10545775" y="1874520"/>
            <a:ext cx="868680" cy="685800"/>
          </a:xfrm>
          <a:prstGeom prst="rect">
            <a:avLst/>
          </a:prstGeom>
          <a:noFill/>
          <a:ln/>
        </p:spPr>
        <p:txBody>
          <a:bodyPr wrap="square" lIns="0" tIns="0" rIns="0" bIns="0" rtlCol="0" anchor="ctr"/>
          <a:lstStyle/>
          <a:p>
            <a:pPr algn="r" indent="0" marL="0">
              <a:buNone/>
            </a:pPr>
            <a:r>
              <a:rPr lang="en-US" sz="1400" b="1" dirty="0">
                <a:solidFill>
                  <a:srgbClr val="0A2545"/>
                </a:solidFill>
                <a:latin typeface="Arial" pitchFamily="34" charset="0"/>
                <a:ea typeface="Arial" pitchFamily="34" charset="-122"/>
                <a:cs typeface="Arial" pitchFamily="34" charset="-120"/>
              </a:rPr>
              <a:t>1 dk</a:t>
            </a:r>
            <a:endParaRPr lang="en-US" sz="1400" dirty="0"/>
          </a:p>
        </p:txBody>
      </p:sp>
      <p:sp>
        <p:nvSpPr>
          <p:cNvPr id="13" name="Shape 11"/>
          <p:cNvSpPr/>
          <p:nvPr/>
        </p:nvSpPr>
        <p:spPr>
          <a:xfrm>
            <a:off x="548640" y="2807208"/>
            <a:ext cx="11094415" cy="868680"/>
          </a:xfrm>
          <a:prstGeom prst="roundRect">
            <a:avLst>
              <a:gd name="adj" fmla="val 12632"/>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14" name="Shape 12"/>
          <p:cNvSpPr/>
          <p:nvPr/>
        </p:nvSpPr>
        <p:spPr>
          <a:xfrm>
            <a:off x="777240" y="2980944"/>
            <a:ext cx="530352" cy="530352"/>
          </a:xfrm>
          <a:prstGeom prst="ellipse">
            <a:avLst/>
          </a:prstGeom>
          <a:solidFill>
            <a:srgbClr val="1D6FF2"/>
          </a:solidFill>
          <a:ln w="12700">
            <a:solidFill>
              <a:srgbClr val="1D6FF2"/>
            </a:solidFill>
            <a:prstDash val="solid"/>
          </a:ln>
        </p:spPr>
      </p:sp>
      <p:sp>
        <p:nvSpPr>
          <p:cNvPr id="15" name="Text 13"/>
          <p:cNvSpPr txBox="1"/>
          <p:nvPr/>
        </p:nvSpPr>
        <p:spPr>
          <a:xfrm>
            <a:off x="777240" y="2980944"/>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6" name="Text 14"/>
          <p:cNvSpPr txBox="1"/>
          <p:nvPr/>
        </p:nvSpPr>
        <p:spPr>
          <a:xfrm>
            <a:off x="1508760" y="2916936"/>
            <a:ext cx="2651760" cy="347472"/>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Formül motoru</a:t>
            </a:r>
            <a:endParaRPr lang="en-US" sz="1600" dirty="0"/>
          </a:p>
        </p:txBody>
      </p:sp>
      <p:sp>
        <p:nvSpPr>
          <p:cNvPr id="17" name="Text 15"/>
          <p:cNvSpPr txBox="1"/>
          <p:nvPr/>
        </p:nvSpPr>
        <p:spPr>
          <a:xfrm>
            <a:off x="1508760" y="3264408"/>
            <a:ext cx="2651760" cy="292608"/>
          </a:xfrm>
          <a:prstGeom prst="rect">
            <a:avLst/>
          </a:prstGeom>
          <a:noFill/>
          <a:ln/>
        </p:spPr>
        <p:txBody>
          <a:bodyPr wrap="square" lIns="0" tIns="0" rIns="0" bIns="0" rtlCol="0" anchor="ctr"/>
          <a:lstStyle/>
          <a:p>
            <a:pPr indent="0" marL="0">
              <a:buNone/>
            </a:pPr>
            <a:r>
              <a:rPr lang="en-US" sz="1250" b="1" dirty="0">
                <a:solidFill>
                  <a:srgbClr val="1D6FF2"/>
                </a:solidFill>
                <a:latin typeface="Calibri" pitchFamily="34" charset="0"/>
                <a:ea typeface="Calibri" pitchFamily="34" charset="-122"/>
                <a:cs typeface="Calibri" pitchFamily="34" charset="-120"/>
              </a:rPr>
              <a:t>Admin</a:t>
            </a:r>
            <a:endParaRPr lang="en-US" sz="1250" dirty="0"/>
          </a:p>
        </p:txBody>
      </p:sp>
      <p:sp>
        <p:nvSpPr>
          <p:cNvPr id="18" name="Text 16"/>
          <p:cNvSpPr txBox="1"/>
          <p:nvPr/>
        </p:nvSpPr>
        <p:spPr>
          <a:xfrm>
            <a:off x="4206240" y="2898648"/>
            <a:ext cx="6309360" cy="68580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Sürücü yaşı 35 → 20: genç sürücü ek primi; bölge Düşük → Yüksek: prim farkı</a:t>
            </a:r>
            <a:endParaRPr lang="en-US" sz="1400" dirty="0"/>
          </a:p>
        </p:txBody>
      </p:sp>
      <p:sp>
        <p:nvSpPr>
          <p:cNvPr id="19" name="Text 17"/>
          <p:cNvSpPr txBox="1"/>
          <p:nvPr/>
        </p:nvSpPr>
        <p:spPr>
          <a:xfrm>
            <a:off x="10545775" y="2898648"/>
            <a:ext cx="868680" cy="685800"/>
          </a:xfrm>
          <a:prstGeom prst="rect">
            <a:avLst/>
          </a:prstGeom>
          <a:noFill/>
          <a:ln/>
        </p:spPr>
        <p:txBody>
          <a:bodyPr wrap="square" lIns="0" tIns="0" rIns="0" bIns="0" rtlCol="0" anchor="ctr"/>
          <a:lstStyle/>
          <a:p>
            <a:pPr algn="r" indent="0" marL="0">
              <a:buNone/>
            </a:pPr>
            <a:r>
              <a:rPr lang="en-US" sz="1400" b="1" dirty="0">
                <a:solidFill>
                  <a:srgbClr val="0A2545"/>
                </a:solidFill>
                <a:latin typeface="Arial" pitchFamily="34" charset="0"/>
                <a:ea typeface="Arial" pitchFamily="34" charset="-122"/>
                <a:cs typeface="Arial" pitchFamily="34" charset="-120"/>
              </a:rPr>
              <a:t>1 dk</a:t>
            </a:r>
            <a:endParaRPr lang="en-US" sz="1400" dirty="0"/>
          </a:p>
        </p:txBody>
      </p:sp>
      <p:sp>
        <p:nvSpPr>
          <p:cNvPr id="20" name="Shape 18"/>
          <p:cNvSpPr/>
          <p:nvPr/>
        </p:nvSpPr>
        <p:spPr>
          <a:xfrm>
            <a:off x="548640" y="3831336"/>
            <a:ext cx="11094415" cy="868680"/>
          </a:xfrm>
          <a:prstGeom prst="roundRect">
            <a:avLst>
              <a:gd name="adj" fmla="val 12632"/>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21" name="Shape 19"/>
          <p:cNvSpPr/>
          <p:nvPr/>
        </p:nvSpPr>
        <p:spPr>
          <a:xfrm>
            <a:off x="777240" y="4005072"/>
            <a:ext cx="530352" cy="530352"/>
          </a:xfrm>
          <a:prstGeom prst="ellipse">
            <a:avLst/>
          </a:prstGeom>
          <a:solidFill>
            <a:srgbClr val="1D6FF2"/>
          </a:solidFill>
          <a:ln w="12700">
            <a:solidFill>
              <a:srgbClr val="1D6FF2"/>
            </a:solidFill>
            <a:prstDash val="solid"/>
          </a:ln>
        </p:spPr>
      </p:sp>
      <p:sp>
        <p:nvSpPr>
          <p:cNvPr id="22" name="Text 20"/>
          <p:cNvSpPr txBox="1"/>
          <p:nvPr/>
        </p:nvSpPr>
        <p:spPr>
          <a:xfrm>
            <a:off x="777240" y="4005072"/>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3" name="Text 21"/>
          <p:cNvSpPr txBox="1"/>
          <p:nvPr/>
        </p:nvSpPr>
        <p:spPr>
          <a:xfrm>
            <a:off x="1508760" y="3941064"/>
            <a:ext cx="2651760" cy="347472"/>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Tarife talebi</a:t>
            </a:r>
            <a:endParaRPr lang="en-US" sz="1600" dirty="0"/>
          </a:p>
        </p:txBody>
      </p:sp>
      <p:sp>
        <p:nvSpPr>
          <p:cNvPr id="24" name="Text 22"/>
          <p:cNvSpPr txBox="1"/>
          <p:nvPr/>
        </p:nvSpPr>
        <p:spPr>
          <a:xfrm>
            <a:off x="1508760" y="4288536"/>
            <a:ext cx="2651760" cy="292608"/>
          </a:xfrm>
          <a:prstGeom prst="rect">
            <a:avLst/>
          </a:prstGeom>
          <a:noFill/>
          <a:ln/>
        </p:spPr>
        <p:txBody>
          <a:bodyPr wrap="square" lIns="0" tIns="0" rIns="0" bIns="0" rtlCol="0" anchor="ctr"/>
          <a:lstStyle/>
          <a:p>
            <a:pPr indent="0" marL="0">
              <a:buNone/>
            </a:pPr>
            <a:r>
              <a:rPr lang="en-US" sz="1250" b="1" dirty="0">
                <a:solidFill>
                  <a:srgbClr val="1D6FF2"/>
                </a:solidFill>
                <a:latin typeface="Calibri" pitchFamily="34" charset="0"/>
                <a:ea typeface="Calibri" pitchFamily="34" charset="-122"/>
                <a:cs typeface="Calibri" pitchFamily="34" charset="-120"/>
              </a:rPr>
              <a:t>Manager → Admin</a:t>
            </a:r>
            <a:endParaRPr lang="en-US" sz="1250" dirty="0"/>
          </a:p>
        </p:txBody>
      </p:sp>
      <p:sp>
        <p:nvSpPr>
          <p:cNvPr id="25" name="Text 23"/>
          <p:cNvSpPr txBox="1"/>
          <p:nvPr/>
        </p:nvSpPr>
        <p:spPr>
          <a:xfrm>
            <a:off x="4206240" y="3922776"/>
            <a:ext cx="6309360" cy="68580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Manager fiyat kuralı talebi açar → Admin etki analizini görüp onaylar → v2</a:t>
            </a:r>
            <a:endParaRPr lang="en-US" sz="1400" dirty="0"/>
          </a:p>
        </p:txBody>
      </p:sp>
      <p:sp>
        <p:nvSpPr>
          <p:cNvPr id="26" name="Text 24"/>
          <p:cNvSpPr txBox="1"/>
          <p:nvPr/>
        </p:nvSpPr>
        <p:spPr>
          <a:xfrm>
            <a:off x="10545775" y="3922776"/>
            <a:ext cx="868680" cy="685800"/>
          </a:xfrm>
          <a:prstGeom prst="rect">
            <a:avLst/>
          </a:prstGeom>
          <a:noFill/>
          <a:ln/>
        </p:spPr>
        <p:txBody>
          <a:bodyPr wrap="square" lIns="0" tIns="0" rIns="0" bIns="0" rtlCol="0" anchor="ctr"/>
          <a:lstStyle/>
          <a:p>
            <a:pPr algn="r" indent="0" marL="0">
              <a:buNone/>
            </a:pPr>
            <a:r>
              <a:rPr lang="en-US" sz="1400" b="1" dirty="0">
                <a:solidFill>
                  <a:srgbClr val="0A2545"/>
                </a:solidFill>
                <a:latin typeface="Arial" pitchFamily="34" charset="0"/>
                <a:ea typeface="Arial" pitchFamily="34" charset="-122"/>
                <a:cs typeface="Arial" pitchFamily="34" charset="-120"/>
              </a:rPr>
              <a:t>1 dk</a:t>
            </a:r>
            <a:endParaRPr lang="en-US" sz="1400" dirty="0"/>
          </a:p>
        </p:txBody>
      </p:sp>
      <p:sp>
        <p:nvSpPr>
          <p:cNvPr id="27" name="Shape 25"/>
          <p:cNvSpPr/>
          <p:nvPr/>
        </p:nvSpPr>
        <p:spPr>
          <a:xfrm>
            <a:off x="548640" y="4855464"/>
            <a:ext cx="11094415" cy="868680"/>
          </a:xfrm>
          <a:prstGeom prst="roundRect">
            <a:avLst>
              <a:gd name="adj" fmla="val 12632"/>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28" name="Shape 26"/>
          <p:cNvSpPr/>
          <p:nvPr/>
        </p:nvSpPr>
        <p:spPr>
          <a:xfrm>
            <a:off x="777240" y="5029200"/>
            <a:ext cx="530352" cy="530352"/>
          </a:xfrm>
          <a:prstGeom prst="ellipse">
            <a:avLst/>
          </a:prstGeom>
          <a:solidFill>
            <a:srgbClr val="1D6FF2"/>
          </a:solidFill>
          <a:ln w="12700">
            <a:solidFill>
              <a:srgbClr val="1D6FF2"/>
            </a:solidFill>
            <a:prstDash val="solid"/>
          </a:ln>
        </p:spPr>
      </p:sp>
      <p:sp>
        <p:nvSpPr>
          <p:cNvPr id="29" name="Text 27"/>
          <p:cNvSpPr txBox="1"/>
          <p:nvPr/>
        </p:nvSpPr>
        <p:spPr>
          <a:xfrm>
            <a:off x="777240" y="5029200"/>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30" name="Text 28"/>
          <p:cNvSpPr txBox="1"/>
          <p:nvPr/>
        </p:nvSpPr>
        <p:spPr>
          <a:xfrm>
            <a:off x="1508760" y="4965192"/>
            <a:ext cx="2651760" cy="347472"/>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Müşteri portalı</a:t>
            </a:r>
            <a:endParaRPr lang="en-US" sz="1600" dirty="0"/>
          </a:p>
        </p:txBody>
      </p:sp>
      <p:sp>
        <p:nvSpPr>
          <p:cNvPr id="31" name="Text 29"/>
          <p:cNvSpPr txBox="1"/>
          <p:nvPr/>
        </p:nvSpPr>
        <p:spPr>
          <a:xfrm>
            <a:off x="1508760" y="5312664"/>
            <a:ext cx="2651760" cy="292608"/>
          </a:xfrm>
          <a:prstGeom prst="rect">
            <a:avLst/>
          </a:prstGeom>
          <a:noFill/>
          <a:ln/>
        </p:spPr>
        <p:txBody>
          <a:bodyPr wrap="square" lIns="0" tIns="0" rIns="0" bIns="0" rtlCol="0" anchor="ctr"/>
          <a:lstStyle/>
          <a:p>
            <a:pPr indent="0" marL="0">
              <a:buNone/>
            </a:pPr>
            <a:r>
              <a:rPr lang="en-US" sz="1250" b="1" dirty="0">
                <a:solidFill>
                  <a:srgbClr val="1D6FF2"/>
                </a:solidFill>
                <a:latin typeface="Calibri" pitchFamily="34" charset="0"/>
                <a:ea typeface="Calibri" pitchFamily="34" charset="-122"/>
                <a:cs typeface="Calibri" pitchFamily="34" charset="-120"/>
              </a:rPr>
              <a:t>Müşteri</a:t>
            </a:r>
            <a:endParaRPr lang="en-US" sz="1250" dirty="0"/>
          </a:p>
        </p:txBody>
      </p:sp>
      <p:sp>
        <p:nvSpPr>
          <p:cNvPr id="32" name="Text 30"/>
          <p:cNvSpPr txBox="1"/>
          <p:nvPr/>
        </p:nvSpPr>
        <p:spPr>
          <a:xfrm>
            <a:off x="4206240" y="4946904"/>
            <a:ext cx="6309360" cy="68580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Poliçe detayı, taksit tablosu, poliçe PDF'i, iptal talebi ve iade tutarı</a:t>
            </a:r>
            <a:endParaRPr lang="en-US" sz="1400" dirty="0"/>
          </a:p>
        </p:txBody>
      </p:sp>
      <p:sp>
        <p:nvSpPr>
          <p:cNvPr id="33" name="Text 31"/>
          <p:cNvSpPr txBox="1"/>
          <p:nvPr/>
        </p:nvSpPr>
        <p:spPr>
          <a:xfrm>
            <a:off x="10545775" y="4946904"/>
            <a:ext cx="868680" cy="685800"/>
          </a:xfrm>
          <a:prstGeom prst="rect">
            <a:avLst/>
          </a:prstGeom>
          <a:noFill/>
          <a:ln/>
        </p:spPr>
        <p:txBody>
          <a:bodyPr wrap="square" lIns="0" tIns="0" rIns="0" bIns="0" rtlCol="0" anchor="ctr"/>
          <a:lstStyle/>
          <a:p>
            <a:pPr algn="r" indent="0" marL="0">
              <a:buNone/>
            </a:pPr>
            <a:r>
              <a:rPr lang="en-US" sz="1400" b="1" dirty="0">
                <a:solidFill>
                  <a:srgbClr val="0A2545"/>
                </a:solidFill>
                <a:latin typeface="Arial" pitchFamily="34" charset="0"/>
                <a:ea typeface="Arial" pitchFamily="34" charset="-122"/>
                <a:cs typeface="Arial" pitchFamily="34" charset="-120"/>
              </a:rPr>
              <a:t>1 dk</a:t>
            </a:r>
            <a:endParaRPr lang="en-US" sz="1400" dirty="0"/>
          </a:p>
        </p:txBody>
      </p:sp>
      <p:sp>
        <p:nvSpPr>
          <p:cNvPr id="34" name="Text 32"/>
          <p:cNvSpPr txBox="1"/>
          <p:nvPr/>
        </p:nvSpPr>
        <p:spPr>
          <a:xfrm>
            <a:off x="548640" y="5943600"/>
            <a:ext cx="10058400" cy="292608"/>
          </a:xfrm>
          <a:prstGeom prst="rect">
            <a:avLst/>
          </a:prstGeom>
          <a:noFill/>
          <a:ln/>
        </p:spPr>
        <p:txBody>
          <a:bodyPr wrap="square" lIns="0" tIns="0" rIns="0" bIns="0" rtlCol="0" anchor="ctr"/>
          <a:lstStyle/>
          <a:p>
            <a:pPr indent="0" marL="0">
              <a:buNone/>
            </a:pPr>
            <a:r>
              <a:rPr lang="en-US" sz="1250" i="1" dirty="0">
                <a:solidFill>
                  <a:srgbClr val="5B6472"/>
                </a:solidFill>
                <a:latin typeface="Calibri" pitchFamily="34" charset="0"/>
                <a:ea typeface="Calibri" pitchFamily="34" charset="-122"/>
                <a:cs typeface="Calibri" pitchFamily="34" charset="-120"/>
              </a:rPr>
              <a:t>Yedek plan: canlı ortamda sorun olursa yerel ortamdan aynı senaryolar gösterilir.</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F2F7"/>
        </a:solidFill>
      </p:bgPr>
    </p:bg>
    <p:spTree>
      <p:nvGrpSpPr>
        <p:cNvPr id="1" name=""/>
        <p:cNvGrpSpPr/>
        <p:nvPr/>
      </p:nvGrpSpPr>
      <p:grpSpPr>
        <a:xfrm>
          <a:off x="0" y="0"/>
          <a:ext cx="0" cy="0"/>
          <a:chOff x="0" y="0"/>
          <a:chExt cx="0" cy="0"/>
        </a:xfrm>
      </p:grpSpPr>
      <p:sp>
        <p:nvSpPr>
          <p:cNvPr id="2" name="Shape 0"/>
          <p:cNvSpPr/>
          <p:nvPr/>
        </p:nvSpPr>
        <p:spPr>
          <a:xfrm>
            <a:off x="548640" y="384048"/>
            <a:ext cx="1353312" cy="329184"/>
          </a:xfrm>
          <a:prstGeom prst="roundRect">
            <a:avLst>
              <a:gd name="adj" fmla="val 50000"/>
            </a:avLst>
          </a:prstGeom>
          <a:solidFill>
            <a:srgbClr val="0A2545"/>
          </a:solidFill>
          <a:ln w="12700">
            <a:solidFill>
              <a:srgbClr val="0A2545"/>
            </a:solidFill>
            <a:prstDash val="solid"/>
          </a:ln>
        </p:spPr>
      </p:sp>
      <p:sp>
        <p:nvSpPr>
          <p:cNvPr id="3" name="Text 1"/>
          <p:cNvSpPr txBox="1"/>
          <p:nvPr/>
        </p:nvSpPr>
        <p:spPr>
          <a:xfrm>
            <a:off x="548640" y="384048"/>
            <a:ext cx="1353312"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YOL HARİTASI</a:t>
            </a:r>
            <a:endParaRPr lang="en-US" sz="1100" dirty="0"/>
          </a:p>
        </p:txBody>
      </p:sp>
      <p:sp>
        <p:nvSpPr>
          <p:cNvPr id="4" name="Text 2"/>
          <p:cNvSpPr txBox="1"/>
          <p:nvPr/>
        </p:nvSpPr>
        <p:spPr>
          <a:xfrm>
            <a:off x="548640" y="786384"/>
            <a:ext cx="11094415" cy="731520"/>
          </a:xfrm>
          <a:prstGeom prst="rect">
            <a:avLst/>
          </a:prstGeom>
          <a:noFill/>
          <a:ln/>
        </p:spPr>
        <p:txBody>
          <a:bodyPr wrap="square" lIns="0" tIns="0" rIns="0" bIns="0" rtlCol="0" anchor="ctr"/>
          <a:lstStyle/>
          <a:p>
            <a:pPr indent="0" marL="0">
              <a:buNone/>
            </a:pPr>
            <a:r>
              <a:rPr lang="en-US" sz="3000" b="1" dirty="0">
                <a:solidFill>
                  <a:srgbClr val="0A2545"/>
                </a:solidFill>
                <a:latin typeface="Arial" pitchFamily="34" charset="0"/>
                <a:ea typeface="Arial" pitchFamily="34" charset="-122"/>
                <a:cs typeface="Arial" pitchFamily="34" charset="-120"/>
              </a:rPr>
              <a:t>Sıradaki adımlar ve staj kazanımları</a:t>
            </a:r>
            <a:endParaRPr lang="en-US" sz="3000" dirty="0"/>
          </a:p>
        </p:txBody>
      </p:sp>
      <p:sp>
        <p:nvSpPr>
          <p:cNvPr id="5" name="Text 3"/>
          <p:cNvSpPr txBox="1"/>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15 / 16</a:t>
            </a:r>
            <a:endParaRPr lang="en-US" sz="1000" dirty="0"/>
          </a:p>
        </p:txBody>
      </p:sp>
      <p:sp>
        <p:nvSpPr>
          <p:cNvPr id="6" name="Shape 4"/>
          <p:cNvSpPr/>
          <p:nvPr/>
        </p:nvSpPr>
        <p:spPr>
          <a:xfrm>
            <a:off x="548640" y="1783080"/>
            <a:ext cx="6492240" cy="896112"/>
          </a:xfrm>
          <a:prstGeom prst="roundRect">
            <a:avLst>
              <a:gd name="adj" fmla="val 12245"/>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7" name="Shape 5"/>
          <p:cNvSpPr/>
          <p:nvPr/>
        </p:nvSpPr>
        <p:spPr>
          <a:xfrm>
            <a:off x="777240" y="1956816"/>
            <a:ext cx="548640" cy="548640"/>
          </a:xfrm>
          <a:prstGeom prst="ellipse">
            <a:avLst/>
          </a:prstGeom>
          <a:solidFill>
            <a:srgbClr val="1D6FF2"/>
          </a:solidFill>
          <a:ln w="12700">
            <a:solidFill>
              <a:srgbClr val="1D6FF2"/>
            </a:solidFill>
            <a:prstDash val="solid"/>
          </a:ln>
        </p:spPr>
      </p:sp>
      <p:pic>
        <p:nvPicPr>
          <p:cNvPr id="8" name="Image 0" descr="preencoded.png">    </p:cNvPr>
          <p:cNvPicPr>
            <a:picLocks noChangeAspect="1"/>
          </p:cNvPicPr>
          <p:nvPr/>
        </p:nvPicPr>
        <p:blipFill>
          <a:blip r:embed="rId1"/>
          <a:stretch>
            <a:fillRect/>
          </a:stretch>
        </p:blipFill>
        <p:spPr>
          <a:xfrm>
            <a:off x="908914" y="2088490"/>
            <a:ext cx="285293" cy="285293"/>
          </a:xfrm>
          <a:prstGeom prst="rect">
            <a:avLst/>
          </a:prstGeom>
        </p:spPr>
      </p:pic>
      <p:sp>
        <p:nvSpPr>
          <p:cNvPr id="9" name="Text 6"/>
          <p:cNvSpPr txBox="1"/>
          <p:nvPr/>
        </p:nvSpPr>
        <p:spPr>
          <a:xfrm>
            <a:off x="1508760" y="1892808"/>
            <a:ext cx="5349240" cy="329184"/>
          </a:xfrm>
          <a:prstGeom prst="rect">
            <a:avLst/>
          </a:prstGeom>
          <a:noFill/>
          <a:ln/>
        </p:spPr>
        <p:txBody>
          <a:bodyPr wrap="square" lIns="0" tIns="0" rIns="0" bIns="0" rtlCol="0" anchor="ctr"/>
          <a:lstStyle/>
          <a:p>
            <a:pPr indent="0" marL="0">
              <a:buNone/>
            </a:pPr>
            <a:r>
              <a:rPr lang="en-US" sz="1500" b="1" dirty="0">
                <a:solidFill>
                  <a:srgbClr val="1F2937"/>
                </a:solidFill>
                <a:latin typeface="Arial" pitchFamily="34" charset="0"/>
                <a:ea typeface="Arial" pitchFamily="34" charset="-122"/>
                <a:cs typeface="Arial" pitchFamily="34" charset="-120"/>
              </a:rPr>
              <a:t>Gerçek SMS sağlayıcısı</a:t>
            </a:r>
            <a:endParaRPr lang="en-US" sz="1500" dirty="0"/>
          </a:p>
        </p:txBody>
      </p:sp>
      <p:sp>
        <p:nvSpPr>
          <p:cNvPr id="10" name="Text 7"/>
          <p:cNvSpPr txBox="1"/>
          <p:nvPr/>
        </p:nvSpPr>
        <p:spPr>
          <a:xfrm>
            <a:off x="1508760" y="2240280"/>
            <a:ext cx="5349240" cy="329184"/>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Tek kullanımlık kodun gerçekten SMS ile gönderilmesi</a:t>
            </a:r>
            <a:endParaRPr lang="en-US" sz="1300" dirty="0"/>
          </a:p>
        </p:txBody>
      </p:sp>
      <p:sp>
        <p:nvSpPr>
          <p:cNvPr id="11" name="Shape 8"/>
          <p:cNvSpPr/>
          <p:nvPr/>
        </p:nvSpPr>
        <p:spPr>
          <a:xfrm>
            <a:off x="548640" y="2834640"/>
            <a:ext cx="6492240" cy="896112"/>
          </a:xfrm>
          <a:prstGeom prst="roundRect">
            <a:avLst>
              <a:gd name="adj" fmla="val 12245"/>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777240" y="3008376"/>
            <a:ext cx="548640" cy="548640"/>
          </a:xfrm>
          <a:prstGeom prst="ellipse">
            <a:avLst/>
          </a:prstGeom>
          <a:solidFill>
            <a:srgbClr val="1D6FF2"/>
          </a:solidFill>
          <a:ln w="12700">
            <a:solidFill>
              <a:srgbClr val="1D6FF2"/>
            </a:solidFill>
            <a:prstDash val="solid"/>
          </a:ln>
        </p:spPr>
      </p:sp>
      <p:pic>
        <p:nvPicPr>
          <p:cNvPr id="13" name="Image 1" descr="preencoded.png">    </p:cNvPr>
          <p:cNvPicPr>
            <a:picLocks noChangeAspect="1"/>
          </p:cNvPicPr>
          <p:nvPr/>
        </p:nvPicPr>
        <p:blipFill>
          <a:blip r:embed="rId2"/>
          <a:stretch>
            <a:fillRect/>
          </a:stretch>
        </p:blipFill>
        <p:spPr>
          <a:xfrm>
            <a:off x="908914" y="3140050"/>
            <a:ext cx="285293" cy="285293"/>
          </a:xfrm>
          <a:prstGeom prst="rect">
            <a:avLst/>
          </a:prstGeom>
        </p:spPr>
      </p:pic>
      <p:sp>
        <p:nvSpPr>
          <p:cNvPr id="14" name="Text 10"/>
          <p:cNvSpPr txBox="1"/>
          <p:nvPr/>
        </p:nvSpPr>
        <p:spPr>
          <a:xfrm>
            <a:off x="1508760" y="2944368"/>
            <a:ext cx="5349240" cy="329184"/>
          </a:xfrm>
          <a:prstGeom prst="rect">
            <a:avLst/>
          </a:prstGeom>
          <a:noFill/>
          <a:ln/>
        </p:spPr>
        <p:txBody>
          <a:bodyPr wrap="square" lIns="0" tIns="0" rIns="0" bIns="0" rtlCol="0" anchor="ctr"/>
          <a:lstStyle/>
          <a:p>
            <a:pPr indent="0" marL="0">
              <a:buNone/>
            </a:pPr>
            <a:r>
              <a:rPr lang="en-US" sz="1500" b="1" dirty="0">
                <a:solidFill>
                  <a:srgbClr val="1F2937"/>
                </a:solidFill>
                <a:latin typeface="Arial" pitchFamily="34" charset="0"/>
                <a:ea typeface="Arial" pitchFamily="34" charset="-122"/>
                <a:cs typeface="Arial" pitchFamily="34" charset="-120"/>
              </a:rPr>
              <a:t>Sanal POS ve 3D Secure</a:t>
            </a:r>
            <a:endParaRPr lang="en-US" sz="1500" dirty="0"/>
          </a:p>
        </p:txBody>
      </p:sp>
      <p:sp>
        <p:nvSpPr>
          <p:cNvPr id="15" name="Text 11"/>
          <p:cNvSpPr txBox="1"/>
          <p:nvPr/>
        </p:nvSpPr>
        <p:spPr>
          <a:xfrm>
            <a:off x="1508760" y="3291840"/>
            <a:ext cx="5349240" cy="329184"/>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Simüle ödemenin yerine gerçek ödeme altyapısı</a:t>
            </a:r>
            <a:endParaRPr lang="en-US" sz="1300" dirty="0"/>
          </a:p>
        </p:txBody>
      </p:sp>
      <p:sp>
        <p:nvSpPr>
          <p:cNvPr id="16" name="Shape 12"/>
          <p:cNvSpPr/>
          <p:nvPr/>
        </p:nvSpPr>
        <p:spPr>
          <a:xfrm>
            <a:off x="548640" y="3886200"/>
            <a:ext cx="6492240" cy="896112"/>
          </a:xfrm>
          <a:prstGeom prst="roundRect">
            <a:avLst>
              <a:gd name="adj" fmla="val 12245"/>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17" name="Shape 13"/>
          <p:cNvSpPr/>
          <p:nvPr/>
        </p:nvSpPr>
        <p:spPr>
          <a:xfrm>
            <a:off x="777240" y="4059936"/>
            <a:ext cx="548640" cy="548640"/>
          </a:xfrm>
          <a:prstGeom prst="ellipse">
            <a:avLst/>
          </a:prstGeom>
          <a:solidFill>
            <a:srgbClr val="1D6FF2"/>
          </a:solidFill>
          <a:ln w="12700">
            <a:solidFill>
              <a:srgbClr val="1D6FF2"/>
            </a:solidFill>
            <a:prstDash val="solid"/>
          </a:ln>
        </p:spPr>
      </p:sp>
      <p:pic>
        <p:nvPicPr>
          <p:cNvPr id="18" name="Image 2" descr="preencoded.png">    </p:cNvPr>
          <p:cNvPicPr>
            <a:picLocks noChangeAspect="1"/>
          </p:cNvPicPr>
          <p:nvPr/>
        </p:nvPicPr>
        <p:blipFill>
          <a:blip r:embed="rId3"/>
          <a:stretch>
            <a:fillRect/>
          </a:stretch>
        </p:blipFill>
        <p:spPr>
          <a:xfrm>
            <a:off x="908914" y="4191610"/>
            <a:ext cx="285293" cy="285293"/>
          </a:xfrm>
          <a:prstGeom prst="rect">
            <a:avLst/>
          </a:prstGeom>
        </p:spPr>
      </p:pic>
      <p:sp>
        <p:nvSpPr>
          <p:cNvPr id="19" name="Text 14"/>
          <p:cNvSpPr txBox="1"/>
          <p:nvPr/>
        </p:nvSpPr>
        <p:spPr>
          <a:xfrm>
            <a:off x="1508760" y="3995928"/>
            <a:ext cx="5349240" cy="329184"/>
          </a:xfrm>
          <a:prstGeom prst="rect">
            <a:avLst/>
          </a:prstGeom>
          <a:noFill/>
          <a:ln/>
        </p:spPr>
        <p:txBody>
          <a:bodyPr wrap="square" lIns="0" tIns="0" rIns="0" bIns="0" rtlCol="0" anchor="ctr"/>
          <a:lstStyle/>
          <a:p>
            <a:pPr indent="0" marL="0">
              <a:buNone/>
            </a:pPr>
            <a:r>
              <a:rPr lang="en-US" sz="1500" b="1" dirty="0">
                <a:solidFill>
                  <a:srgbClr val="1F2937"/>
                </a:solidFill>
                <a:latin typeface="Arial" pitchFamily="34" charset="0"/>
                <a:ea typeface="Arial" pitchFamily="34" charset="-122"/>
                <a:cs typeface="Arial" pitchFamily="34" charset="-120"/>
              </a:rPr>
              <a:t>TRAMER ve hasar modülü</a:t>
            </a:r>
            <a:endParaRPr lang="en-US" sz="1500" dirty="0"/>
          </a:p>
        </p:txBody>
      </p:sp>
      <p:sp>
        <p:nvSpPr>
          <p:cNvPr id="20" name="Text 15"/>
          <p:cNvSpPr txBox="1"/>
          <p:nvPr/>
        </p:nvSpPr>
        <p:spPr>
          <a:xfrm>
            <a:off x="1508760" y="4343400"/>
            <a:ext cx="5349240" cy="329184"/>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Hasar geçmişinin sorgulanması, hasar dosyası takibi</a:t>
            </a:r>
            <a:endParaRPr lang="en-US" sz="1300" dirty="0"/>
          </a:p>
        </p:txBody>
      </p:sp>
      <p:sp>
        <p:nvSpPr>
          <p:cNvPr id="21" name="Shape 16"/>
          <p:cNvSpPr/>
          <p:nvPr/>
        </p:nvSpPr>
        <p:spPr>
          <a:xfrm>
            <a:off x="548640" y="4937760"/>
            <a:ext cx="6492240" cy="896112"/>
          </a:xfrm>
          <a:prstGeom prst="roundRect">
            <a:avLst>
              <a:gd name="adj" fmla="val 12245"/>
            </a:avLst>
          </a:prstGeom>
          <a:solidFill>
            <a:srgbClr val="FFFFFF"/>
          </a:solidFill>
          <a:ln w="9525">
            <a:solidFill>
              <a:srgbClr val="D8DEE6"/>
            </a:solidFill>
            <a:prstDash val="solid"/>
          </a:ln>
          <a:effectLst>
            <a:outerShdw sx="100000" sy="100000" kx="0" ky="0" algn="bl" rotWithShape="0" blurRad="101600" dist="25400" dir="5400000">
              <a:srgbClr val="000000">
                <a:alpha val="12000"/>
              </a:srgbClr>
            </a:outerShdw>
          </a:effectLst>
        </p:spPr>
      </p:sp>
      <p:sp>
        <p:nvSpPr>
          <p:cNvPr id="22" name="Shape 17"/>
          <p:cNvSpPr/>
          <p:nvPr/>
        </p:nvSpPr>
        <p:spPr>
          <a:xfrm>
            <a:off x="777240" y="5111496"/>
            <a:ext cx="548640" cy="548640"/>
          </a:xfrm>
          <a:prstGeom prst="ellipse">
            <a:avLst/>
          </a:prstGeom>
          <a:solidFill>
            <a:srgbClr val="1D6FF2"/>
          </a:solidFill>
          <a:ln w="12700">
            <a:solidFill>
              <a:srgbClr val="1D6FF2"/>
            </a:solidFill>
            <a:prstDash val="solid"/>
          </a:ln>
        </p:spPr>
      </p:sp>
      <p:pic>
        <p:nvPicPr>
          <p:cNvPr id="23" name="Image 3" descr="preencoded.png">    </p:cNvPr>
          <p:cNvPicPr>
            <a:picLocks noChangeAspect="1"/>
          </p:cNvPicPr>
          <p:nvPr/>
        </p:nvPicPr>
        <p:blipFill>
          <a:blip r:embed="rId4"/>
          <a:stretch>
            <a:fillRect/>
          </a:stretch>
        </p:blipFill>
        <p:spPr>
          <a:xfrm>
            <a:off x="908914" y="5243170"/>
            <a:ext cx="285293" cy="285293"/>
          </a:xfrm>
          <a:prstGeom prst="rect">
            <a:avLst/>
          </a:prstGeom>
        </p:spPr>
      </p:pic>
      <p:sp>
        <p:nvSpPr>
          <p:cNvPr id="24" name="Text 18"/>
          <p:cNvSpPr txBox="1"/>
          <p:nvPr/>
        </p:nvSpPr>
        <p:spPr>
          <a:xfrm>
            <a:off x="1508760" y="5047488"/>
            <a:ext cx="5349240" cy="329184"/>
          </a:xfrm>
          <a:prstGeom prst="rect">
            <a:avLst/>
          </a:prstGeom>
          <a:noFill/>
          <a:ln/>
        </p:spPr>
        <p:txBody>
          <a:bodyPr wrap="square" lIns="0" tIns="0" rIns="0" bIns="0" rtlCol="0" anchor="ctr"/>
          <a:lstStyle/>
          <a:p>
            <a:pPr indent="0" marL="0">
              <a:buNone/>
            </a:pPr>
            <a:r>
              <a:rPr lang="en-US" sz="1500" b="1" dirty="0">
                <a:solidFill>
                  <a:srgbClr val="1F2937"/>
                </a:solidFill>
                <a:latin typeface="Arial" pitchFamily="34" charset="0"/>
                <a:ea typeface="Arial" pitchFamily="34" charset="-122"/>
                <a:cs typeface="Arial" pitchFamily="34" charset="-120"/>
              </a:rPr>
              <a:t>CI/CD</a:t>
            </a:r>
            <a:endParaRPr lang="en-US" sz="1500" dirty="0"/>
          </a:p>
        </p:txBody>
      </p:sp>
      <p:sp>
        <p:nvSpPr>
          <p:cNvPr id="25" name="Text 19"/>
          <p:cNvSpPr txBox="1"/>
          <p:nvPr/>
        </p:nvSpPr>
        <p:spPr>
          <a:xfrm>
            <a:off x="1508760" y="5394960"/>
            <a:ext cx="5349240" cy="329184"/>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GitHub Actions ile test ve Azure'a otomatik yayın</a:t>
            </a:r>
            <a:endParaRPr lang="en-US" sz="1300" dirty="0"/>
          </a:p>
        </p:txBody>
      </p:sp>
      <p:sp>
        <p:nvSpPr>
          <p:cNvPr id="26" name="Shape 20"/>
          <p:cNvSpPr/>
          <p:nvPr/>
        </p:nvSpPr>
        <p:spPr>
          <a:xfrm>
            <a:off x="7406640" y="1783080"/>
            <a:ext cx="4236415" cy="4050792"/>
          </a:xfrm>
          <a:prstGeom prst="roundRect">
            <a:avLst>
              <a:gd name="adj" fmla="val 2709"/>
            </a:avLst>
          </a:prstGeom>
          <a:solidFill>
            <a:srgbClr val="0A2545"/>
          </a:solidFill>
          <a:ln w="12700">
            <a:solidFill>
              <a:srgbClr val="0A2545"/>
            </a:solidFill>
            <a:prstDash val="solid"/>
          </a:ln>
          <a:effectLst>
            <a:outerShdw sx="100000" sy="100000" kx="0" ky="0" algn="bl" rotWithShape="0" blurRad="101600" dist="25400" dir="5400000">
              <a:srgbClr val="000000">
                <a:alpha val="12000"/>
              </a:srgbClr>
            </a:outerShdw>
          </a:effectLst>
        </p:spPr>
      </p:sp>
      <p:sp>
        <p:nvSpPr>
          <p:cNvPr id="27" name="Shape 21"/>
          <p:cNvSpPr/>
          <p:nvPr/>
        </p:nvSpPr>
        <p:spPr>
          <a:xfrm>
            <a:off x="7680960" y="2011680"/>
            <a:ext cx="566928" cy="566928"/>
          </a:xfrm>
          <a:prstGeom prst="ellipse">
            <a:avLst/>
          </a:prstGeom>
          <a:solidFill>
            <a:srgbClr val="1D6FF2"/>
          </a:solidFill>
          <a:ln w="12700">
            <a:solidFill>
              <a:srgbClr val="1D6FF2"/>
            </a:solidFill>
            <a:prstDash val="solid"/>
          </a:ln>
        </p:spPr>
      </p:sp>
      <p:pic>
        <p:nvPicPr>
          <p:cNvPr id="28" name="Image 4" descr="preencoded.png">    </p:cNvPr>
          <p:cNvPicPr>
            <a:picLocks noChangeAspect="1"/>
          </p:cNvPicPr>
          <p:nvPr/>
        </p:nvPicPr>
        <p:blipFill>
          <a:blip r:embed="rId5"/>
          <a:stretch>
            <a:fillRect/>
          </a:stretch>
        </p:blipFill>
        <p:spPr>
          <a:xfrm>
            <a:off x="7817023" y="2147743"/>
            <a:ext cx="294803" cy="294803"/>
          </a:xfrm>
          <a:prstGeom prst="rect">
            <a:avLst/>
          </a:prstGeom>
        </p:spPr>
      </p:pic>
      <p:sp>
        <p:nvSpPr>
          <p:cNvPr id="29" name="Text 22"/>
          <p:cNvSpPr txBox="1"/>
          <p:nvPr/>
        </p:nvSpPr>
        <p:spPr>
          <a:xfrm>
            <a:off x="8412480" y="2057400"/>
            <a:ext cx="3047695"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Staj kazanımları</a:t>
            </a:r>
            <a:endParaRPr lang="en-US" sz="1700" dirty="0"/>
          </a:p>
        </p:txBody>
      </p:sp>
      <p:sp>
        <p:nvSpPr>
          <p:cNvPr id="30" name="Text 23"/>
          <p:cNvSpPr txBox="1"/>
          <p:nvPr/>
        </p:nvSpPr>
        <p:spPr>
          <a:xfrm>
            <a:off x="7726680" y="2880360"/>
            <a:ext cx="3687775" cy="2743200"/>
          </a:xfrm>
          <a:prstGeom prst="rect">
            <a:avLst/>
          </a:prstGeom>
          <a:noFill/>
          <a:ln/>
        </p:spPr>
        <p:txBody>
          <a:bodyPr wrap="square" lIns="0" tIns="0" rIns="0" bIns="0" rtlCol="0" anchor="t"/>
          <a:lstStyle/>
          <a:p>
            <a:pPr marL="342900" indent="-342900">
              <a:spcAft>
                <a:spcPts val="1800"/>
              </a:spcAft>
              <a:buSzPct val="100000"/>
              <a:buChar char="•"/>
            </a:pPr>
            <a:r>
              <a:rPr lang="en-US" sz="1650" dirty="0">
                <a:solidFill>
                  <a:srgbClr val="E5EDFA"/>
                </a:solidFill>
                <a:latin typeface="Calibri" pitchFamily="34" charset="0"/>
                <a:ea typeface="Calibri" pitchFamily="34" charset="-122"/>
                <a:cs typeface="Calibri" pitchFamily="34" charset="-120"/>
              </a:rPr>
              <a:t>Büyüdükçe bozulmayan katmanlı mimari</a:t>
            </a:r>
            <a:endParaRPr lang="en-US" sz="1650" dirty="0"/>
          </a:p>
          <a:p>
            <a:pPr marL="342900" indent="-342900">
              <a:spcAft>
                <a:spcPts val="1800"/>
              </a:spcAft>
              <a:buSzPct val="100000"/>
              <a:buChar char="•"/>
            </a:pPr>
            <a:r>
              <a:rPr lang="en-US" sz="1650" dirty="0">
                <a:solidFill>
                  <a:srgbClr val="E5EDFA"/>
                </a:solidFill>
                <a:latin typeface="Calibri" pitchFamily="34" charset="0"/>
                <a:ea typeface="Calibri" pitchFamily="34" charset="-122"/>
                <a:cs typeface="Calibri" pitchFamily="34" charset="-120"/>
              </a:rPr>
              <a:t>Gerçek iş kurallarıyla fiyatlama ve sürümleme</a:t>
            </a:r>
            <a:endParaRPr lang="en-US" sz="1650" dirty="0"/>
          </a:p>
          <a:p>
            <a:pPr marL="342900" indent="-342900">
              <a:spcAft>
                <a:spcPts val="1800"/>
              </a:spcAft>
              <a:buSzPct val="100000"/>
              <a:buChar char="•"/>
            </a:pPr>
            <a:r>
              <a:rPr lang="en-US" sz="1650" dirty="0">
                <a:solidFill>
                  <a:srgbClr val="E5EDFA"/>
                </a:solidFill>
                <a:latin typeface="Calibri" pitchFamily="34" charset="0"/>
                <a:ea typeface="Calibri" pitchFamily="34" charset="-122"/>
                <a:cs typeface="Calibri" pitchFamily="34" charset="-120"/>
              </a:rPr>
              <a:t>Test ve sunucu tarafı güvenlik alışkanlığı</a:t>
            </a:r>
            <a:endParaRPr lang="en-US" sz="1650" dirty="0"/>
          </a:p>
          <a:p>
            <a:pPr marL="342900" indent="-342900">
              <a:spcAft>
                <a:spcPts val="1800"/>
              </a:spcAft>
              <a:buSzPct val="100000"/>
              <a:buChar char="•"/>
            </a:pPr>
            <a:r>
              <a:rPr lang="en-US" sz="1650" dirty="0">
                <a:solidFill>
                  <a:srgbClr val="E5EDFA"/>
                </a:solidFill>
                <a:latin typeface="Calibri" pitchFamily="34" charset="0"/>
                <a:ea typeface="Calibri" pitchFamily="34" charset="-122"/>
                <a:cs typeface="Calibri" pitchFamily="34" charset="-120"/>
              </a:rPr>
              <a:t>Uygulamayı bulutta yayına alma</a:t>
            </a:r>
            <a:endParaRPr lang="en-US" sz="1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2545"/>
        </a:solidFill>
      </p:bgPr>
    </p:bg>
    <p:spTree>
      <p:nvGrpSpPr>
        <p:cNvPr id="1" name=""/>
        <p:cNvGrpSpPr/>
        <p:nvPr/>
      </p:nvGrpSpPr>
      <p:grpSpPr>
        <a:xfrm>
          <a:off x="0" y="0"/>
          <a:ext cx="0" cy="0"/>
          <a:chOff x="0" y="0"/>
          <a:chExt cx="0" cy="0"/>
        </a:xfrm>
      </p:grpSpPr>
      <p:sp>
        <p:nvSpPr>
          <p:cNvPr id="2" name="Shape 0"/>
          <p:cNvSpPr/>
          <p:nvPr/>
        </p:nvSpPr>
        <p:spPr>
          <a:xfrm>
            <a:off x="4907128" y="822960"/>
            <a:ext cx="2377440" cy="2377440"/>
          </a:xfrm>
          <a:prstGeom prst="roundRect">
            <a:avLst>
              <a:gd name="adj" fmla="val 9615"/>
            </a:avLst>
          </a:prstGeom>
          <a:solidFill>
            <a:srgbClr val="FFFFFF"/>
          </a:solidFill>
          <a:ln w="12700">
            <a:solidFill>
              <a:srgbClr val="FFFFFF"/>
            </a:solidFill>
            <a:prstDash val="solid"/>
          </a:ln>
        </p:spPr>
      </p:sp>
      <p:pic>
        <p:nvPicPr>
          <p:cNvPr id="3" name="Image 0" descr="C:\Users\Asus\AppData\Local\Temp\claude\C--Proje-SigortaSatisUygulama\25ccf29a-d4f5-4ae0-a5ee-6b259b3cc9b7\scratchpad\sunum\img\logo.png">    </p:cNvPr>
          <p:cNvPicPr>
            <a:picLocks noChangeAspect="1"/>
          </p:cNvPicPr>
          <p:nvPr/>
        </p:nvPicPr>
        <p:blipFill>
          <a:blip r:embed="rId1"/>
          <a:stretch>
            <a:fillRect/>
          </a:stretch>
        </p:blipFill>
        <p:spPr>
          <a:xfrm>
            <a:off x="5044288" y="960120"/>
            <a:ext cx="2103120" cy="2103120"/>
          </a:xfrm>
          <a:prstGeom prst="rect">
            <a:avLst/>
          </a:prstGeom>
        </p:spPr>
      </p:pic>
      <p:sp>
        <p:nvSpPr>
          <p:cNvPr id="4" name="Text 1"/>
          <p:cNvSpPr txBox="1"/>
          <p:nvPr/>
        </p:nvSpPr>
        <p:spPr>
          <a:xfrm>
            <a:off x="0" y="3520440"/>
            <a:ext cx="12191695" cy="822960"/>
          </a:xfrm>
          <a:prstGeom prst="rect">
            <a:avLst/>
          </a:prstGeom>
          <a:noFill/>
          <a:ln/>
        </p:spPr>
        <p:txBody>
          <a:bodyPr wrap="square" lIns="0" tIns="0" rIns="0" bIns="0"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Teşekkürler</a:t>
            </a:r>
            <a:endParaRPr lang="en-US" sz="4400" dirty="0"/>
          </a:p>
        </p:txBody>
      </p:sp>
      <p:sp>
        <p:nvSpPr>
          <p:cNvPr id="5" name="Text 2"/>
          <p:cNvSpPr txBox="1"/>
          <p:nvPr/>
        </p:nvSpPr>
        <p:spPr>
          <a:xfrm>
            <a:off x="0" y="4343400"/>
            <a:ext cx="12191695" cy="457200"/>
          </a:xfrm>
          <a:prstGeom prst="rect">
            <a:avLst/>
          </a:prstGeom>
          <a:noFill/>
          <a:ln/>
        </p:spPr>
        <p:txBody>
          <a:bodyPr wrap="square" lIns="0" tIns="0" rIns="0" bIns="0" rtlCol="0" anchor="ctr"/>
          <a:lstStyle/>
          <a:p>
            <a:pPr algn="ctr" indent="0" marL="0">
              <a:buNone/>
            </a:pPr>
            <a:r>
              <a:rPr lang="en-US" sz="2000" dirty="0">
                <a:solidFill>
                  <a:srgbClr val="C9DBF7"/>
                </a:solidFill>
                <a:latin typeface="Calibri" pitchFamily="34" charset="0"/>
                <a:ea typeface="Calibri" pitchFamily="34" charset="-122"/>
                <a:cs typeface="Calibri" pitchFamily="34" charset="-120"/>
              </a:rPr>
              <a:t>Sorularınızı alabilirim</a:t>
            </a:r>
            <a:endParaRPr lang="en-US" sz="2000" dirty="0"/>
          </a:p>
        </p:txBody>
      </p:sp>
      <p:sp>
        <p:nvSpPr>
          <p:cNvPr id="6" name="Shape 3"/>
          <p:cNvSpPr/>
          <p:nvPr/>
        </p:nvSpPr>
        <p:spPr>
          <a:xfrm>
            <a:off x="4587088" y="5074920"/>
            <a:ext cx="3017520" cy="420624"/>
          </a:xfrm>
          <a:prstGeom prst="roundRect">
            <a:avLst>
              <a:gd name="adj" fmla="val 50000"/>
            </a:avLst>
          </a:prstGeom>
          <a:solidFill>
            <a:srgbClr val="1D6FF2"/>
          </a:solidFill>
          <a:ln w="12700">
            <a:solidFill>
              <a:srgbClr val="1D6FF2"/>
            </a:solidFill>
            <a:prstDash val="solid"/>
          </a:ln>
        </p:spPr>
      </p:sp>
      <p:sp>
        <p:nvSpPr>
          <p:cNvPr id="7" name="Text 4"/>
          <p:cNvSpPr txBox="1"/>
          <p:nvPr/>
        </p:nvSpPr>
        <p:spPr>
          <a:xfrm>
            <a:off x="4587088" y="5074920"/>
            <a:ext cx="301752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netsigorta.online</a:t>
            </a:r>
            <a:endParaRPr lang="en-US" sz="1400" dirty="0"/>
          </a:p>
        </p:txBody>
      </p:sp>
      <p:sp>
        <p:nvSpPr>
          <p:cNvPr id="8" name="Text 5"/>
          <p:cNvSpPr txBox="1"/>
          <p:nvPr/>
        </p:nvSpPr>
        <p:spPr>
          <a:xfrm>
            <a:off x="0" y="5852160"/>
            <a:ext cx="12191695" cy="320040"/>
          </a:xfrm>
          <a:prstGeom prst="rect">
            <a:avLst/>
          </a:prstGeom>
          <a:noFill/>
          <a:ln/>
        </p:spPr>
        <p:txBody>
          <a:bodyPr wrap="square" lIns="0" tIns="0" rIns="0" bIns="0" rtlCol="0" anchor="ctr"/>
          <a:lstStyle/>
          <a:p>
            <a:pPr algn="ctr" indent="0" marL="0">
              <a:buNone/>
            </a:pPr>
            <a:r>
              <a:rPr lang="en-US" sz="1300" dirty="0">
                <a:solidFill>
                  <a:srgbClr val="9FB6DA"/>
                </a:solidFill>
                <a:latin typeface="Calibri" pitchFamily="34" charset="0"/>
                <a:ea typeface="Calibri" pitchFamily="34" charset="-122"/>
                <a:cs typeface="Calibri" pitchFamily="34" charset="-120"/>
              </a:rPr>
              <a:t>Yusuf Kağan Karadaş · VakıfBank Bilgi Teknolojileri Staj Projesi</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NetSigorta – Kasko Satış ve Yönetim Portalı</dc:title>
  <dc:subject>PptxGenJS Presentation</dc:subject>
  <dc:creator>Yusuf Kağan Karadaş</dc:creator>
  <cp:lastModifiedBy>Yusuf Kağan Karadaş</cp:lastModifiedBy>
  <cp:revision>1</cp:revision>
  <dcterms:created xsi:type="dcterms:W3CDTF">2026-09-22T08:49:35Z</dcterms:created>
  <dcterms:modified xsi:type="dcterms:W3CDTF">2026-09-22T08:49:35Z</dcterms:modified>
</cp:coreProperties>
</file>